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(20 s): Every local business lives on many listing sites, and the details drift apart. We built an agent that keeps them consistent, but only ever changes something after the owner approves it, and only reports success after it has reloaded the page and seen the value. Everything you see is a real run of the deployed app on a fictional bakery with mock listing sites.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 of the talk so the judges can tick their seven criteria as we go. The dark card has the live demo address and the synthetic demo PIN.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public pages for the same bakery, captured from the running app before anything is fixed. A matches. B says Diwali is closed. C writes the phone and address differently but means the same thing, so a smart tool must not 'fix' it. D shows a different phone and is claimed by someone else, so we are not even allowed to edit it. E says Sunday is closed. Five layouts, five formats, one business.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it matters: wrong hours turn customers away, a wrong number loses orders, and conflicting details look careless. Why owners cannot just fix it: sites format things differently, every change is repeated per site, some listings belong to someone else, edits can sit in moderation or silently fail, look-alike businesses exist, and nobody re-checks afterwards. A script that edits freely would be dangerous, so the real problem is building automation an owner can trust.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in one line: you tell us the truth once, and the agent keeps every site honest. Four steps. Scan reads every site and compares by meaning. Review shows a card per fix with a plain reason, as in the screenshot. Apply sends only what you approved. Verify reloads the page and only then says verified. The scan of five sites and twenty-five field checks took about 150 milliseconds in our measured runs on the local mock sites.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it helps: busy owners of local shops first, owners who run several businesses (each has a separate PIN and separate data), and new owners, where the agent finds existing listings and adds the business where it is missing after approval. The table is the process change: from open each site and compare by eye, to one scan, approve, and automatic verification. In our demo scenario the owner does three clicks: Scan, Approve all, Apply. If a site moderates edits, one more click re-checks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it agentic: it has a goal, not a script. Each step it looks at the current state of every site, chooses one of eight tools, acts, checks the result, and loops until nothing is left to do. Perceive, decide, act, verify, recover. The decision-maker is pluggable: a rules planner by default, or Gemini if a key is configured. Both use the same tool registry and the same guardrails, and every step is written to a trace with a badge saying who decided.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the judges asked about. How it interprets requests: the Edit and Ask box turns text into an intent, resolves dates with chrono-node, asks exactly one clarifying question when unclear, and saves nothing until Confirm. How it selects tools: every step it looks at the state and picks a tool, and code blocks unsafe picks. How it runs multi-step workflows: scan then execute, fanning one request out to every site. How it verifies and recovers: reload and compare, wait on moderation, re-ask if the page changed after approval, retry outages and re-send a dropped edit once. Be upfront: the default planner is rules-based; Gemini is optional and tested with a mocked client.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architecture, not a diagram of aspirations. One deployable Node service. The React console talks to an Express API over HTTPS. Behind it: auth, the agent core with its loop, planner, guardrail, eight tools and verifier, the owner-facing intelligence, and SQLite for field states, audit, trace and change log. Readers fetch pages with Playwright or a plain HTTP fallback, from five mock listing platforms that deliberately differ in markup, hours format, ownership and moderation. Gemini is an optional side connection.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is deliberately boring and testable: TypeScript everywhere, Express, React and Vite, SQLite, Zod for validation, Playwright with an HTTP fallback, chrono-node for dates, and the Google GenAI Interactions API as an optional extra. The middle column is the data flow of one run, from the owner's record to the report. The right column is how it integrates with listing platforms: per-site readers, identity assertions so look-alikes are never touched, dashboard APIs for writes with permission handling, and moderation awareness. We are explicit that real platforms need their own APIs and consent flows.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safety story is code, not prompt engineering. Each field moves through a state machine. Only the owner can approve, only the verifier can mark verified, and a listing we do not own can only be flagged. We tested the guardrails with a scripted rogue planner that tried six unsafe things: apply without approval, apply unapproved fields, verify without applying, touch the look-alike, flag an editable listing. All six were blocked, zero writes reached any site. Business isolation and PIN handling are enforced and tested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is different. A dashboard shows values and leaves all the work to you. A chatbot can talk about listings but has no tools, no ownership checks and no proof. A rule-based sync pushes data and assumes it worked. Our agent compares by meaning, knows when a listing is not ours, reloads the page to prove the edit is live, distinguishes pending moderation from done, explains every step, recovers when the world changes, and looks ahead to holidays. The comparison is against typical tools in each category, not specific products.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scenario, ideally live. Press Scan: the agent reads five sites and tells you what it found, two fixes, one listing claimed by someone else, two formatting-only differences it ignores. Review: CityPages lists Diwali as closed, and the card explains why that matters. NearbyNow belongs to another account, so the agent makes no edit and drafts a claim request instead. Approve and Apply: only approved changes are sent and the pages are reloaded. ShopFront has a moderation queue, so the edit stays pending until the moderator approves, then a re-check verifies it. The report shows the before and after table with a CSV export. There is a two-minute video of exactly this flow.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owner sees when the run is finished. The Consistency table is the before and after report, here filtered to Verified: CityPages and ShopFront were both fixed and confirmed by reloading the live page. The legend explains the three outcomes: verified, pending a moderator, or flagged because the listing is not ours. Below, the Agent Trace shows every step in order with a badge for who decided it, so nothing the agent did is hidden.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behind the demo. The eight official test cases each start from a fresh reset and record input, expected and actual results. TC1 is the holiday fix, TC2 proves we ignore formatting-only differences, TC3 proves zero write attempts on a listing we do not own, TC4 proves pending moderation is never reported as fixed. TC5 to TC8 cover plain-language closures, holiday foresight, a page that changes after approval, and an outage with a dropped edit. All eight pass, alongside 295 automated tests. Anyone can open the test page in the demo and press Run 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with numbers we actually measured. A full scan of five sites and twenty-five field checks takes about 150 milliseconds on the local mock sites, so this excludes real-world network latency. In the demo the owner does three clicks. Eight of eight test cases and 295 automated tests pass; the rogue planner could not get a single write through. Scalability: each platform is another reader, work per scan grows with sites times fields, and each business is isolated by a session-scoped ID. The future: real platform APIs with consent flows, scheduled scans, and more fields. We do not claim production traffic numbers; we have none.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would rather be honest than impressive. What is real: the full loop on five mock platforms, ownership and moderation handling, recovery, isolated businesses, onboarding, plain-language edits and holiday foresight, all covered by tests. What is not: real platforms, which need their own APIs and consent flows; OTP, which stays a human step; a calendar of approximate festival dates; and a live Gemini run, because the build environment had no key. Next steps: a real platform adapter, scheduled scans, PIN recovery and phone verification, and more fields.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safe by construction, proven by evidence, ready to try. Invite the judges to open the live demo, log in with the synthetic demo PIN, press Scan, and watch the agent work. Then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2721"/>
        </a:solidFill>
        <a:effectLst/>
      </p:bgPr>
    </p:bg>
    <p:spTree>
      <p:nvGrpSpPr>
        <p:cNvPr id="1" name=""/>
        <p:cNvGrpSpPr/>
        <p:nvPr/>
      </p:nvGrpSpPr>
      <p:grpSpPr/>
      <p:sp>
        <p:nvSpPr>
          <p:cNvPr id="2" name="TextBox 1"/>
          <p:cNvSpPr txBox="1"/>
          <p:nvPr/>
        </p:nvSpPr>
        <p:spPr>
          <a:xfrm>
            <a:off x="822960" y="1051560"/>
            <a:ext cx="7315200" cy="274320"/>
          </a:xfrm>
          <a:prstGeom prst="rect">
            <a:avLst/>
          </a:prstGeom>
          <a:noFill/>
        </p:spPr>
        <p:txBody>
          <a:bodyPr wrap="square" lIns="0" rIns="0" tIns="0" bIns="0" anchor="t">
            <a:spAutoFit/>
          </a:bodyPr>
          <a:lstStyle/>
          <a:p>
            <a:pPr algn="l">
              <a:lnSpc>
                <a:spcPct val="100000"/>
              </a:lnSpc>
            </a:pPr>
            <a:r>
              <a:rPr sz="1200" b="1" i="0" spc="140">
                <a:solidFill>
                  <a:srgbClr val="E0B98F"/>
                </a:solidFill>
                <a:latin typeface="Calibri"/>
              </a:rPr>
              <a:t>AGENTIC AI HACKATHON 2026  ·  BUSINESS &amp; PRODUCTIVITY AI</a:t>
            </a:r>
          </a:p>
        </p:txBody>
      </p:sp>
      <p:sp>
        <p:nvSpPr>
          <p:cNvPr id="3" name="TextBox 2"/>
          <p:cNvSpPr txBox="1"/>
          <p:nvPr/>
        </p:nvSpPr>
        <p:spPr>
          <a:xfrm>
            <a:off x="822960" y="1463040"/>
            <a:ext cx="7498079" cy="1920240"/>
          </a:xfrm>
          <a:prstGeom prst="rect">
            <a:avLst/>
          </a:prstGeom>
          <a:noFill/>
        </p:spPr>
        <p:txBody>
          <a:bodyPr wrap="square" lIns="0" rIns="0" tIns="0" bIns="0" anchor="t">
            <a:spAutoFit/>
          </a:bodyPr>
          <a:lstStyle/>
          <a:p>
            <a:pPr algn="l">
              <a:lnSpc>
                <a:spcPct val="95000"/>
              </a:lnSpc>
            </a:pPr>
            <a:r>
              <a:rPr sz="5400" b="1" i="0">
                <a:solidFill>
                  <a:srgbClr val="FBF8F1"/>
                </a:solidFill>
                <a:latin typeface="Cambria"/>
              </a:rPr>
              <a:t>Business Listing
Consistency Agent</a:t>
            </a:r>
          </a:p>
        </p:txBody>
      </p:sp>
      <p:sp>
        <p:nvSpPr>
          <p:cNvPr id="4" name="TextBox 3"/>
          <p:cNvSpPr txBox="1"/>
          <p:nvPr/>
        </p:nvSpPr>
        <p:spPr>
          <a:xfrm>
            <a:off x="822960" y="3611880"/>
            <a:ext cx="6949440" cy="1280160"/>
          </a:xfrm>
          <a:prstGeom prst="rect">
            <a:avLst/>
          </a:prstGeom>
          <a:noFill/>
        </p:spPr>
        <p:txBody>
          <a:bodyPr wrap="square" lIns="0" rIns="0" tIns="0" bIns="0" anchor="t">
            <a:spAutoFit/>
          </a:bodyPr>
          <a:lstStyle/>
          <a:p>
            <a:pPr algn="l">
              <a:lnSpc>
                <a:spcPct val="105000"/>
              </a:lnSpc>
            </a:pPr>
            <a:r>
              <a:rPr sz="2000" b="0" i="0">
                <a:solidFill>
                  <a:srgbClr val="E7D9C2"/>
                </a:solidFill>
                <a:latin typeface="Calibri"/>
              </a:rPr>
              <a:t>One true record. Five listing sites. An agent that finds every mismatch, fixes only what you approve, and proves the fix went live.</a:t>
            </a:r>
          </a:p>
        </p:txBody>
      </p:sp>
      <p:sp>
        <p:nvSpPr>
          <p:cNvPr id="5" name="Rounded Rectangle 4"/>
          <p:cNvSpPr/>
          <p:nvPr/>
        </p:nvSpPr>
        <p:spPr>
          <a:xfrm>
            <a:off x="8412480" y="1371600"/>
            <a:ext cx="3246120" cy="621792"/>
          </a:xfrm>
          <a:prstGeom prst="roundRect">
            <a:avLst>
              <a:gd name="adj" fmla="val 17647"/>
            </a:avLst>
          </a:prstGeom>
          <a:solidFill>
            <a:srgbClr val="DFEBD2"/>
          </a:solidFill>
          <a:ln>
            <a:noFill/>
          </a:ln>
          <a:effectLst/>
        </p:spPr>
        <p:txBody>
          <a:bodyPr rtlCol="0" anchor="ctr"/>
          <a:lstStyle/>
          <a:p>
            <a:pPr algn="ctr"/>
          </a:p>
        </p:txBody>
      </p:sp>
      <p:sp>
        <p:nvSpPr>
          <p:cNvPr id="6" name="TextBox 5"/>
          <p:cNvSpPr txBox="1"/>
          <p:nvPr/>
        </p:nvSpPr>
        <p:spPr>
          <a:xfrm>
            <a:off x="8577072" y="1444752"/>
            <a:ext cx="2926080" cy="228600"/>
          </a:xfrm>
          <a:prstGeom prst="rect">
            <a:avLst/>
          </a:prstGeom>
          <a:noFill/>
        </p:spPr>
        <p:txBody>
          <a:bodyPr wrap="square" lIns="0" rIns="0" tIns="0" bIns="0" anchor="t">
            <a:spAutoFit/>
          </a:bodyPr>
          <a:lstStyle/>
          <a:p>
            <a:pPr algn="l">
              <a:lnSpc>
                <a:spcPct val="100000"/>
              </a:lnSpc>
            </a:pPr>
            <a:r>
              <a:rPr sz="1200" b="1" i="0">
                <a:solidFill>
                  <a:srgbClr val="3A312A"/>
                </a:solidFill>
                <a:latin typeface="Calibri"/>
              </a:rPr>
              <a:t>Listify</a:t>
            </a:r>
          </a:p>
        </p:txBody>
      </p:sp>
      <p:sp>
        <p:nvSpPr>
          <p:cNvPr id="7" name="TextBox 6"/>
          <p:cNvSpPr txBox="1"/>
          <p:nvPr/>
        </p:nvSpPr>
        <p:spPr>
          <a:xfrm>
            <a:off x="8577072" y="1682496"/>
            <a:ext cx="2926080" cy="256032"/>
          </a:xfrm>
          <a:prstGeom prst="rect">
            <a:avLst/>
          </a:prstGeom>
          <a:noFill/>
        </p:spPr>
        <p:txBody>
          <a:bodyPr wrap="square" lIns="0" rIns="0" tIns="0" bIns="0" anchor="t">
            <a:spAutoFit/>
          </a:bodyPr>
          <a:lstStyle/>
          <a:p>
            <a:pPr algn="l">
              <a:lnSpc>
                <a:spcPct val="100000"/>
              </a:lnSpc>
            </a:pPr>
            <a:r>
              <a:rPr sz="1200" b="1" i="0">
                <a:solidFill>
                  <a:srgbClr val="3F5A2E"/>
                </a:solidFill>
                <a:latin typeface="Calibri"/>
              </a:rPr>
              <a:t>Matches</a:t>
            </a:r>
          </a:p>
        </p:txBody>
      </p:sp>
      <p:sp>
        <p:nvSpPr>
          <p:cNvPr id="8" name="Rounded Rectangle 7"/>
          <p:cNvSpPr/>
          <p:nvPr/>
        </p:nvSpPr>
        <p:spPr>
          <a:xfrm>
            <a:off x="8412480" y="2157984"/>
            <a:ext cx="3246120" cy="621792"/>
          </a:xfrm>
          <a:prstGeom prst="roundRect">
            <a:avLst>
              <a:gd name="adj" fmla="val 17647"/>
            </a:avLst>
          </a:prstGeom>
          <a:solidFill>
            <a:srgbClr val="F7DADD"/>
          </a:solidFill>
          <a:ln>
            <a:noFill/>
          </a:ln>
          <a:effectLst/>
        </p:spPr>
        <p:txBody>
          <a:bodyPr rtlCol="0" anchor="ctr"/>
          <a:lstStyle/>
          <a:p>
            <a:pPr algn="ctr"/>
          </a:p>
        </p:txBody>
      </p:sp>
      <p:sp>
        <p:nvSpPr>
          <p:cNvPr id="9" name="TextBox 8"/>
          <p:cNvSpPr txBox="1"/>
          <p:nvPr/>
        </p:nvSpPr>
        <p:spPr>
          <a:xfrm>
            <a:off x="8577072" y="2231136"/>
            <a:ext cx="2926080" cy="228600"/>
          </a:xfrm>
          <a:prstGeom prst="rect">
            <a:avLst/>
          </a:prstGeom>
          <a:noFill/>
        </p:spPr>
        <p:txBody>
          <a:bodyPr wrap="square" lIns="0" rIns="0" tIns="0" bIns="0" anchor="t">
            <a:spAutoFit/>
          </a:bodyPr>
          <a:lstStyle/>
          <a:p>
            <a:pPr algn="l">
              <a:lnSpc>
                <a:spcPct val="100000"/>
              </a:lnSpc>
            </a:pPr>
            <a:r>
              <a:rPr sz="1200" b="1" i="0">
                <a:solidFill>
                  <a:srgbClr val="3A312A"/>
                </a:solidFill>
                <a:latin typeface="Calibri"/>
              </a:rPr>
              <a:t>CityPages</a:t>
            </a:r>
          </a:p>
        </p:txBody>
      </p:sp>
      <p:sp>
        <p:nvSpPr>
          <p:cNvPr id="10" name="TextBox 9"/>
          <p:cNvSpPr txBox="1"/>
          <p:nvPr/>
        </p:nvSpPr>
        <p:spPr>
          <a:xfrm>
            <a:off x="8577072" y="2468879"/>
            <a:ext cx="2926080" cy="256032"/>
          </a:xfrm>
          <a:prstGeom prst="rect">
            <a:avLst/>
          </a:prstGeom>
          <a:noFill/>
        </p:spPr>
        <p:txBody>
          <a:bodyPr wrap="square" lIns="0" rIns="0" tIns="0" bIns="0" anchor="t">
            <a:spAutoFit/>
          </a:bodyPr>
          <a:lstStyle/>
          <a:p>
            <a:pPr algn="l">
              <a:lnSpc>
                <a:spcPct val="100000"/>
              </a:lnSpc>
            </a:pPr>
            <a:r>
              <a:rPr sz="1200" b="1" i="0">
                <a:solidFill>
                  <a:srgbClr val="9B2A38"/>
                </a:solidFill>
                <a:latin typeface="Calibri"/>
              </a:rPr>
              <a:t>Diwali shown as Closed</a:t>
            </a:r>
          </a:p>
        </p:txBody>
      </p:sp>
      <p:sp>
        <p:nvSpPr>
          <p:cNvPr id="11" name="Rounded Rectangle 10"/>
          <p:cNvSpPr/>
          <p:nvPr/>
        </p:nvSpPr>
        <p:spPr>
          <a:xfrm>
            <a:off x="8412480" y="2944368"/>
            <a:ext cx="3246120" cy="621792"/>
          </a:xfrm>
          <a:prstGeom prst="roundRect">
            <a:avLst>
              <a:gd name="adj" fmla="val 17647"/>
            </a:avLst>
          </a:prstGeom>
          <a:solidFill>
            <a:srgbClr val="EBE2CF"/>
          </a:solidFill>
          <a:ln>
            <a:noFill/>
          </a:ln>
          <a:effectLst/>
        </p:spPr>
        <p:txBody>
          <a:bodyPr rtlCol="0" anchor="ctr"/>
          <a:lstStyle/>
          <a:p>
            <a:pPr algn="ctr"/>
          </a:p>
        </p:txBody>
      </p:sp>
      <p:sp>
        <p:nvSpPr>
          <p:cNvPr id="12" name="TextBox 11"/>
          <p:cNvSpPr txBox="1"/>
          <p:nvPr/>
        </p:nvSpPr>
        <p:spPr>
          <a:xfrm>
            <a:off x="8577072" y="3017520"/>
            <a:ext cx="2926080" cy="228600"/>
          </a:xfrm>
          <a:prstGeom prst="rect">
            <a:avLst/>
          </a:prstGeom>
          <a:noFill/>
        </p:spPr>
        <p:txBody>
          <a:bodyPr wrap="square" lIns="0" rIns="0" tIns="0" bIns="0" anchor="t">
            <a:spAutoFit/>
          </a:bodyPr>
          <a:lstStyle/>
          <a:p>
            <a:pPr algn="l">
              <a:lnSpc>
                <a:spcPct val="100000"/>
              </a:lnSpc>
            </a:pPr>
            <a:r>
              <a:rPr sz="1200" b="1" i="0">
                <a:solidFill>
                  <a:srgbClr val="3A312A"/>
                </a:solidFill>
                <a:latin typeface="Calibri"/>
              </a:rPr>
              <a:t>LocalLoop</a:t>
            </a:r>
          </a:p>
        </p:txBody>
      </p:sp>
      <p:sp>
        <p:nvSpPr>
          <p:cNvPr id="13" name="TextBox 12"/>
          <p:cNvSpPr txBox="1"/>
          <p:nvPr/>
        </p:nvSpPr>
        <p:spPr>
          <a:xfrm>
            <a:off x="8577072" y="3255263"/>
            <a:ext cx="2926080" cy="256032"/>
          </a:xfrm>
          <a:prstGeom prst="rect">
            <a:avLst/>
          </a:prstGeom>
          <a:noFill/>
        </p:spPr>
        <p:txBody>
          <a:bodyPr wrap="square" lIns="0" rIns="0" tIns="0" bIns="0" anchor="t">
            <a:spAutoFit/>
          </a:bodyPr>
          <a:lstStyle/>
          <a:p>
            <a:pPr algn="l">
              <a:lnSpc>
                <a:spcPct val="100000"/>
              </a:lnSpc>
            </a:pPr>
            <a:r>
              <a:rPr sz="1200" b="1" i="0">
                <a:solidFill>
                  <a:srgbClr val="3A312A"/>
                </a:solidFill>
                <a:latin typeface="Calibri"/>
              </a:rPr>
              <a:t>Same facts, different format</a:t>
            </a:r>
          </a:p>
        </p:txBody>
      </p:sp>
      <p:sp>
        <p:nvSpPr>
          <p:cNvPr id="14" name="Rounded Rectangle 13"/>
          <p:cNvSpPr/>
          <p:nvPr/>
        </p:nvSpPr>
        <p:spPr>
          <a:xfrm>
            <a:off x="8412480" y="3730752"/>
            <a:ext cx="3246120" cy="621792"/>
          </a:xfrm>
          <a:prstGeom prst="roundRect">
            <a:avLst>
              <a:gd name="adj" fmla="val 17647"/>
            </a:avLst>
          </a:prstGeom>
          <a:solidFill>
            <a:srgbClr val="F4DCC8"/>
          </a:solidFill>
          <a:ln>
            <a:noFill/>
          </a:ln>
          <a:effectLst/>
        </p:spPr>
        <p:txBody>
          <a:bodyPr rtlCol="0" anchor="ctr"/>
          <a:lstStyle/>
          <a:p>
            <a:pPr algn="ctr"/>
          </a:p>
        </p:txBody>
      </p:sp>
      <p:sp>
        <p:nvSpPr>
          <p:cNvPr id="15" name="TextBox 14"/>
          <p:cNvSpPr txBox="1"/>
          <p:nvPr/>
        </p:nvSpPr>
        <p:spPr>
          <a:xfrm>
            <a:off x="8577072" y="3803904"/>
            <a:ext cx="2926080" cy="228600"/>
          </a:xfrm>
          <a:prstGeom prst="rect">
            <a:avLst/>
          </a:prstGeom>
          <a:noFill/>
        </p:spPr>
        <p:txBody>
          <a:bodyPr wrap="square" lIns="0" rIns="0" tIns="0" bIns="0" anchor="t">
            <a:spAutoFit/>
          </a:bodyPr>
          <a:lstStyle/>
          <a:p>
            <a:pPr algn="l">
              <a:lnSpc>
                <a:spcPct val="100000"/>
              </a:lnSpc>
            </a:pPr>
            <a:r>
              <a:rPr sz="1200" b="1" i="0">
                <a:solidFill>
                  <a:srgbClr val="3A312A"/>
                </a:solidFill>
                <a:latin typeface="Calibri"/>
              </a:rPr>
              <a:t>NearbyNow</a:t>
            </a:r>
          </a:p>
        </p:txBody>
      </p:sp>
      <p:sp>
        <p:nvSpPr>
          <p:cNvPr id="16" name="TextBox 15"/>
          <p:cNvSpPr txBox="1"/>
          <p:nvPr/>
        </p:nvSpPr>
        <p:spPr>
          <a:xfrm>
            <a:off x="8577072" y="4041648"/>
            <a:ext cx="2926080" cy="256032"/>
          </a:xfrm>
          <a:prstGeom prst="rect">
            <a:avLst/>
          </a:prstGeom>
          <a:noFill/>
        </p:spPr>
        <p:txBody>
          <a:bodyPr wrap="square" lIns="0" rIns="0" tIns="0" bIns="0" anchor="t">
            <a:spAutoFit/>
          </a:bodyPr>
          <a:lstStyle/>
          <a:p>
            <a:pPr algn="l">
              <a:lnSpc>
                <a:spcPct val="100000"/>
              </a:lnSpc>
            </a:pPr>
            <a:r>
              <a:rPr sz="1200" b="1" i="0">
                <a:solidFill>
                  <a:srgbClr val="B8561F"/>
                </a:solidFill>
                <a:latin typeface="Calibri"/>
              </a:rPr>
              <a:t>Someone else's listing</a:t>
            </a:r>
          </a:p>
        </p:txBody>
      </p:sp>
      <p:sp>
        <p:nvSpPr>
          <p:cNvPr id="17" name="Rounded Rectangle 16"/>
          <p:cNvSpPr/>
          <p:nvPr/>
        </p:nvSpPr>
        <p:spPr>
          <a:xfrm>
            <a:off x="8412480" y="4517136"/>
            <a:ext cx="3246120" cy="621792"/>
          </a:xfrm>
          <a:prstGeom prst="roundRect">
            <a:avLst>
              <a:gd name="adj" fmla="val 17647"/>
            </a:avLst>
          </a:prstGeom>
          <a:solidFill>
            <a:srgbClr val="F7DADD"/>
          </a:solidFill>
          <a:ln>
            <a:noFill/>
          </a:ln>
          <a:effectLst/>
        </p:spPr>
        <p:txBody>
          <a:bodyPr rtlCol="0" anchor="ctr"/>
          <a:lstStyle/>
          <a:p>
            <a:pPr algn="ctr"/>
          </a:p>
        </p:txBody>
      </p:sp>
      <p:sp>
        <p:nvSpPr>
          <p:cNvPr id="18" name="TextBox 17"/>
          <p:cNvSpPr txBox="1"/>
          <p:nvPr/>
        </p:nvSpPr>
        <p:spPr>
          <a:xfrm>
            <a:off x="8577072" y="4590288"/>
            <a:ext cx="2926080" cy="228600"/>
          </a:xfrm>
          <a:prstGeom prst="rect">
            <a:avLst/>
          </a:prstGeom>
          <a:noFill/>
        </p:spPr>
        <p:txBody>
          <a:bodyPr wrap="square" lIns="0" rIns="0" tIns="0" bIns="0" anchor="t">
            <a:spAutoFit/>
          </a:bodyPr>
          <a:lstStyle/>
          <a:p>
            <a:pPr algn="l">
              <a:lnSpc>
                <a:spcPct val="100000"/>
              </a:lnSpc>
            </a:pPr>
            <a:r>
              <a:rPr sz="1200" b="1" i="0">
                <a:solidFill>
                  <a:srgbClr val="3A312A"/>
                </a:solidFill>
                <a:latin typeface="Calibri"/>
              </a:rPr>
              <a:t>ShopFront</a:t>
            </a:r>
          </a:p>
        </p:txBody>
      </p:sp>
      <p:sp>
        <p:nvSpPr>
          <p:cNvPr id="19" name="TextBox 18"/>
          <p:cNvSpPr txBox="1"/>
          <p:nvPr/>
        </p:nvSpPr>
        <p:spPr>
          <a:xfrm>
            <a:off x="8577072" y="4828031"/>
            <a:ext cx="2926080" cy="256032"/>
          </a:xfrm>
          <a:prstGeom prst="rect">
            <a:avLst/>
          </a:prstGeom>
          <a:noFill/>
        </p:spPr>
        <p:txBody>
          <a:bodyPr wrap="square" lIns="0" rIns="0" tIns="0" bIns="0" anchor="t">
            <a:spAutoFit/>
          </a:bodyPr>
          <a:lstStyle/>
          <a:p>
            <a:pPr algn="l">
              <a:lnSpc>
                <a:spcPct val="100000"/>
              </a:lnSpc>
            </a:pPr>
            <a:r>
              <a:rPr sz="1200" b="1" i="0">
                <a:solidFill>
                  <a:srgbClr val="9B2A38"/>
                </a:solidFill>
                <a:latin typeface="Calibri"/>
              </a:rPr>
              <a:t>Sunday shown as Closed</a:t>
            </a:r>
          </a:p>
        </p:txBody>
      </p:sp>
      <p:sp>
        <p:nvSpPr>
          <p:cNvPr id="20" name="TextBox 19"/>
          <p:cNvSpPr txBox="1"/>
          <p:nvPr/>
        </p:nvSpPr>
        <p:spPr>
          <a:xfrm>
            <a:off x="822960" y="5623560"/>
            <a:ext cx="10789920" cy="274320"/>
          </a:xfrm>
          <a:prstGeom prst="rect">
            <a:avLst/>
          </a:prstGeom>
          <a:noFill/>
        </p:spPr>
        <p:txBody>
          <a:bodyPr wrap="square" lIns="0" rIns="0" tIns="0" bIns="0" anchor="t">
            <a:spAutoFit/>
          </a:bodyPr>
          <a:lstStyle/>
          <a:p>
            <a:pPr algn="l">
              <a:lnSpc>
                <a:spcPct val="100000"/>
              </a:lnSpc>
            </a:pPr>
            <a:r>
              <a:rPr sz="1300" b="1" i="0">
                <a:solidFill>
                  <a:srgbClr val="E0B98F"/>
                </a:solidFill>
                <a:latin typeface="Calibri"/>
              </a:rPr>
              <a:t>Live demo  </a:t>
            </a:r>
            <a:r>
              <a:rPr sz="1300" b="0" i="0">
                <a:solidFill>
                  <a:srgbClr val="E7D9C2"/>
                </a:solidFill>
                <a:latin typeface="Calibri"/>
              </a:rPr>
              <a:t>zirohacksub.onrender.com   </a:t>
            </a:r>
            <a:r>
              <a:rPr sz="1300" b="1" i="0">
                <a:solidFill>
                  <a:srgbClr val="E0B98F"/>
                </a:solidFill>
                <a:latin typeface="Calibri"/>
              </a:rPr>
              <a:t>demo PIN  </a:t>
            </a:r>
            <a:r>
              <a:rPr sz="1300" b="0" i="0">
                <a:solidFill>
                  <a:srgbClr val="E7D9C2"/>
                </a:solidFill>
                <a:latin typeface="Calibri"/>
              </a:rPr>
              <a:t>7KQ4X-M9PHT   </a:t>
            </a:r>
            <a:r>
              <a:rPr sz="1300" b="1" i="0">
                <a:solidFill>
                  <a:srgbClr val="E0B98F"/>
                </a:solidFill>
                <a:latin typeface="Calibri"/>
              </a:rPr>
              <a:t>Repo  </a:t>
            </a:r>
            <a:r>
              <a:rPr sz="1300" b="0" i="0">
                <a:solidFill>
                  <a:srgbClr val="E7D9C2"/>
                </a:solidFill>
                <a:latin typeface="Calibri"/>
              </a:rPr>
              <a:t>github.com/yourgrok/zirohacksub</a:t>
            </a:r>
          </a:p>
        </p:txBody>
      </p:sp>
      <p:sp>
        <p:nvSpPr>
          <p:cNvPr id="21" name="TextBox 20"/>
          <p:cNvSpPr txBox="1"/>
          <p:nvPr/>
        </p:nvSpPr>
        <p:spPr>
          <a:xfrm>
            <a:off x="822960" y="5989320"/>
            <a:ext cx="10789920" cy="274320"/>
          </a:xfrm>
          <a:prstGeom prst="rect">
            <a:avLst/>
          </a:prstGeom>
          <a:noFill/>
        </p:spPr>
        <p:txBody>
          <a:bodyPr wrap="square" lIns="0" rIns="0" tIns="0" bIns="0" anchor="t">
            <a:spAutoFit/>
          </a:bodyPr>
          <a:lstStyle/>
          <a:p>
            <a:pPr algn="l">
              <a:lnSpc>
                <a:spcPct val="100000"/>
              </a:lnSpc>
            </a:pPr>
            <a:r>
              <a:rPr sz="1200" b="0" i="0">
                <a:solidFill>
                  <a:srgbClr val="B8A88F"/>
                </a:solidFill>
                <a:latin typeface="Calibri"/>
              </a:rPr>
              <a:t>Fictional business (Sunrise Sweets &amp; Bakery, Pune), mock listing sites, synthetic data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OVERVIEW</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The seven things you asked us to show</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2</a:t>
            </a:r>
          </a:p>
        </p:txBody>
      </p:sp>
      <p:sp>
        <p:nvSpPr>
          <p:cNvPr id="6" name="Rounded Rectangle 5"/>
          <p:cNvSpPr/>
          <p:nvPr/>
        </p:nvSpPr>
        <p:spPr>
          <a:xfrm>
            <a:off x="548640" y="1691640"/>
            <a:ext cx="2606040" cy="1874519"/>
          </a:xfrm>
          <a:prstGeom prst="roundRect">
            <a:avLst>
              <a:gd name="adj" fmla="val 2926"/>
            </a:avLst>
          </a:prstGeom>
          <a:solidFill>
            <a:srgbClr val="FBF8F1"/>
          </a:solidFill>
          <a:ln w="9525">
            <a:solidFill>
              <a:srgbClr val="E2D8C6"/>
            </a:solidFill>
          </a:ln>
          <a:effectLst/>
        </p:spPr>
        <p:txBody>
          <a:bodyPr rtlCol="0" anchor="ctr"/>
          <a:lstStyle/>
          <a:p>
            <a:pPr algn="ctr"/>
          </a:p>
        </p:txBody>
      </p:sp>
      <p:sp>
        <p:nvSpPr>
          <p:cNvPr id="7" name="TextBox 6"/>
          <p:cNvSpPr txBox="1"/>
          <p:nvPr/>
        </p:nvSpPr>
        <p:spPr>
          <a:xfrm>
            <a:off x="731520" y="1801368"/>
            <a:ext cx="731520" cy="54864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1</a:t>
            </a:r>
          </a:p>
        </p:txBody>
      </p:sp>
      <p:sp>
        <p:nvSpPr>
          <p:cNvPr id="8" name="TextBox 7"/>
          <p:cNvSpPr txBox="1"/>
          <p:nvPr/>
        </p:nvSpPr>
        <p:spPr>
          <a:xfrm>
            <a:off x="731520" y="2404872"/>
            <a:ext cx="2240280"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The problem</a:t>
            </a:r>
          </a:p>
        </p:txBody>
      </p:sp>
      <p:sp>
        <p:nvSpPr>
          <p:cNvPr id="9" name="TextBox 8"/>
          <p:cNvSpPr txBox="1"/>
          <p:nvPr/>
        </p:nvSpPr>
        <p:spPr>
          <a:xfrm>
            <a:off x="731520" y="2697480"/>
            <a:ext cx="2240280"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Five sites, five versions of one business.</a:t>
            </a:r>
          </a:p>
        </p:txBody>
      </p:sp>
      <p:sp>
        <p:nvSpPr>
          <p:cNvPr id="10" name="TextBox 9"/>
          <p:cNvSpPr txBox="1"/>
          <p:nvPr/>
        </p:nvSpPr>
        <p:spPr>
          <a:xfrm>
            <a:off x="731520" y="3264408"/>
            <a:ext cx="2240280" cy="201168"/>
          </a:xfrm>
          <a:prstGeom prst="rect">
            <a:avLst/>
          </a:prstGeom>
          <a:noFill/>
        </p:spPr>
        <p:txBody>
          <a:bodyPr wrap="square" lIns="0" rIns="0" tIns="0" bIns="0" anchor="t">
            <a:spAutoFit/>
          </a:bodyPr>
          <a:lstStyle/>
          <a:p>
            <a:pPr algn="l">
              <a:lnSpc>
                <a:spcPct val="100000"/>
              </a:lnSpc>
            </a:pPr>
            <a:r>
              <a:rPr sz="1000" b="1" i="0">
                <a:solidFill>
                  <a:srgbClr val="54733F"/>
                </a:solidFill>
                <a:latin typeface="Calibri"/>
              </a:rPr>
              <a:t>slides 3-4</a:t>
            </a:r>
          </a:p>
        </p:txBody>
      </p:sp>
      <p:sp>
        <p:nvSpPr>
          <p:cNvPr id="11" name="Rounded Rectangle 10"/>
          <p:cNvSpPr/>
          <p:nvPr/>
        </p:nvSpPr>
        <p:spPr>
          <a:xfrm>
            <a:off x="3376879" y="1691640"/>
            <a:ext cx="2606040" cy="1874519"/>
          </a:xfrm>
          <a:prstGeom prst="roundRect">
            <a:avLst>
              <a:gd name="adj" fmla="val 2926"/>
            </a:avLst>
          </a:prstGeom>
          <a:solidFill>
            <a:srgbClr val="FBF8F1"/>
          </a:solidFill>
          <a:ln w="9525">
            <a:solidFill>
              <a:srgbClr val="E2D8C6"/>
            </a:solidFill>
          </a:ln>
          <a:effectLst/>
        </p:spPr>
        <p:txBody>
          <a:bodyPr rtlCol="0" anchor="ctr"/>
          <a:lstStyle/>
          <a:p>
            <a:pPr algn="ctr"/>
          </a:p>
        </p:txBody>
      </p:sp>
      <p:sp>
        <p:nvSpPr>
          <p:cNvPr id="12" name="TextBox 11"/>
          <p:cNvSpPr txBox="1"/>
          <p:nvPr/>
        </p:nvSpPr>
        <p:spPr>
          <a:xfrm>
            <a:off x="3559759" y="1801368"/>
            <a:ext cx="731520" cy="54864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2</a:t>
            </a:r>
          </a:p>
        </p:txBody>
      </p:sp>
      <p:sp>
        <p:nvSpPr>
          <p:cNvPr id="13" name="TextBox 12"/>
          <p:cNvSpPr txBox="1"/>
          <p:nvPr/>
        </p:nvSpPr>
        <p:spPr>
          <a:xfrm>
            <a:off x="3559759" y="2404872"/>
            <a:ext cx="2240280"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Our solution</a:t>
            </a:r>
          </a:p>
        </p:txBody>
      </p:sp>
      <p:sp>
        <p:nvSpPr>
          <p:cNvPr id="14" name="TextBox 13"/>
          <p:cNvSpPr txBox="1"/>
          <p:nvPr/>
        </p:nvSpPr>
        <p:spPr>
          <a:xfrm>
            <a:off x="3559759" y="2697480"/>
            <a:ext cx="2240280"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Scan, review, apply, verify. The owner stays in charge.</a:t>
            </a:r>
          </a:p>
        </p:txBody>
      </p:sp>
      <p:sp>
        <p:nvSpPr>
          <p:cNvPr id="15" name="TextBox 14"/>
          <p:cNvSpPr txBox="1"/>
          <p:nvPr/>
        </p:nvSpPr>
        <p:spPr>
          <a:xfrm>
            <a:off x="3559759" y="3264408"/>
            <a:ext cx="2240280" cy="201168"/>
          </a:xfrm>
          <a:prstGeom prst="rect">
            <a:avLst/>
          </a:prstGeom>
          <a:noFill/>
        </p:spPr>
        <p:txBody>
          <a:bodyPr wrap="square" lIns="0" rIns="0" tIns="0" bIns="0" anchor="t">
            <a:spAutoFit/>
          </a:bodyPr>
          <a:lstStyle/>
          <a:p>
            <a:pPr algn="l">
              <a:lnSpc>
                <a:spcPct val="100000"/>
              </a:lnSpc>
            </a:pPr>
            <a:r>
              <a:rPr sz="1000" b="1" i="0">
                <a:solidFill>
                  <a:srgbClr val="54733F"/>
                </a:solidFill>
                <a:latin typeface="Calibri"/>
              </a:rPr>
              <a:t>slides 5-6</a:t>
            </a:r>
          </a:p>
        </p:txBody>
      </p:sp>
      <p:sp>
        <p:nvSpPr>
          <p:cNvPr id="16" name="Rounded Rectangle 15"/>
          <p:cNvSpPr/>
          <p:nvPr/>
        </p:nvSpPr>
        <p:spPr>
          <a:xfrm>
            <a:off x="6205118" y="1691640"/>
            <a:ext cx="2606040" cy="1874519"/>
          </a:xfrm>
          <a:prstGeom prst="roundRect">
            <a:avLst>
              <a:gd name="adj" fmla="val 2926"/>
            </a:avLst>
          </a:prstGeom>
          <a:solidFill>
            <a:srgbClr val="FBF8F1"/>
          </a:solidFill>
          <a:ln w="9525">
            <a:solidFill>
              <a:srgbClr val="E2D8C6"/>
            </a:solidFill>
          </a:ln>
          <a:effectLst/>
        </p:spPr>
        <p:txBody>
          <a:bodyPr rtlCol="0" anchor="ctr"/>
          <a:lstStyle/>
          <a:p>
            <a:pPr algn="ctr"/>
          </a:p>
        </p:txBody>
      </p:sp>
      <p:sp>
        <p:nvSpPr>
          <p:cNvPr id="17" name="TextBox 16"/>
          <p:cNvSpPr txBox="1"/>
          <p:nvPr/>
        </p:nvSpPr>
        <p:spPr>
          <a:xfrm>
            <a:off x="6387998" y="1801368"/>
            <a:ext cx="731520" cy="54864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3</a:t>
            </a:r>
          </a:p>
        </p:txBody>
      </p:sp>
      <p:sp>
        <p:nvSpPr>
          <p:cNvPr id="18" name="TextBox 17"/>
          <p:cNvSpPr txBox="1"/>
          <p:nvPr/>
        </p:nvSpPr>
        <p:spPr>
          <a:xfrm>
            <a:off x="6387998" y="2404872"/>
            <a:ext cx="2240280"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The agentic AI</a:t>
            </a:r>
          </a:p>
        </p:txBody>
      </p:sp>
      <p:sp>
        <p:nvSpPr>
          <p:cNvPr id="19" name="TextBox 18"/>
          <p:cNvSpPr txBox="1"/>
          <p:nvPr/>
        </p:nvSpPr>
        <p:spPr>
          <a:xfrm>
            <a:off x="6387998" y="2697480"/>
            <a:ext cx="2240280"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A loop that reads, decides, acts, verifies and recovers.</a:t>
            </a:r>
          </a:p>
        </p:txBody>
      </p:sp>
      <p:sp>
        <p:nvSpPr>
          <p:cNvPr id="20" name="TextBox 19"/>
          <p:cNvSpPr txBox="1"/>
          <p:nvPr/>
        </p:nvSpPr>
        <p:spPr>
          <a:xfrm>
            <a:off x="6387998" y="3264408"/>
            <a:ext cx="2240280" cy="201168"/>
          </a:xfrm>
          <a:prstGeom prst="rect">
            <a:avLst/>
          </a:prstGeom>
          <a:noFill/>
        </p:spPr>
        <p:txBody>
          <a:bodyPr wrap="square" lIns="0" rIns="0" tIns="0" bIns="0" anchor="t">
            <a:spAutoFit/>
          </a:bodyPr>
          <a:lstStyle/>
          <a:p>
            <a:pPr algn="l">
              <a:lnSpc>
                <a:spcPct val="100000"/>
              </a:lnSpc>
            </a:pPr>
            <a:r>
              <a:rPr sz="1000" b="1" i="0">
                <a:solidFill>
                  <a:srgbClr val="54733F"/>
                </a:solidFill>
                <a:latin typeface="Calibri"/>
              </a:rPr>
              <a:t>slides 7-8</a:t>
            </a:r>
          </a:p>
        </p:txBody>
      </p:sp>
      <p:sp>
        <p:nvSpPr>
          <p:cNvPr id="21" name="Rounded Rectangle 20"/>
          <p:cNvSpPr/>
          <p:nvPr/>
        </p:nvSpPr>
        <p:spPr>
          <a:xfrm>
            <a:off x="9033357" y="1691640"/>
            <a:ext cx="2606040" cy="1874519"/>
          </a:xfrm>
          <a:prstGeom prst="roundRect">
            <a:avLst>
              <a:gd name="adj" fmla="val 2926"/>
            </a:avLst>
          </a:prstGeom>
          <a:solidFill>
            <a:srgbClr val="FBF8F1"/>
          </a:solidFill>
          <a:ln w="9525">
            <a:solidFill>
              <a:srgbClr val="E2D8C6"/>
            </a:solidFill>
          </a:ln>
          <a:effectLst/>
        </p:spPr>
        <p:txBody>
          <a:bodyPr rtlCol="0" anchor="ctr"/>
          <a:lstStyle/>
          <a:p>
            <a:pPr algn="ctr"/>
          </a:p>
        </p:txBody>
      </p:sp>
      <p:sp>
        <p:nvSpPr>
          <p:cNvPr id="22" name="TextBox 21"/>
          <p:cNvSpPr txBox="1"/>
          <p:nvPr/>
        </p:nvSpPr>
        <p:spPr>
          <a:xfrm>
            <a:off x="9216237" y="1801368"/>
            <a:ext cx="731520" cy="54864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4</a:t>
            </a:r>
          </a:p>
        </p:txBody>
      </p:sp>
      <p:sp>
        <p:nvSpPr>
          <p:cNvPr id="23" name="TextBox 22"/>
          <p:cNvSpPr txBox="1"/>
          <p:nvPr/>
        </p:nvSpPr>
        <p:spPr>
          <a:xfrm>
            <a:off x="9216237" y="2404872"/>
            <a:ext cx="2240280"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Technical implementation</a:t>
            </a:r>
          </a:p>
        </p:txBody>
      </p:sp>
      <p:sp>
        <p:nvSpPr>
          <p:cNvPr id="24" name="TextBox 23"/>
          <p:cNvSpPr txBox="1"/>
          <p:nvPr/>
        </p:nvSpPr>
        <p:spPr>
          <a:xfrm>
            <a:off x="9216237" y="2697480"/>
            <a:ext cx="2240280"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Architecture, stack, data flow, platform integration, guardrails.</a:t>
            </a:r>
          </a:p>
        </p:txBody>
      </p:sp>
      <p:sp>
        <p:nvSpPr>
          <p:cNvPr id="25" name="TextBox 24"/>
          <p:cNvSpPr txBox="1"/>
          <p:nvPr/>
        </p:nvSpPr>
        <p:spPr>
          <a:xfrm>
            <a:off x="9216237" y="3264408"/>
            <a:ext cx="2240280" cy="201168"/>
          </a:xfrm>
          <a:prstGeom prst="rect">
            <a:avLst/>
          </a:prstGeom>
          <a:noFill/>
        </p:spPr>
        <p:txBody>
          <a:bodyPr wrap="square" lIns="0" rIns="0" tIns="0" bIns="0" anchor="t">
            <a:spAutoFit/>
          </a:bodyPr>
          <a:lstStyle/>
          <a:p>
            <a:pPr algn="l">
              <a:lnSpc>
                <a:spcPct val="100000"/>
              </a:lnSpc>
            </a:pPr>
            <a:r>
              <a:rPr sz="1000" b="1" i="0">
                <a:solidFill>
                  <a:srgbClr val="54733F"/>
                </a:solidFill>
                <a:latin typeface="Calibri"/>
              </a:rPr>
              <a:t>slides 9-11</a:t>
            </a:r>
          </a:p>
        </p:txBody>
      </p:sp>
      <p:sp>
        <p:nvSpPr>
          <p:cNvPr id="26" name="Rounded Rectangle 25"/>
          <p:cNvSpPr/>
          <p:nvPr/>
        </p:nvSpPr>
        <p:spPr>
          <a:xfrm>
            <a:off x="548640" y="3767328"/>
            <a:ext cx="2606040" cy="1874519"/>
          </a:xfrm>
          <a:prstGeom prst="roundRect">
            <a:avLst>
              <a:gd name="adj" fmla="val 2926"/>
            </a:avLst>
          </a:prstGeom>
          <a:solidFill>
            <a:srgbClr val="FBF8F1"/>
          </a:solidFill>
          <a:ln w="9525">
            <a:solidFill>
              <a:srgbClr val="E2D8C6"/>
            </a:solidFill>
          </a:ln>
          <a:effectLst/>
        </p:spPr>
        <p:txBody>
          <a:bodyPr rtlCol="0" anchor="ctr"/>
          <a:lstStyle/>
          <a:p>
            <a:pPr algn="ctr"/>
          </a:p>
        </p:txBody>
      </p:sp>
      <p:sp>
        <p:nvSpPr>
          <p:cNvPr id="27" name="TextBox 26"/>
          <p:cNvSpPr txBox="1"/>
          <p:nvPr/>
        </p:nvSpPr>
        <p:spPr>
          <a:xfrm>
            <a:off x="731520" y="3877056"/>
            <a:ext cx="731520" cy="54864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5</a:t>
            </a:r>
          </a:p>
        </p:txBody>
      </p:sp>
      <p:sp>
        <p:nvSpPr>
          <p:cNvPr id="28" name="TextBox 27"/>
          <p:cNvSpPr txBox="1"/>
          <p:nvPr/>
        </p:nvSpPr>
        <p:spPr>
          <a:xfrm>
            <a:off x="731520" y="4480560"/>
            <a:ext cx="2240280"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The innovation</a:t>
            </a:r>
          </a:p>
        </p:txBody>
      </p:sp>
      <p:sp>
        <p:nvSpPr>
          <p:cNvPr id="29" name="TextBox 28"/>
          <p:cNvSpPr txBox="1"/>
          <p:nvPr/>
        </p:nvSpPr>
        <p:spPr>
          <a:xfrm>
            <a:off x="731520" y="4773168"/>
            <a:ext cx="2240280"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Why it is not a dashboard, a chatbot or a cron job.</a:t>
            </a:r>
          </a:p>
        </p:txBody>
      </p:sp>
      <p:sp>
        <p:nvSpPr>
          <p:cNvPr id="30" name="TextBox 29"/>
          <p:cNvSpPr txBox="1"/>
          <p:nvPr/>
        </p:nvSpPr>
        <p:spPr>
          <a:xfrm>
            <a:off x="731520" y="5340096"/>
            <a:ext cx="2240280" cy="201168"/>
          </a:xfrm>
          <a:prstGeom prst="rect">
            <a:avLst/>
          </a:prstGeom>
          <a:noFill/>
        </p:spPr>
        <p:txBody>
          <a:bodyPr wrap="square" lIns="0" rIns="0" tIns="0" bIns="0" anchor="t">
            <a:spAutoFit/>
          </a:bodyPr>
          <a:lstStyle/>
          <a:p>
            <a:pPr algn="l">
              <a:lnSpc>
                <a:spcPct val="100000"/>
              </a:lnSpc>
            </a:pPr>
            <a:r>
              <a:rPr sz="1000" b="1" i="0">
                <a:solidFill>
                  <a:srgbClr val="54733F"/>
                </a:solidFill>
                <a:latin typeface="Calibri"/>
              </a:rPr>
              <a:t>slide 12</a:t>
            </a:r>
          </a:p>
        </p:txBody>
      </p:sp>
      <p:sp>
        <p:nvSpPr>
          <p:cNvPr id="31" name="Rounded Rectangle 30"/>
          <p:cNvSpPr/>
          <p:nvPr/>
        </p:nvSpPr>
        <p:spPr>
          <a:xfrm>
            <a:off x="3376879" y="3767328"/>
            <a:ext cx="2606040" cy="1874519"/>
          </a:xfrm>
          <a:prstGeom prst="roundRect">
            <a:avLst>
              <a:gd name="adj" fmla="val 2926"/>
            </a:avLst>
          </a:prstGeom>
          <a:solidFill>
            <a:srgbClr val="FBF8F1"/>
          </a:solidFill>
          <a:ln w="9525">
            <a:solidFill>
              <a:srgbClr val="E2D8C6"/>
            </a:solidFill>
          </a:ln>
          <a:effectLst/>
        </p:spPr>
        <p:txBody>
          <a:bodyPr rtlCol="0" anchor="ctr"/>
          <a:lstStyle/>
          <a:p>
            <a:pPr algn="ctr"/>
          </a:p>
        </p:txBody>
      </p:sp>
      <p:sp>
        <p:nvSpPr>
          <p:cNvPr id="32" name="TextBox 31"/>
          <p:cNvSpPr txBox="1"/>
          <p:nvPr/>
        </p:nvSpPr>
        <p:spPr>
          <a:xfrm>
            <a:off x="3559759" y="3877056"/>
            <a:ext cx="731520" cy="54864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6</a:t>
            </a:r>
          </a:p>
        </p:txBody>
      </p:sp>
      <p:sp>
        <p:nvSpPr>
          <p:cNvPr id="33" name="TextBox 32"/>
          <p:cNvSpPr txBox="1"/>
          <p:nvPr/>
        </p:nvSpPr>
        <p:spPr>
          <a:xfrm>
            <a:off x="3559759" y="4480560"/>
            <a:ext cx="2240280"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The demonstration</a:t>
            </a:r>
          </a:p>
        </p:txBody>
      </p:sp>
      <p:sp>
        <p:nvSpPr>
          <p:cNvPr id="34" name="TextBox 33"/>
          <p:cNvSpPr txBox="1"/>
          <p:nvPr/>
        </p:nvSpPr>
        <p:spPr>
          <a:xfrm>
            <a:off x="3559759" y="4773168"/>
            <a:ext cx="2240280"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One scenario end to end, the result on screen, and the TC1-TC8 proof.</a:t>
            </a:r>
          </a:p>
        </p:txBody>
      </p:sp>
      <p:sp>
        <p:nvSpPr>
          <p:cNvPr id="35" name="TextBox 34"/>
          <p:cNvSpPr txBox="1"/>
          <p:nvPr/>
        </p:nvSpPr>
        <p:spPr>
          <a:xfrm>
            <a:off x="3559759" y="5340096"/>
            <a:ext cx="2240280" cy="201168"/>
          </a:xfrm>
          <a:prstGeom prst="rect">
            <a:avLst/>
          </a:prstGeom>
          <a:noFill/>
        </p:spPr>
        <p:txBody>
          <a:bodyPr wrap="square" lIns="0" rIns="0" tIns="0" bIns="0" anchor="t">
            <a:spAutoFit/>
          </a:bodyPr>
          <a:lstStyle/>
          <a:p>
            <a:pPr algn="l">
              <a:lnSpc>
                <a:spcPct val="100000"/>
              </a:lnSpc>
            </a:pPr>
            <a:r>
              <a:rPr sz="1000" b="1" i="0">
                <a:solidFill>
                  <a:srgbClr val="54733F"/>
                </a:solidFill>
                <a:latin typeface="Calibri"/>
              </a:rPr>
              <a:t>slides 13-15</a:t>
            </a:r>
          </a:p>
        </p:txBody>
      </p:sp>
      <p:sp>
        <p:nvSpPr>
          <p:cNvPr id="36" name="Rounded Rectangle 35"/>
          <p:cNvSpPr/>
          <p:nvPr/>
        </p:nvSpPr>
        <p:spPr>
          <a:xfrm>
            <a:off x="6205118" y="3767328"/>
            <a:ext cx="2606040" cy="1874519"/>
          </a:xfrm>
          <a:prstGeom prst="roundRect">
            <a:avLst>
              <a:gd name="adj" fmla="val 2926"/>
            </a:avLst>
          </a:prstGeom>
          <a:solidFill>
            <a:srgbClr val="FBF8F1"/>
          </a:solidFill>
          <a:ln w="9525">
            <a:solidFill>
              <a:srgbClr val="E2D8C6"/>
            </a:solidFill>
          </a:ln>
          <a:effectLst/>
        </p:spPr>
        <p:txBody>
          <a:bodyPr rtlCol="0" anchor="ctr"/>
          <a:lstStyle/>
          <a:p>
            <a:pPr algn="ctr"/>
          </a:p>
        </p:txBody>
      </p:sp>
      <p:sp>
        <p:nvSpPr>
          <p:cNvPr id="37" name="TextBox 36"/>
          <p:cNvSpPr txBox="1"/>
          <p:nvPr/>
        </p:nvSpPr>
        <p:spPr>
          <a:xfrm>
            <a:off x="6387998" y="3877056"/>
            <a:ext cx="731520" cy="54864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7</a:t>
            </a:r>
          </a:p>
        </p:txBody>
      </p:sp>
      <p:sp>
        <p:nvSpPr>
          <p:cNvPr id="38" name="TextBox 37"/>
          <p:cNvSpPr txBox="1"/>
          <p:nvPr/>
        </p:nvSpPr>
        <p:spPr>
          <a:xfrm>
            <a:off x="6387998" y="4480560"/>
            <a:ext cx="2240280"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The impact</a:t>
            </a:r>
          </a:p>
        </p:txBody>
      </p:sp>
      <p:sp>
        <p:nvSpPr>
          <p:cNvPr id="39" name="TextBox 38"/>
          <p:cNvSpPr txBox="1"/>
          <p:nvPr/>
        </p:nvSpPr>
        <p:spPr>
          <a:xfrm>
            <a:off x="6387998" y="4773168"/>
            <a:ext cx="2240280"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Numbers we measured, scalability, honest limits, roadmap.</a:t>
            </a:r>
          </a:p>
        </p:txBody>
      </p:sp>
      <p:sp>
        <p:nvSpPr>
          <p:cNvPr id="40" name="TextBox 39"/>
          <p:cNvSpPr txBox="1"/>
          <p:nvPr/>
        </p:nvSpPr>
        <p:spPr>
          <a:xfrm>
            <a:off x="6387998" y="5340096"/>
            <a:ext cx="2240280" cy="201168"/>
          </a:xfrm>
          <a:prstGeom prst="rect">
            <a:avLst/>
          </a:prstGeom>
          <a:noFill/>
        </p:spPr>
        <p:txBody>
          <a:bodyPr wrap="square" lIns="0" rIns="0" tIns="0" bIns="0" anchor="t">
            <a:spAutoFit/>
          </a:bodyPr>
          <a:lstStyle/>
          <a:p>
            <a:pPr algn="l">
              <a:lnSpc>
                <a:spcPct val="100000"/>
              </a:lnSpc>
            </a:pPr>
            <a:r>
              <a:rPr sz="1000" b="1" i="0">
                <a:solidFill>
                  <a:srgbClr val="54733F"/>
                </a:solidFill>
                <a:latin typeface="Calibri"/>
              </a:rPr>
              <a:t>slides 16-17</a:t>
            </a:r>
          </a:p>
        </p:txBody>
      </p:sp>
      <p:sp>
        <p:nvSpPr>
          <p:cNvPr id="41" name="Rounded Rectangle 40"/>
          <p:cNvSpPr/>
          <p:nvPr/>
        </p:nvSpPr>
        <p:spPr>
          <a:xfrm>
            <a:off x="9033357" y="3767328"/>
            <a:ext cx="2606040" cy="1874519"/>
          </a:xfrm>
          <a:prstGeom prst="roundRect">
            <a:avLst>
              <a:gd name="adj" fmla="val 2926"/>
            </a:avLst>
          </a:prstGeom>
          <a:solidFill>
            <a:srgbClr val="2F2721"/>
          </a:solidFill>
          <a:ln>
            <a:noFill/>
          </a:ln>
          <a:effectLst/>
        </p:spPr>
        <p:txBody>
          <a:bodyPr rtlCol="0" anchor="ctr"/>
          <a:lstStyle/>
          <a:p>
            <a:pPr algn="ctr"/>
          </a:p>
        </p:txBody>
      </p:sp>
      <p:sp>
        <p:nvSpPr>
          <p:cNvPr id="42" name="TextBox 41"/>
          <p:cNvSpPr txBox="1"/>
          <p:nvPr/>
        </p:nvSpPr>
        <p:spPr>
          <a:xfrm>
            <a:off x="9216237" y="3931920"/>
            <a:ext cx="2240280" cy="274320"/>
          </a:xfrm>
          <a:prstGeom prst="rect">
            <a:avLst/>
          </a:prstGeom>
          <a:noFill/>
        </p:spPr>
        <p:txBody>
          <a:bodyPr wrap="square" lIns="0" rIns="0" tIns="0" bIns="0" anchor="t">
            <a:spAutoFit/>
          </a:bodyPr>
          <a:lstStyle/>
          <a:p>
            <a:pPr algn="l">
              <a:lnSpc>
                <a:spcPct val="100000"/>
              </a:lnSpc>
            </a:pPr>
            <a:r>
              <a:rPr sz="1100" b="1" i="0" spc="100">
                <a:solidFill>
                  <a:srgbClr val="E0B98F"/>
                </a:solidFill>
                <a:latin typeface="Calibri"/>
              </a:rPr>
              <a:t>TRY IT YOURSELF</a:t>
            </a:r>
          </a:p>
        </p:txBody>
      </p:sp>
      <p:sp>
        <p:nvSpPr>
          <p:cNvPr id="43" name="TextBox 42"/>
          <p:cNvSpPr txBox="1"/>
          <p:nvPr/>
        </p:nvSpPr>
        <p:spPr>
          <a:xfrm>
            <a:off x="9216237" y="4270248"/>
            <a:ext cx="2240280" cy="1280160"/>
          </a:xfrm>
          <a:prstGeom prst="rect">
            <a:avLst/>
          </a:prstGeom>
          <a:noFill/>
        </p:spPr>
        <p:txBody>
          <a:bodyPr wrap="square" lIns="0" rIns="0" tIns="0" bIns="0" anchor="t">
            <a:spAutoFit/>
          </a:bodyPr>
          <a:lstStyle/>
          <a:p>
            <a:pPr algn="l">
              <a:lnSpc>
                <a:spcPct val="100000"/>
              </a:lnSpc>
              <a:spcAft>
                <a:spcPts val="500"/>
              </a:spcAft>
            </a:pPr>
            <a:r>
              <a:rPr sz="1250" b="0" i="0">
                <a:solidFill>
                  <a:srgbClr val="FBF8F1"/>
                </a:solidFill>
                <a:latin typeface="Calibri"/>
              </a:rPr>
              <a:t>zirohacksub.onrender.com</a:t>
            </a:r>
          </a:p>
          <a:p>
            <a:pPr algn="l">
              <a:lnSpc>
                <a:spcPct val="100000"/>
              </a:lnSpc>
              <a:spcAft>
                <a:spcPts val="500"/>
              </a:spcAft>
            </a:pPr>
            <a:r>
              <a:rPr sz="1250" b="0" i="0">
                <a:solidFill>
                  <a:srgbClr val="E0B98F"/>
                </a:solidFill>
                <a:latin typeface="Calibri"/>
              </a:rPr>
              <a:t>PIN  </a:t>
            </a:r>
            <a:r>
              <a:rPr sz="1250" b="0" i="0">
                <a:solidFill>
                  <a:srgbClr val="FBF8F1"/>
                </a:solidFill>
                <a:latin typeface="Calibri"/>
              </a:rPr>
              <a:t>7KQ4X-M9PHT</a:t>
            </a:r>
          </a:p>
          <a:p>
            <a:pPr algn="l">
              <a:lnSpc>
                <a:spcPct val="100000"/>
              </a:lnSpc>
            </a:pPr>
            <a:r>
              <a:rPr sz="1250" b="0" i="0">
                <a:solidFill>
                  <a:srgbClr val="FBF8F1"/>
                </a:solidFill>
                <a:latin typeface="Calibri"/>
              </a:rPr>
              <a:t>2-minute video: docs/demo/demo.mp4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1  ·  THE PROBLEM</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One bakery, five listing sites, five different stories</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3</a:t>
            </a:r>
          </a:p>
        </p:txBody>
      </p:sp>
      <p:sp>
        <p:nvSpPr>
          <p:cNvPr id="6" name="TextBox 5"/>
          <p:cNvSpPr txBox="1"/>
          <p:nvPr/>
        </p:nvSpPr>
        <p:spPr>
          <a:xfrm>
            <a:off x="548640" y="1572768"/>
            <a:ext cx="2103120" cy="256032"/>
          </a:xfrm>
          <a:prstGeom prst="rect">
            <a:avLst/>
          </a:prstGeom>
          <a:noFill/>
        </p:spPr>
        <p:txBody>
          <a:bodyPr wrap="square" lIns="0" rIns="0" tIns="0" bIns="0" anchor="t">
            <a:spAutoFit/>
          </a:bodyPr>
          <a:lstStyle/>
          <a:p>
            <a:pPr algn="l">
              <a:lnSpc>
                <a:spcPct val="100000"/>
              </a:lnSpc>
            </a:pPr>
            <a:r>
              <a:rPr sz="1300" b="1" i="0">
                <a:solidFill>
                  <a:srgbClr val="3A312A"/>
                </a:solidFill>
                <a:latin typeface="Calibri"/>
              </a:rPr>
              <a:t>A · Listify</a:t>
            </a:r>
          </a:p>
        </p:txBody>
      </p:sp>
      <p:pic>
        <p:nvPicPr>
          <p:cNvPr id="7" name="Picture 6" descr="Public listing page of site A (Listify), details match"/>
          <p:cNvPicPr>
            <a:picLocks noChangeAspect="1"/>
          </p:cNvPicPr>
          <p:nvPr/>
        </p:nvPicPr>
        <p:blipFill>
          <a:blip r:embed="rId2"/>
          <a:stretch>
            <a:fillRect/>
          </a:stretch>
        </p:blipFill>
        <p:spPr>
          <a:xfrm>
            <a:off x="548640" y="1874519"/>
            <a:ext cx="2103120" cy="1538868"/>
          </a:xfrm>
          <a:prstGeom prst="rect">
            <a:avLst/>
          </a:prstGeom>
          <a:ln w="9525">
            <a:solidFill>
              <a:srgbClr val="E2D8C6"/>
            </a:solidFill>
          </a:ln>
        </p:spPr>
      </p:pic>
      <p:sp>
        <p:nvSpPr>
          <p:cNvPr id="8" name="Rounded Rectangle 7"/>
          <p:cNvSpPr/>
          <p:nvPr/>
        </p:nvSpPr>
        <p:spPr>
          <a:xfrm>
            <a:off x="548640" y="3504828"/>
            <a:ext cx="2103120" cy="658368"/>
          </a:xfrm>
          <a:prstGeom prst="roundRect">
            <a:avLst>
              <a:gd name="adj" fmla="val 11111"/>
            </a:avLst>
          </a:prstGeom>
          <a:solidFill>
            <a:srgbClr val="DFEBD2"/>
          </a:solidFill>
          <a:ln>
            <a:noFill/>
          </a:ln>
          <a:effectLst/>
        </p:spPr>
        <p:txBody>
          <a:bodyPr rtlCol="0" anchor="ctr"/>
          <a:lstStyle/>
          <a:p>
            <a:pPr algn="ctr"/>
          </a:p>
        </p:txBody>
      </p:sp>
      <p:sp>
        <p:nvSpPr>
          <p:cNvPr id="9" name="TextBox 8"/>
          <p:cNvSpPr txBox="1"/>
          <p:nvPr/>
        </p:nvSpPr>
        <p:spPr>
          <a:xfrm>
            <a:off x="640080" y="3568836"/>
            <a:ext cx="1920239" cy="548640"/>
          </a:xfrm>
          <a:prstGeom prst="rect">
            <a:avLst/>
          </a:prstGeom>
          <a:noFill/>
        </p:spPr>
        <p:txBody>
          <a:bodyPr wrap="square" lIns="0" rIns="0" tIns="0" bIns="0" anchor="t">
            <a:spAutoFit/>
          </a:bodyPr>
          <a:lstStyle/>
          <a:p>
            <a:pPr algn="l">
              <a:lnSpc>
                <a:spcPct val="100000"/>
              </a:lnSpc>
            </a:pPr>
            <a:r>
              <a:rPr sz="1150" b="1" i="0">
                <a:solidFill>
                  <a:srgbClr val="3F5A2E"/>
                </a:solidFill>
                <a:latin typeface="Calibri"/>
              </a:rPr>
              <a:t>Matches the record</a:t>
            </a:r>
          </a:p>
        </p:txBody>
      </p:sp>
      <p:sp>
        <p:nvSpPr>
          <p:cNvPr id="10" name="TextBox 9"/>
          <p:cNvSpPr txBox="1"/>
          <p:nvPr/>
        </p:nvSpPr>
        <p:spPr>
          <a:xfrm>
            <a:off x="2796235" y="1572768"/>
            <a:ext cx="2103120" cy="256032"/>
          </a:xfrm>
          <a:prstGeom prst="rect">
            <a:avLst/>
          </a:prstGeom>
          <a:noFill/>
        </p:spPr>
        <p:txBody>
          <a:bodyPr wrap="square" lIns="0" rIns="0" tIns="0" bIns="0" anchor="t">
            <a:spAutoFit/>
          </a:bodyPr>
          <a:lstStyle/>
          <a:p>
            <a:pPr algn="l">
              <a:lnSpc>
                <a:spcPct val="100000"/>
              </a:lnSpc>
            </a:pPr>
            <a:r>
              <a:rPr sz="1300" b="1" i="0">
                <a:solidFill>
                  <a:srgbClr val="3A312A"/>
                </a:solidFill>
                <a:latin typeface="Calibri"/>
              </a:rPr>
              <a:t>B · CityPages</a:t>
            </a:r>
          </a:p>
        </p:txBody>
      </p:sp>
      <p:pic>
        <p:nvPicPr>
          <p:cNvPr id="11" name="Picture 10" descr="Public page of CityPages showing Diwali as Closed"/>
          <p:cNvPicPr>
            <a:picLocks noChangeAspect="1"/>
          </p:cNvPicPr>
          <p:nvPr/>
        </p:nvPicPr>
        <p:blipFill>
          <a:blip r:embed="rId3"/>
          <a:stretch>
            <a:fillRect/>
          </a:stretch>
        </p:blipFill>
        <p:spPr>
          <a:xfrm>
            <a:off x="2796235" y="1874519"/>
            <a:ext cx="2103120" cy="1538868"/>
          </a:xfrm>
          <a:prstGeom prst="rect">
            <a:avLst/>
          </a:prstGeom>
          <a:ln w="9525">
            <a:solidFill>
              <a:srgbClr val="E2D8C6"/>
            </a:solidFill>
          </a:ln>
        </p:spPr>
      </p:pic>
      <p:sp>
        <p:nvSpPr>
          <p:cNvPr id="12" name="Rounded Rectangle 11"/>
          <p:cNvSpPr/>
          <p:nvPr/>
        </p:nvSpPr>
        <p:spPr>
          <a:xfrm>
            <a:off x="2796235" y="3504828"/>
            <a:ext cx="2103120" cy="658368"/>
          </a:xfrm>
          <a:prstGeom prst="roundRect">
            <a:avLst>
              <a:gd name="adj" fmla="val 11111"/>
            </a:avLst>
          </a:prstGeom>
          <a:solidFill>
            <a:srgbClr val="F7DADD"/>
          </a:solidFill>
          <a:ln>
            <a:noFill/>
          </a:ln>
          <a:effectLst/>
        </p:spPr>
        <p:txBody>
          <a:bodyPr rtlCol="0" anchor="ctr"/>
          <a:lstStyle/>
          <a:p>
            <a:pPr algn="ctr"/>
          </a:p>
        </p:txBody>
      </p:sp>
      <p:sp>
        <p:nvSpPr>
          <p:cNvPr id="13" name="TextBox 12"/>
          <p:cNvSpPr txBox="1"/>
          <p:nvPr/>
        </p:nvSpPr>
        <p:spPr>
          <a:xfrm>
            <a:off x="2887675" y="3568836"/>
            <a:ext cx="1920239" cy="548640"/>
          </a:xfrm>
          <a:prstGeom prst="rect">
            <a:avLst/>
          </a:prstGeom>
          <a:noFill/>
        </p:spPr>
        <p:txBody>
          <a:bodyPr wrap="square" lIns="0" rIns="0" tIns="0" bIns="0" anchor="t">
            <a:spAutoFit/>
          </a:bodyPr>
          <a:lstStyle/>
          <a:p>
            <a:pPr algn="l">
              <a:lnSpc>
                <a:spcPct val="100000"/>
              </a:lnSpc>
            </a:pPr>
            <a:r>
              <a:rPr sz="1150" b="1" i="0">
                <a:solidFill>
                  <a:srgbClr val="9B2A38"/>
                </a:solidFill>
                <a:latin typeface="Calibri"/>
              </a:rPr>
              <a:t>Diwali shown as Closed (record: 10:00-2:00)</a:t>
            </a:r>
          </a:p>
        </p:txBody>
      </p:sp>
      <p:sp>
        <p:nvSpPr>
          <p:cNvPr id="14" name="TextBox 13"/>
          <p:cNvSpPr txBox="1"/>
          <p:nvPr/>
        </p:nvSpPr>
        <p:spPr>
          <a:xfrm>
            <a:off x="5043830" y="1572768"/>
            <a:ext cx="2103120" cy="256032"/>
          </a:xfrm>
          <a:prstGeom prst="rect">
            <a:avLst/>
          </a:prstGeom>
          <a:noFill/>
        </p:spPr>
        <p:txBody>
          <a:bodyPr wrap="square" lIns="0" rIns="0" tIns="0" bIns="0" anchor="t">
            <a:spAutoFit/>
          </a:bodyPr>
          <a:lstStyle/>
          <a:p>
            <a:pPr algn="l">
              <a:lnSpc>
                <a:spcPct val="100000"/>
              </a:lnSpc>
            </a:pPr>
            <a:r>
              <a:rPr sz="1300" b="1" i="0">
                <a:solidFill>
                  <a:srgbClr val="3A312A"/>
                </a:solidFill>
                <a:latin typeface="Calibri"/>
              </a:rPr>
              <a:t>C · LocalLoop</a:t>
            </a:r>
          </a:p>
        </p:txBody>
      </p:sp>
      <p:pic>
        <p:nvPicPr>
          <p:cNvPr id="15" name="Picture 14" descr="Public page of LocalLoop with phone and address written in a different format"/>
          <p:cNvPicPr>
            <a:picLocks noChangeAspect="1"/>
          </p:cNvPicPr>
          <p:nvPr/>
        </p:nvPicPr>
        <p:blipFill>
          <a:blip r:embed="rId4"/>
          <a:stretch>
            <a:fillRect/>
          </a:stretch>
        </p:blipFill>
        <p:spPr>
          <a:xfrm>
            <a:off x="5043830" y="1874519"/>
            <a:ext cx="2103120" cy="1538868"/>
          </a:xfrm>
          <a:prstGeom prst="rect">
            <a:avLst/>
          </a:prstGeom>
          <a:ln w="9525">
            <a:solidFill>
              <a:srgbClr val="E2D8C6"/>
            </a:solidFill>
          </a:ln>
        </p:spPr>
      </p:pic>
      <p:sp>
        <p:nvSpPr>
          <p:cNvPr id="16" name="Rounded Rectangle 15"/>
          <p:cNvSpPr/>
          <p:nvPr/>
        </p:nvSpPr>
        <p:spPr>
          <a:xfrm>
            <a:off x="5043830" y="3504828"/>
            <a:ext cx="2103120" cy="658368"/>
          </a:xfrm>
          <a:prstGeom prst="roundRect">
            <a:avLst>
              <a:gd name="adj" fmla="val 11111"/>
            </a:avLst>
          </a:prstGeom>
          <a:solidFill>
            <a:srgbClr val="EBE2CF"/>
          </a:solidFill>
          <a:ln>
            <a:noFill/>
          </a:ln>
          <a:effectLst/>
        </p:spPr>
        <p:txBody>
          <a:bodyPr rtlCol="0" anchor="ctr"/>
          <a:lstStyle/>
          <a:p>
            <a:pPr algn="ctr"/>
          </a:p>
        </p:txBody>
      </p:sp>
      <p:sp>
        <p:nvSpPr>
          <p:cNvPr id="17" name="TextBox 16"/>
          <p:cNvSpPr txBox="1"/>
          <p:nvPr/>
        </p:nvSpPr>
        <p:spPr>
          <a:xfrm>
            <a:off x="5135270" y="3568836"/>
            <a:ext cx="1920239" cy="548640"/>
          </a:xfrm>
          <a:prstGeom prst="rect">
            <a:avLst/>
          </a:prstGeom>
          <a:noFill/>
        </p:spPr>
        <p:txBody>
          <a:bodyPr wrap="square" lIns="0" rIns="0" tIns="0" bIns="0" anchor="t">
            <a:spAutoFit/>
          </a:bodyPr>
          <a:lstStyle/>
          <a:p>
            <a:pPr algn="l">
              <a:lnSpc>
                <a:spcPct val="100000"/>
              </a:lnSpc>
            </a:pPr>
            <a:r>
              <a:rPr sz="1150" b="1" i="0">
                <a:solidFill>
                  <a:srgbClr val="3A312A"/>
                </a:solidFill>
                <a:latin typeface="Calibri"/>
              </a:rPr>
              <a:t>Phone and address written differently, same meaning</a:t>
            </a:r>
          </a:p>
        </p:txBody>
      </p:sp>
      <p:sp>
        <p:nvSpPr>
          <p:cNvPr id="18" name="TextBox 17"/>
          <p:cNvSpPr txBox="1"/>
          <p:nvPr/>
        </p:nvSpPr>
        <p:spPr>
          <a:xfrm>
            <a:off x="7291425" y="1572768"/>
            <a:ext cx="2103120" cy="256032"/>
          </a:xfrm>
          <a:prstGeom prst="rect">
            <a:avLst/>
          </a:prstGeom>
          <a:noFill/>
        </p:spPr>
        <p:txBody>
          <a:bodyPr wrap="square" lIns="0" rIns="0" tIns="0" bIns="0" anchor="t">
            <a:spAutoFit/>
          </a:bodyPr>
          <a:lstStyle/>
          <a:p>
            <a:pPr algn="l">
              <a:lnSpc>
                <a:spcPct val="100000"/>
              </a:lnSpc>
            </a:pPr>
            <a:r>
              <a:rPr sz="1300" b="1" i="0">
                <a:solidFill>
                  <a:srgbClr val="3A312A"/>
                </a:solidFill>
                <a:latin typeface="Calibri"/>
              </a:rPr>
              <a:t>D · NearbyNow</a:t>
            </a:r>
          </a:p>
        </p:txBody>
      </p:sp>
      <p:pic>
        <p:nvPicPr>
          <p:cNvPr id="19" name="Picture 18" descr="Public page of NearbyNow with a different phone number"/>
          <p:cNvPicPr>
            <a:picLocks noChangeAspect="1"/>
          </p:cNvPicPr>
          <p:nvPr/>
        </p:nvPicPr>
        <p:blipFill>
          <a:blip r:embed="rId5"/>
          <a:stretch>
            <a:fillRect/>
          </a:stretch>
        </p:blipFill>
        <p:spPr>
          <a:xfrm>
            <a:off x="7291425" y="1874519"/>
            <a:ext cx="2103120" cy="1538868"/>
          </a:xfrm>
          <a:prstGeom prst="rect">
            <a:avLst/>
          </a:prstGeom>
          <a:ln w="9525">
            <a:solidFill>
              <a:srgbClr val="E2D8C6"/>
            </a:solidFill>
          </a:ln>
        </p:spPr>
      </p:pic>
      <p:sp>
        <p:nvSpPr>
          <p:cNvPr id="20" name="Rounded Rectangle 19"/>
          <p:cNvSpPr/>
          <p:nvPr/>
        </p:nvSpPr>
        <p:spPr>
          <a:xfrm>
            <a:off x="7291425" y="3504828"/>
            <a:ext cx="2103120" cy="658368"/>
          </a:xfrm>
          <a:prstGeom prst="roundRect">
            <a:avLst>
              <a:gd name="adj" fmla="val 11111"/>
            </a:avLst>
          </a:prstGeom>
          <a:solidFill>
            <a:srgbClr val="F7DADD"/>
          </a:solidFill>
          <a:ln>
            <a:noFill/>
          </a:ln>
          <a:effectLst/>
        </p:spPr>
        <p:txBody>
          <a:bodyPr rtlCol="0" anchor="ctr"/>
          <a:lstStyle/>
          <a:p>
            <a:pPr algn="ctr"/>
          </a:p>
        </p:txBody>
      </p:sp>
      <p:sp>
        <p:nvSpPr>
          <p:cNvPr id="21" name="TextBox 20"/>
          <p:cNvSpPr txBox="1"/>
          <p:nvPr/>
        </p:nvSpPr>
        <p:spPr>
          <a:xfrm>
            <a:off x="7382865" y="3568836"/>
            <a:ext cx="1920239" cy="548640"/>
          </a:xfrm>
          <a:prstGeom prst="rect">
            <a:avLst/>
          </a:prstGeom>
          <a:noFill/>
        </p:spPr>
        <p:txBody>
          <a:bodyPr wrap="square" lIns="0" rIns="0" tIns="0" bIns="0" anchor="t">
            <a:spAutoFit/>
          </a:bodyPr>
          <a:lstStyle/>
          <a:p>
            <a:pPr algn="l">
              <a:lnSpc>
                <a:spcPct val="100000"/>
              </a:lnSpc>
            </a:pPr>
            <a:r>
              <a:rPr sz="1150" b="1" i="0">
                <a:solidFill>
                  <a:srgbClr val="9B2A38"/>
                </a:solidFill>
                <a:latin typeface="Calibri"/>
              </a:rPr>
              <a:t>Other phone number; claimed by another account</a:t>
            </a:r>
          </a:p>
        </p:txBody>
      </p:sp>
      <p:sp>
        <p:nvSpPr>
          <p:cNvPr id="22" name="TextBox 21"/>
          <p:cNvSpPr txBox="1"/>
          <p:nvPr/>
        </p:nvSpPr>
        <p:spPr>
          <a:xfrm>
            <a:off x="9539020" y="1572768"/>
            <a:ext cx="2103120" cy="256032"/>
          </a:xfrm>
          <a:prstGeom prst="rect">
            <a:avLst/>
          </a:prstGeom>
          <a:noFill/>
        </p:spPr>
        <p:txBody>
          <a:bodyPr wrap="square" lIns="0" rIns="0" tIns="0" bIns="0" anchor="t">
            <a:spAutoFit/>
          </a:bodyPr>
          <a:lstStyle/>
          <a:p>
            <a:pPr algn="l">
              <a:lnSpc>
                <a:spcPct val="100000"/>
              </a:lnSpc>
            </a:pPr>
            <a:r>
              <a:rPr sz="1300" b="1" i="0">
                <a:solidFill>
                  <a:srgbClr val="3A312A"/>
                </a:solidFill>
                <a:latin typeface="Calibri"/>
              </a:rPr>
              <a:t>E · ShopFront</a:t>
            </a:r>
          </a:p>
        </p:txBody>
      </p:sp>
      <p:pic>
        <p:nvPicPr>
          <p:cNvPr id="23" name="Picture 22" descr="Public page of ShopFront showing Sunday as Closed"/>
          <p:cNvPicPr>
            <a:picLocks noChangeAspect="1"/>
          </p:cNvPicPr>
          <p:nvPr/>
        </p:nvPicPr>
        <p:blipFill>
          <a:blip r:embed="rId6"/>
          <a:stretch>
            <a:fillRect/>
          </a:stretch>
        </p:blipFill>
        <p:spPr>
          <a:xfrm>
            <a:off x="9539020" y="1874519"/>
            <a:ext cx="2103120" cy="1538868"/>
          </a:xfrm>
          <a:prstGeom prst="rect">
            <a:avLst/>
          </a:prstGeom>
          <a:ln w="9525">
            <a:solidFill>
              <a:srgbClr val="E2D8C6"/>
            </a:solidFill>
          </a:ln>
        </p:spPr>
      </p:pic>
      <p:sp>
        <p:nvSpPr>
          <p:cNvPr id="24" name="Rounded Rectangle 23"/>
          <p:cNvSpPr/>
          <p:nvPr/>
        </p:nvSpPr>
        <p:spPr>
          <a:xfrm>
            <a:off x="9539020" y="3504828"/>
            <a:ext cx="2103120" cy="658368"/>
          </a:xfrm>
          <a:prstGeom prst="roundRect">
            <a:avLst>
              <a:gd name="adj" fmla="val 11111"/>
            </a:avLst>
          </a:prstGeom>
          <a:solidFill>
            <a:srgbClr val="F7DADD"/>
          </a:solidFill>
          <a:ln>
            <a:noFill/>
          </a:ln>
          <a:effectLst/>
        </p:spPr>
        <p:txBody>
          <a:bodyPr rtlCol="0" anchor="ctr"/>
          <a:lstStyle/>
          <a:p>
            <a:pPr algn="ctr"/>
          </a:p>
        </p:txBody>
      </p:sp>
      <p:sp>
        <p:nvSpPr>
          <p:cNvPr id="25" name="TextBox 24"/>
          <p:cNvSpPr txBox="1"/>
          <p:nvPr/>
        </p:nvSpPr>
        <p:spPr>
          <a:xfrm>
            <a:off x="9630460" y="3568836"/>
            <a:ext cx="1920239" cy="548640"/>
          </a:xfrm>
          <a:prstGeom prst="rect">
            <a:avLst/>
          </a:prstGeom>
          <a:noFill/>
        </p:spPr>
        <p:txBody>
          <a:bodyPr wrap="square" lIns="0" rIns="0" tIns="0" bIns="0" anchor="t">
            <a:spAutoFit/>
          </a:bodyPr>
          <a:lstStyle/>
          <a:p>
            <a:pPr algn="l">
              <a:lnSpc>
                <a:spcPct val="100000"/>
              </a:lnSpc>
            </a:pPr>
            <a:r>
              <a:rPr sz="1150" b="1" i="0">
                <a:solidFill>
                  <a:srgbClr val="9B2A38"/>
                </a:solidFill>
                <a:latin typeface="Calibri"/>
              </a:rPr>
              <a:t>Sunday shown as Closed (record: 10:00-2:00)</a:t>
            </a:r>
          </a:p>
        </p:txBody>
      </p:sp>
      <p:sp>
        <p:nvSpPr>
          <p:cNvPr id="26" name="Rounded Rectangle 25"/>
          <p:cNvSpPr/>
          <p:nvPr/>
        </p:nvSpPr>
        <p:spPr>
          <a:xfrm>
            <a:off x="548640" y="4391863"/>
            <a:ext cx="5120640" cy="1780336"/>
          </a:xfrm>
          <a:prstGeom prst="roundRect">
            <a:avLst>
              <a:gd name="adj" fmla="val 3081"/>
            </a:avLst>
          </a:prstGeom>
          <a:solidFill>
            <a:srgbClr val="FBF8F1"/>
          </a:solidFill>
          <a:ln w="9525">
            <a:solidFill>
              <a:srgbClr val="E2D8C6"/>
            </a:solidFill>
          </a:ln>
          <a:effectLst/>
        </p:spPr>
        <p:txBody>
          <a:bodyPr rtlCol="0" anchor="ctr"/>
          <a:lstStyle/>
          <a:p>
            <a:pPr algn="ctr"/>
          </a:p>
        </p:txBody>
      </p:sp>
      <p:sp>
        <p:nvSpPr>
          <p:cNvPr id="27" name="TextBox 26"/>
          <p:cNvSpPr txBox="1"/>
          <p:nvPr/>
        </p:nvSpPr>
        <p:spPr>
          <a:xfrm>
            <a:off x="713232" y="4556455"/>
            <a:ext cx="4791455" cy="231648"/>
          </a:xfrm>
          <a:prstGeom prst="rect">
            <a:avLst/>
          </a:prstGeom>
          <a:noFill/>
        </p:spPr>
        <p:txBody>
          <a:bodyPr wrap="square" lIns="0" rIns="0" tIns="0" bIns="0" anchor="t">
            <a:spAutoFit/>
          </a:bodyPr>
          <a:lstStyle/>
          <a:p>
            <a:pPr algn="l">
              <a:lnSpc>
                <a:spcPct val="100000"/>
              </a:lnSpc>
            </a:pPr>
            <a:r>
              <a:rPr sz="1400" b="1" i="0">
                <a:solidFill>
                  <a:srgbClr val="3A312A"/>
                </a:solidFill>
                <a:latin typeface="Calibri"/>
              </a:rPr>
              <a:t>What is a listing inconsistency?</a:t>
            </a:r>
          </a:p>
        </p:txBody>
      </p:sp>
      <p:sp>
        <p:nvSpPr>
          <p:cNvPr id="28" name="TextBox 27"/>
          <p:cNvSpPr txBox="1"/>
          <p:nvPr/>
        </p:nvSpPr>
        <p:spPr>
          <a:xfrm>
            <a:off x="713232" y="4833823"/>
            <a:ext cx="4791455" cy="1239621"/>
          </a:xfrm>
          <a:prstGeom prst="rect">
            <a:avLst/>
          </a:prstGeom>
          <a:noFill/>
        </p:spPr>
        <p:txBody>
          <a:bodyPr wrap="square" lIns="0" rIns="0" tIns="0" bIns="0" anchor="t">
            <a:spAutoFit/>
          </a:bodyPr>
          <a:lstStyle/>
          <a:p>
            <a:pPr algn="l">
              <a:lnSpc>
                <a:spcPct val="100000"/>
              </a:lnSpc>
            </a:pPr>
            <a:r>
              <a:rPr sz="1350" b="0" i="0">
                <a:solidFill>
                  <a:srgbClr val="6A5E51"/>
                </a:solidFill>
                <a:latin typeface="Calibri"/>
              </a:rPr>
              <a:t>Any difference between what the owner means and what a listing site shows: name, address, phone or hours. Some are obvious (a wrong holiday). Some only a careful reader catches, and some look different but mean the same thing.</a:t>
            </a:r>
          </a:p>
        </p:txBody>
      </p:sp>
      <p:sp>
        <p:nvSpPr>
          <p:cNvPr id="29" name="Rounded Rectangle 28"/>
          <p:cNvSpPr/>
          <p:nvPr/>
        </p:nvSpPr>
        <p:spPr>
          <a:xfrm>
            <a:off x="5852160" y="4391863"/>
            <a:ext cx="5790895" cy="1780336"/>
          </a:xfrm>
          <a:prstGeom prst="roundRect">
            <a:avLst>
              <a:gd name="adj" fmla="val 3081"/>
            </a:avLst>
          </a:prstGeom>
          <a:solidFill>
            <a:srgbClr val="FBF8F1"/>
          </a:solidFill>
          <a:ln w="9525">
            <a:solidFill>
              <a:srgbClr val="E2D8C6"/>
            </a:solidFill>
          </a:ln>
          <a:effectLst/>
        </p:spPr>
        <p:txBody>
          <a:bodyPr rtlCol="0" anchor="ctr"/>
          <a:lstStyle/>
          <a:p>
            <a:pPr algn="ctr"/>
          </a:p>
        </p:txBody>
      </p:sp>
      <p:sp>
        <p:nvSpPr>
          <p:cNvPr id="30" name="TextBox 29"/>
          <p:cNvSpPr txBox="1"/>
          <p:nvPr/>
        </p:nvSpPr>
        <p:spPr>
          <a:xfrm>
            <a:off x="6016752" y="4556455"/>
            <a:ext cx="5461711" cy="231648"/>
          </a:xfrm>
          <a:prstGeom prst="rect">
            <a:avLst/>
          </a:prstGeom>
          <a:noFill/>
        </p:spPr>
        <p:txBody>
          <a:bodyPr wrap="square" lIns="0" rIns="0" tIns="0" bIns="0" anchor="t">
            <a:spAutoFit/>
          </a:bodyPr>
          <a:lstStyle/>
          <a:p>
            <a:pPr algn="l">
              <a:lnSpc>
                <a:spcPct val="100000"/>
              </a:lnSpc>
            </a:pPr>
            <a:r>
              <a:rPr sz="1400" b="1" i="0">
                <a:solidFill>
                  <a:srgbClr val="3A312A"/>
                </a:solidFill>
                <a:latin typeface="Calibri"/>
              </a:rPr>
              <a:t>In our test bed (fictional bakery, Pune)</a:t>
            </a:r>
          </a:p>
        </p:txBody>
      </p:sp>
      <p:sp>
        <p:nvSpPr>
          <p:cNvPr id="31" name="TextBox 30"/>
          <p:cNvSpPr txBox="1"/>
          <p:nvPr/>
        </p:nvSpPr>
        <p:spPr>
          <a:xfrm>
            <a:off x="6016752" y="4833823"/>
            <a:ext cx="5461711" cy="1239621"/>
          </a:xfrm>
          <a:prstGeom prst="rect">
            <a:avLst/>
          </a:prstGeom>
          <a:noFill/>
        </p:spPr>
        <p:txBody>
          <a:bodyPr wrap="square" lIns="0" rIns="0" tIns="0" bIns="0" anchor="t">
            <a:spAutoFit/>
          </a:bodyPr>
          <a:lstStyle/>
          <a:p>
            <a:pPr algn="l" marL="155448" indent="-155448">
              <a:lnSpc>
                <a:spcPct val="100000"/>
              </a:lnSpc>
              <a:spcAft>
                <a:spcPts val="500"/>
              </a:spcAft>
              <a:buChar char="•"/>
            </a:pPr>
            <a:r>
              <a:rPr sz="1300" b="1" i="0">
                <a:solidFill>
                  <a:srgbClr val="3A312A"/>
                </a:solidFill>
                <a:latin typeface="Calibri"/>
              </a:rPr>
              <a:t>Wrong holiday hours </a:t>
            </a:r>
            <a:r>
              <a:rPr sz="1300" b="0" i="0">
                <a:solidFill>
                  <a:srgbClr val="6A5E51"/>
                </a:solidFill>
                <a:latin typeface="Calibri"/>
              </a:rPr>
              <a:t>on one site (B)</a:t>
            </a:r>
          </a:p>
          <a:p>
            <a:pPr algn="l" marL="155448" indent="-155448">
              <a:lnSpc>
                <a:spcPct val="100000"/>
              </a:lnSpc>
              <a:spcAft>
                <a:spcPts val="500"/>
              </a:spcAft>
              <a:buChar char="•"/>
            </a:pPr>
            <a:r>
              <a:rPr sz="1300" b="1" i="0">
                <a:solidFill>
                  <a:srgbClr val="3A312A"/>
                </a:solidFill>
                <a:latin typeface="Calibri"/>
              </a:rPr>
              <a:t>Same facts, different format </a:t>
            </a:r>
            <a:r>
              <a:rPr sz="1300" b="0" i="0">
                <a:solidFill>
                  <a:srgbClr val="6A5E51"/>
                </a:solidFill>
                <a:latin typeface="Calibri"/>
              </a:rPr>
              <a:t>(C): "090000 00001" equals "+91 90000 00001"</a:t>
            </a:r>
          </a:p>
          <a:p>
            <a:pPr algn="l" marL="155448" indent="-155448">
              <a:lnSpc>
                <a:spcPct val="100000"/>
              </a:lnSpc>
              <a:spcAft>
                <a:spcPts val="500"/>
              </a:spcAft>
              <a:buChar char="•"/>
            </a:pPr>
            <a:r>
              <a:rPr sz="1300" b="1" i="0">
                <a:solidFill>
                  <a:srgbClr val="3A312A"/>
                </a:solidFill>
                <a:latin typeface="Calibri"/>
              </a:rPr>
              <a:t>Stale phone </a:t>
            </a:r>
            <a:r>
              <a:rPr sz="1300" b="0" i="0">
                <a:solidFill>
                  <a:srgbClr val="6A5E51"/>
                </a:solidFill>
                <a:latin typeface="Calibri"/>
              </a:rPr>
              <a:t>on a listing that another account has claimed (D)</a:t>
            </a:r>
          </a:p>
          <a:p>
            <a:pPr algn="l" marL="155448" indent="-155448">
              <a:lnSpc>
                <a:spcPct val="100000"/>
              </a:lnSpc>
              <a:buChar char="•"/>
            </a:pPr>
            <a:r>
              <a:rPr sz="1300" b="1" i="0">
                <a:solidFill>
                  <a:srgbClr val="3A312A"/>
                </a:solidFill>
                <a:latin typeface="Calibri"/>
              </a:rPr>
              <a:t>Regular hours differ </a:t>
            </a:r>
            <a:r>
              <a:rPr sz="1300" b="0" i="0">
                <a:solidFill>
                  <a:srgbClr val="6A5E51"/>
                </a:solidFill>
                <a:latin typeface="Calibri"/>
              </a:rPr>
              <a:t>(E): Sunday listed as Closed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1  ·  THE PROBLEM</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Why it matters, and why owners can't fix it by hand</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4</a:t>
            </a:r>
          </a:p>
        </p:txBody>
      </p:sp>
      <p:sp>
        <p:nvSpPr>
          <p:cNvPr id="6" name="TextBox 5"/>
          <p:cNvSpPr txBox="1"/>
          <p:nvPr/>
        </p:nvSpPr>
        <p:spPr>
          <a:xfrm>
            <a:off x="548640" y="1554480"/>
            <a:ext cx="5120640" cy="228600"/>
          </a:xfrm>
          <a:prstGeom prst="rect">
            <a:avLst/>
          </a:prstGeom>
          <a:noFill/>
        </p:spPr>
        <p:txBody>
          <a:bodyPr wrap="square" lIns="0" rIns="0" tIns="0" bIns="0" anchor="t">
            <a:spAutoFit/>
          </a:bodyPr>
          <a:lstStyle/>
          <a:p>
            <a:pPr algn="l">
              <a:lnSpc>
                <a:spcPct val="100000"/>
              </a:lnSpc>
            </a:pPr>
            <a:r>
              <a:rPr sz="1100" b="1" i="0" spc="120">
                <a:solidFill>
                  <a:srgbClr val="B8561F"/>
                </a:solidFill>
                <a:latin typeface="Calibri"/>
              </a:rPr>
              <a:t>WHY IT MATTERS</a:t>
            </a:r>
          </a:p>
        </p:txBody>
      </p:sp>
      <p:sp>
        <p:nvSpPr>
          <p:cNvPr id="7" name="Rounded Rectangle 6"/>
          <p:cNvSpPr/>
          <p:nvPr/>
        </p:nvSpPr>
        <p:spPr>
          <a:xfrm>
            <a:off x="548640" y="1828800"/>
            <a:ext cx="512064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8" name="TextBox 7"/>
          <p:cNvSpPr txBox="1"/>
          <p:nvPr/>
        </p:nvSpPr>
        <p:spPr>
          <a:xfrm>
            <a:off x="713232" y="1993392"/>
            <a:ext cx="4791455" cy="239268"/>
          </a:xfrm>
          <a:prstGeom prst="rect">
            <a:avLst/>
          </a:prstGeom>
          <a:noFill/>
        </p:spPr>
        <p:txBody>
          <a:bodyPr wrap="square" lIns="0" rIns="0" tIns="0" bIns="0" anchor="t">
            <a:spAutoFit/>
          </a:bodyPr>
          <a:lstStyle/>
          <a:p>
            <a:pPr algn="l">
              <a:lnSpc>
                <a:spcPct val="100000"/>
              </a:lnSpc>
            </a:pPr>
            <a:r>
              <a:rPr sz="1450" b="1" i="0">
                <a:solidFill>
                  <a:srgbClr val="3A312A"/>
                </a:solidFill>
                <a:latin typeface="Calibri"/>
              </a:rPr>
              <a:t>Customers are turned away</a:t>
            </a:r>
          </a:p>
        </p:txBody>
      </p:sp>
      <p:sp>
        <p:nvSpPr>
          <p:cNvPr id="9" name="TextBox 8"/>
          <p:cNvSpPr txBox="1"/>
          <p:nvPr/>
        </p:nvSpPr>
        <p:spPr>
          <a:xfrm>
            <a:off x="713232" y="2278380"/>
            <a:ext cx="4791455" cy="640384"/>
          </a:xfrm>
          <a:prstGeom prst="rect">
            <a:avLst/>
          </a:prstGeom>
          <a:noFill/>
        </p:spPr>
        <p:txBody>
          <a:bodyPr wrap="square" lIns="0" rIns="0" tIns="0" bIns="0" anchor="t">
            <a:spAutoFit/>
          </a:bodyPr>
          <a:lstStyle/>
          <a:p>
            <a:pPr algn="l">
              <a:lnSpc>
                <a:spcPct val="100000"/>
              </a:lnSpc>
            </a:pPr>
            <a:r>
              <a:rPr sz="1250" b="0" i="0">
                <a:solidFill>
                  <a:srgbClr val="6A5E51"/>
                </a:solidFill>
                <a:latin typeface="Calibri"/>
              </a:rPr>
              <a:t>A holiday or Sunday shown as Closed sends paying customers elsewhere. The reverse sends them to a locked door.</a:t>
            </a:r>
          </a:p>
        </p:txBody>
      </p:sp>
      <p:sp>
        <p:nvSpPr>
          <p:cNvPr id="10" name="Rounded Rectangle 9"/>
          <p:cNvSpPr/>
          <p:nvPr/>
        </p:nvSpPr>
        <p:spPr>
          <a:xfrm>
            <a:off x="548640" y="3127248"/>
            <a:ext cx="512064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11" name="TextBox 10"/>
          <p:cNvSpPr txBox="1"/>
          <p:nvPr/>
        </p:nvSpPr>
        <p:spPr>
          <a:xfrm>
            <a:off x="713232" y="3291840"/>
            <a:ext cx="4791455" cy="239268"/>
          </a:xfrm>
          <a:prstGeom prst="rect">
            <a:avLst/>
          </a:prstGeom>
          <a:noFill/>
        </p:spPr>
        <p:txBody>
          <a:bodyPr wrap="square" lIns="0" rIns="0" tIns="0" bIns="0" anchor="t">
            <a:spAutoFit/>
          </a:bodyPr>
          <a:lstStyle/>
          <a:p>
            <a:pPr algn="l">
              <a:lnSpc>
                <a:spcPct val="100000"/>
              </a:lnSpc>
            </a:pPr>
            <a:r>
              <a:rPr sz="1450" b="1" i="0">
                <a:solidFill>
                  <a:srgbClr val="3A312A"/>
                </a:solidFill>
                <a:latin typeface="Calibri"/>
              </a:rPr>
              <a:t>Calls go to the wrong number</a:t>
            </a:r>
          </a:p>
        </p:txBody>
      </p:sp>
      <p:sp>
        <p:nvSpPr>
          <p:cNvPr id="12" name="TextBox 11"/>
          <p:cNvSpPr txBox="1"/>
          <p:nvPr/>
        </p:nvSpPr>
        <p:spPr>
          <a:xfrm>
            <a:off x="713232" y="3576828"/>
            <a:ext cx="4791455" cy="640384"/>
          </a:xfrm>
          <a:prstGeom prst="rect">
            <a:avLst/>
          </a:prstGeom>
          <a:noFill/>
        </p:spPr>
        <p:txBody>
          <a:bodyPr wrap="square" lIns="0" rIns="0" tIns="0" bIns="0" anchor="t">
            <a:spAutoFit/>
          </a:bodyPr>
          <a:lstStyle/>
          <a:p>
            <a:pPr algn="l">
              <a:lnSpc>
                <a:spcPct val="100000"/>
              </a:lnSpc>
            </a:pPr>
            <a:r>
              <a:rPr sz="1250" b="0" i="0">
                <a:solidFill>
                  <a:srgbClr val="6A5E51"/>
                </a:solidFill>
                <a:latin typeface="Calibri"/>
              </a:rPr>
              <a:t>A stale phone number on one site means missed orders and a business that looks careless.</a:t>
            </a:r>
          </a:p>
        </p:txBody>
      </p:sp>
      <p:sp>
        <p:nvSpPr>
          <p:cNvPr id="13" name="Rounded Rectangle 12"/>
          <p:cNvSpPr/>
          <p:nvPr/>
        </p:nvSpPr>
        <p:spPr>
          <a:xfrm>
            <a:off x="548640" y="4425696"/>
            <a:ext cx="512064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14" name="TextBox 13"/>
          <p:cNvSpPr txBox="1"/>
          <p:nvPr/>
        </p:nvSpPr>
        <p:spPr>
          <a:xfrm>
            <a:off x="713232" y="4590288"/>
            <a:ext cx="4791455" cy="239268"/>
          </a:xfrm>
          <a:prstGeom prst="rect">
            <a:avLst/>
          </a:prstGeom>
          <a:noFill/>
        </p:spPr>
        <p:txBody>
          <a:bodyPr wrap="square" lIns="0" rIns="0" tIns="0" bIns="0" anchor="t">
            <a:spAutoFit/>
          </a:bodyPr>
          <a:lstStyle/>
          <a:p>
            <a:pPr algn="l">
              <a:lnSpc>
                <a:spcPct val="100000"/>
              </a:lnSpc>
            </a:pPr>
            <a:r>
              <a:rPr sz="1450" b="1" i="0">
                <a:solidFill>
                  <a:srgbClr val="3A312A"/>
                </a:solidFill>
                <a:latin typeface="Calibri"/>
              </a:rPr>
              <a:t>Conflicting details cost trust</a:t>
            </a:r>
          </a:p>
        </p:txBody>
      </p:sp>
      <p:sp>
        <p:nvSpPr>
          <p:cNvPr id="15" name="TextBox 14"/>
          <p:cNvSpPr txBox="1"/>
          <p:nvPr/>
        </p:nvSpPr>
        <p:spPr>
          <a:xfrm>
            <a:off x="713232" y="4875275"/>
            <a:ext cx="4791455" cy="640384"/>
          </a:xfrm>
          <a:prstGeom prst="rect">
            <a:avLst/>
          </a:prstGeom>
          <a:noFill/>
        </p:spPr>
        <p:txBody>
          <a:bodyPr wrap="square" lIns="0" rIns="0" tIns="0" bIns="0" anchor="t">
            <a:spAutoFit/>
          </a:bodyPr>
          <a:lstStyle/>
          <a:p>
            <a:pPr algn="l">
              <a:lnSpc>
                <a:spcPct val="100000"/>
              </a:lnSpc>
            </a:pPr>
            <a:r>
              <a:rPr sz="1250" b="0" i="0">
                <a:solidFill>
                  <a:srgbClr val="6A5E51"/>
                </a:solidFill>
                <a:latin typeface="Calibri"/>
              </a:rPr>
              <a:t>Every platform shows its own version of the business, and customers notice when versions disagree.</a:t>
            </a:r>
          </a:p>
        </p:txBody>
      </p:sp>
      <p:sp>
        <p:nvSpPr>
          <p:cNvPr id="16" name="TextBox 15"/>
          <p:cNvSpPr txBox="1"/>
          <p:nvPr/>
        </p:nvSpPr>
        <p:spPr>
          <a:xfrm>
            <a:off x="5943600" y="1554480"/>
            <a:ext cx="5669280" cy="228600"/>
          </a:xfrm>
          <a:prstGeom prst="rect">
            <a:avLst/>
          </a:prstGeom>
          <a:noFill/>
        </p:spPr>
        <p:txBody>
          <a:bodyPr wrap="square" lIns="0" rIns="0" tIns="0" bIns="0" anchor="t">
            <a:spAutoFit/>
          </a:bodyPr>
          <a:lstStyle/>
          <a:p>
            <a:pPr algn="l">
              <a:lnSpc>
                <a:spcPct val="100000"/>
              </a:lnSpc>
            </a:pPr>
            <a:r>
              <a:rPr sz="1100" b="1" i="0" spc="120">
                <a:solidFill>
                  <a:srgbClr val="B8561F"/>
                </a:solidFill>
                <a:latin typeface="Calibri"/>
              </a:rPr>
              <a:t>WHY OWNERS STRUGGLE</a:t>
            </a:r>
          </a:p>
        </p:txBody>
      </p:sp>
      <p:sp>
        <p:nvSpPr>
          <p:cNvPr id="17" name="Rounded Rectangle 16"/>
          <p:cNvSpPr/>
          <p:nvPr/>
        </p:nvSpPr>
        <p:spPr>
          <a:xfrm>
            <a:off x="5943600" y="1828800"/>
            <a:ext cx="274320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18" name="TextBox 17"/>
          <p:cNvSpPr txBox="1"/>
          <p:nvPr/>
        </p:nvSpPr>
        <p:spPr>
          <a:xfrm>
            <a:off x="6080760" y="1965960"/>
            <a:ext cx="2468880" cy="224027"/>
          </a:xfrm>
          <a:prstGeom prst="rect">
            <a:avLst/>
          </a:prstGeom>
          <a:noFill/>
        </p:spPr>
        <p:txBody>
          <a:bodyPr wrap="square" lIns="0" rIns="0" tIns="0" bIns="0" anchor="t">
            <a:spAutoFit/>
          </a:bodyPr>
          <a:lstStyle/>
          <a:p>
            <a:pPr algn="l">
              <a:lnSpc>
                <a:spcPct val="100000"/>
              </a:lnSpc>
            </a:pPr>
            <a:r>
              <a:rPr sz="1350" b="1" i="0">
                <a:solidFill>
                  <a:srgbClr val="3A312A"/>
                </a:solidFill>
                <a:latin typeface="Calibri"/>
              </a:rPr>
              <a:t>Many sites, many formats</a:t>
            </a:r>
          </a:p>
        </p:txBody>
      </p:sp>
      <p:sp>
        <p:nvSpPr>
          <p:cNvPr id="19" name="TextBox 18"/>
          <p:cNvSpPr txBox="1"/>
          <p:nvPr/>
        </p:nvSpPr>
        <p:spPr>
          <a:xfrm>
            <a:off x="6080760" y="2235708"/>
            <a:ext cx="2468880" cy="699516"/>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Each site stores phones and hours its own way. We parse four different hours layouts.</a:t>
            </a:r>
          </a:p>
        </p:txBody>
      </p:sp>
      <p:sp>
        <p:nvSpPr>
          <p:cNvPr id="20" name="Rounded Rectangle 19"/>
          <p:cNvSpPr/>
          <p:nvPr/>
        </p:nvSpPr>
        <p:spPr>
          <a:xfrm>
            <a:off x="8805672" y="1828800"/>
            <a:ext cx="274320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21" name="TextBox 20"/>
          <p:cNvSpPr txBox="1"/>
          <p:nvPr/>
        </p:nvSpPr>
        <p:spPr>
          <a:xfrm>
            <a:off x="8942832" y="1965960"/>
            <a:ext cx="2468880" cy="224027"/>
          </a:xfrm>
          <a:prstGeom prst="rect">
            <a:avLst/>
          </a:prstGeom>
          <a:noFill/>
        </p:spPr>
        <p:txBody>
          <a:bodyPr wrap="square" lIns="0" rIns="0" tIns="0" bIns="0" anchor="t">
            <a:spAutoFit/>
          </a:bodyPr>
          <a:lstStyle/>
          <a:p>
            <a:pPr algn="l">
              <a:lnSpc>
                <a:spcPct val="100000"/>
              </a:lnSpc>
            </a:pPr>
            <a:r>
              <a:rPr sz="1350" b="1" i="0">
                <a:solidFill>
                  <a:srgbClr val="3A312A"/>
                </a:solidFill>
                <a:latin typeface="Calibri"/>
              </a:rPr>
              <a:t>Every change is repeated</a:t>
            </a:r>
          </a:p>
        </p:txBody>
      </p:sp>
      <p:sp>
        <p:nvSpPr>
          <p:cNvPr id="22" name="TextBox 21"/>
          <p:cNvSpPr txBox="1"/>
          <p:nvPr/>
        </p:nvSpPr>
        <p:spPr>
          <a:xfrm>
            <a:off x="8942832" y="2235708"/>
            <a:ext cx="2468880" cy="699516"/>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One new holiday means one edit per site, each with its own login and form.</a:t>
            </a:r>
          </a:p>
        </p:txBody>
      </p:sp>
      <p:sp>
        <p:nvSpPr>
          <p:cNvPr id="23" name="Rounded Rectangle 22"/>
          <p:cNvSpPr/>
          <p:nvPr/>
        </p:nvSpPr>
        <p:spPr>
          <a:xfrm>
            <a:off x="5943600" y="3127248"/>
            <a:ext cx="274320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24" name="TextBox 23"/>
          <p:cNvSpPr txBox="1"/>
          <p:nvPr/>
        </p:nvSpPr>
        <p:spPr>
          <a:xfrm>
            <a:off x="6080760" y="3264408"/>
            <a:ext cx="2468880" cy="224027"/>
          </a:xfrm>
          <a:prstGeom prst="rect">
            <a:avLst/>
          </a:prstGeom>
          <a:noFill/>
        </p:spPr>
        <p:txBody>
          <a:bodyPr wrap="square" lIns="0" rIns="0" tIns="0" bIns="0" anchor="t">
            <a:spAutoFit/>
          </a:bodyPr>
          <a:lstStyle/>
          <a:p>
            <a:pPr algn="l">
              <a:lnSpc>
                <a:spcPct val="100000"/>
              </a:lnSpc>
            </a:pPr>
            <a:r>
              <a:rPr sz="1350" b="1" i="0">
                <a:solidFill>
                  <a:srgbClr val="3A312A"/>
                </a:solidFill>
                <a:latin typeface="Calibri"/>
              </a:rPr>
              <a:t>Not every listing is yours</a:t>
            </a:r>
          </a:p>
        </p:txBody>
      </p:sp>
      <p:sp>
        <p:nvSpPr>
          <p:cNvPr id="25" name="TextBox 24"/>
          <p:cNvSpPr txBox="1"/>
          <p:nvPr/>
        </p:nvSpPr>
        <p:spPr>
          <a:xfrm>
            <a:off x="6080760" y="3534156"/>
            <a:ext cx="2468880" cy="699516"/>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A listing claimed by someone else cannot be edited. A bot must not try.</a:t>
            </a:r>
          </a:p>
        </p:txBody>
      </p:sp>
      <p:sp>
        <p:nvSpPr>
          <p:cNvPr id="26" name="Rounded Rectangle 25"/>
          <p:cNvSpPr/>
          <p:nvPr/>
        </p:nvSpPr>
        <p:spPr>
          <a:xfrm>
            <a:off x="8805672" y="3127248"/>
            <a:ext cx="274320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27" name="TextBox 26"/>
          <p:cNvSpPr txBox="1"/>
          <p:nvPr/>
        </p:nvSpPr>
        <p:spPr>
          <a:xfrm>
            <a:off x="8942832" y="3264408"/>
            <a:ext cx="2468880" cy="224027"/>
          </a:xfrm>
          <a:prstGeom prst="rect">
            <a:avLst/>
          </a:prstGeom>
          <a:noFill/>
        </p:spPr>
        <p:txBody>
          <a:bodyPr wrap="square" lIns="0" rIns="0" tIns="0" bIns="0" anchor="t">
            <a:spAutoFit/>
          </a:bodyPr>
          <a:lstStyle/>
          <a:p>
            <a:pPr algn="l">
              <a:lnSpc>
                <a:spcPct val="100000"/>
              </a:lnSpc>
            </a:pPr>
            <a:r>
              <a:rPr sz="1350" b="1" i="0">
                <a:solidFill>
                  <a:srgbClr val="3A312A"/>
                </a:solidFill>
                <a:latin typeface="Calibri"/>
              </a:rPr>
              <a:t>Edits do not always go live</a:t>
            </a:r>
          </a:p>
        </p:txBody>
      </p:sp>
      <p:sp>
        <p:nvSpPr>
          <p:cNvPr id="28" name="TextBox 27"/>
          <p:cNvSpPr txBox="1"/>
          <p:nvPr/>
        </p:nvSpPr>
        <p:spPr>
          <a:xfrm>
            <a:off x="8942832" y="3534156"/>
            <a:ext cx="2468880" cy="699516"/>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Moderation queues and dropped edits: "saved" is not the same as "live".</a:t>
            </a:r>
          </a:p>
        </p:txBody>
      </p:sp>
      <p:sp>
        <p:nvSpPr>
          <p:cNvPr id="29" name="Rounded Rectangle 28"/>
          <p:cNvSpPr/>
          <p:nvPr/>
        </p:nvSpPr>
        <p:spPr>
          <a:xfrm>
            <a:off x="5943600" y="4425696"/>
            <a:ext cx="274320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30" name="TextBox 29"/>
          <p:cNvSpPr txBox="1"/>
          <p:nvPr/>
        </p:nvSpPr>
        <p:spPr>
          <a:xfrm>
            <a:off x="6080760" y="4562856"/>
            <a:ext cx="2468880" cy="224027"/>
          </a:xfrm>
          <a:prstGeom prst="rect">
            <a:avLst/>
          </a:prstGeom>
          <a:noFill/>
        </p:spPr>
        <p:txBody>
          <a:bodyPr wrap="square" lIns="0" rIns="0" tIns="0" bIns="0" anchor="t">
            <a:spAutoFit/>
          </a:bodyPr>
          <a:lstStyle/>
          <a:p>
            <a:pPr algn="l">
              <a:lnSpc>
                <a:spcPct val="100000"/>
              </a:lnSpc>
            </a:pPr>
            <a:r>
              <a:rPr sz="1350" b="1" i="0">
                <a:solidFill>
                  <a:srgbClr val="3A312A"/>
                </a:solidFill>
                <a:latin typeface="Calibri"/>
              </a:rPr>
              <a:t>Look-alike businesses</a:t>
            </a:r>
          </a:p>
        </p:txBody>
      </p:sp>
      <p:sp>
        <p:nvSpPr>
          <p:cNvPr id="31" name="TextBox 30"/>
          <p:cNvSpPr txBox="1"/>
          <p:nvPr/>
        </p:nvSpPr>
        <p:spPr>
          <a:xfrm>
            <a:off x="6080760" y="4832604"/>
            <a:ext cx="2468880" cy="699515"/>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"Sunrise Sweet House" sits next to our bakery. Editing the wrong one is worse than doing nothing.</a:t>
            </a:r>
          </a:p>
        </p:txBody>
      </p:sp>
      <p:sp>
        <p:nvSpPr>
          <p:cNvPr id="32" name="Rounded Rectangle 31"/>
          <p:cNvSpPr/>
          <p:nvPr/>
        </p:nvSpPr>
        <p:spPr>
          <a:xfrm>
            <a:off x="8805672" y="4425696"/>
            <a:ext cx="274320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33" name="TextBox 32"/>
          <p:cNvSpPr txBox="1"/>
          <p:nvPr/>
        </p:nvSpPr>
        <p:spPr>
          <a:xfrm>
            <a:off x="8942832" y="4562856"/>
            <a:ext cx="2468880" cy="224027"/>
          </a:xfrm>
          <a:prstGeom prst="rect">
            <a:avLst/>
          </a:prstGeom>
          <a:noFill/>
        </p:spPr>
        <p:txBody>
          <a:bodyPr wrap="square" lIns="0" rIns="0" tIns="0" bIns="0" anchor="t">
            <a:spAutoFit/>
          </a:bodyPr>
          <a:lstStyle/>
          <a:p>
            <a:pPr algn="l">
              <a:lnSpc>
                <a:spcPct val="100000"/>
              </a:lnSpc>
            </a:pPr>
            <a:r>
              <a:rPr sz="1350" b="1" i="0">
                <a:solidFill>
                  <a:srgbClr val="3A312A"/>
                </a:solidFill>
                <a:latin typeface="Calibri"/>
              </a:rPr>
              <a:t>Nobody checks afterwards</a:t>
            </a:r>
          </a:p>
        </p:txBody>
      </p:sp>
      <p:sp>
        <p:nvSpPr>
          <p:cNvPr id="34" name="TextBox 33"/>
          <p:cNvSpPr txBox="1"/>
          <p:nvPr/>
        </p:nvSpPr>
        <p:spPr>
          <a:xfrm>
            <a:off x="8942832" y="4832604"/>
            <a:ext cx="2468880" cy="699515"/>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Drift returns silently, so the cleanup never stays done.</a:t>
            </a:r>
          </a:p>
        </p:txBody>
      </p:sp>
      <p:sp>
        <p:nvSpPr>
          <p:cNvPr id="35" name="Rounded Rectangle 34"/>
          <p:cNvSpPr/>
          <p:nvPr/>
        </p:nvSpPr>
        <p:spPr>
          <a:xfrm>
            <a:off x="548640" y="5779008"/>
            <a:ext cx="11094415" cy="530352"/>
          </a:xfrm>
          <a:prstGeom prst="roundRect">
            <a:avLst>
              <a:gd name="adj" fmla="val 17241"/>
            </a:avLst>
          </a:prstGeom>
          <a:solidFill>
            <a:srgbClr val="2F2721"/>
          </a:solidFill>
          <a:ln>
            <a:noFill/>
          </a:ln>
          <a:effectLst/>
        </p:spPr>
        <p:txBody>
          <a:bodyPr rtlCol="0" anchor="ctr"/>
          <a:lstStyle/>
          <a:p>
            <a:pPr algn="ctr"/>
          </a:p>
        </p:txBody>
      </p:sp>
      <p:sp>
        <p:nvSpPr>
          <p:cNvPr id="36" name="TextBox 35"/>
          <p:cNvSpPr txBox="1"/>
          <p:nvPr/>
        </p:nvSpPr>
        <p:spPr>
          <a:xfrm>
            <a:off x="777240" y="5779008"/>
            <a:ext cx="10637215" cy="530352"/>
          </a:xfrm>
          <a:prstGeom prst="rect">
            <a:avLst/>
          </a:prstGeom>
          <a:noFill/>
        </p:spPr>
        <p:txBody>
          <a:bodyPr wrap="square" lIns="0" rIns="0" tIns="0" bIns="0" anchor="ctr">
            <a:spAutoFit/>
          </a:bodyPr>
          <a:lstStyle/>
          <a:p>
            <a:pPr algn="l">
              <a:lnSpc>
                <a:spcPct val="100000"/>
              </a:lnSpc>
            </a:pPr>
            <a:r>
              <a:rPr sz="1500" b="1" i="0">
                <a:solidFill>
                  <a:srgbClr val="FBF8F1"/>
                </a:solidFill>
                <a:latin typeface="Calibri"/>
              </a:rPr>
              <a:t>By hand it is slow and gets forgotten. Letting a bot edit freely is unsafe. The real problem is trust.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2  ·  OUR SOLUTION</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Tell us the truth once. The agent keeps every site honest.</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5</a:t>
            </a:r>
          </a:p>
        </p:txBody>
      </p:sp>
      <p:sp>
        <p:nvSpPr>
          <p:cNvPr id="6" name="Rounded Rectangle 5"/>
          <p:cNvSpPr/>
          <p:nvPr/>
        </p:nvSpPr>
        <p:spPr>
          <a:xfrm>
            <a:off x="548640" y="1645920"/>
            <a:ext cx="4754880" cy="1024128"/>
          </a:xfrm>
          <a:prstGeom prst="roundRect">
            <a:avLst>
              <a:gd name="adj" fmla="val 5357"/>
            </a:avLst>
          </a:prstGeom>
          <a:solidFill>
            <a:srgbClr val="FBF8F1"/>
          </a:solidFill>
          <a:ln w="9525">
            <a:solidFill>
              <a:srgbClr val="E2D8C6"/>
            </a:solidFill>
          </a:ln>
          <a:effectLst/>
        </p:spPr>
        <p:txBody>
          <a:bodyPr rtlCol="0" anchor="ctr"/>
          <a:lstStyle/>
          <a:p>
            <a:pPr algn="ctr"/>
          </a:p>
        </p:txBody>
      </p:sp>
      <p:sp>
        <p:nvSpPr>
          <p:cNvPr id="7" name="Oval 6"/>
          <p:cNvSpPr/>
          <p:nvPr/>
        </p:nvSpPr>
        <p:spPr>
          <a:xfrm>
            <a:off x="713232" y="1901952"/>
            <a:ext cx="512064" cy="512064"/>
          </a:xfrm>
          <a:prstGeom prst="ellipse">
            <a:avLst/>
          </a:prstGeom>
          <a:solidFill>
            <a:srgbClr val="54733F"/>
          </a:solidFill>
          <a:ln>
            <a:noFill/>
          </a:ln>
          <a:effectLst/>
        </p:spPr>
        <p:txBody>
          <a:bodyPr rtlCol="0" anchor="ctr"/>
          <a:lstStyle/>
          <a:p>
            <a:pPr algn="ctr"/>
          </a:p>
        </p:txBody>
      </p:sp>
      <p:sp>
        <p:nvSpPr>
          <p:cNvPr id="8" name="TextBox 7"/>
          <p:cNvSpPr txBox="1"/>
          <p:nvPr/>
        </p:nvSpPr>
        <p:spPr>
          <a:xfrm>
            <a:off x="713232" y="1901952"/>
            <a:ext cx="512064" cy="512064"/>
          </a:xfrm>
          <a:prstGeom prst="rect">
            <a:avLst/>
          </a:prstGeom>
          <a:noFill/>
        </p:spPr>
        <p:txBody>
          <a:bodyPr wrap="square" lIns="0" rIns="0" tIns="0" bIns="0" anchor="ctr">
            <a:spAutoFit/>
          </a:bodyPr>
          <a:lstStyle/>
          <a:p>
            <a:pPr algn="ctr">
              <a:lnSpc>
                <a:spcPct val="100000"/>
              </a:lnSpc>
            </a:pPr>
            <a:r>
              <a:rPr sz="2000" b="1" i="0">
                <a:solidFill>
                  <a:srgbClr val="FBF8F1"/>
                </a:solidFill>
                <a:latin typeface="Cambria"/>
              </a:rPr>
              <a:t>1</a:t>
            </a:r>
          </a:p>
        </p:txBody>
      </p:sp>
      <p:sp>
        <p:nvSpPr>
          <p:cNvPr id="9" name="TextBox 8"/>
          <p:cNvSpPr txBox="1"/>
          <p:nvPr/>
        </p:nvSpPr>
        <p:spPr>
          <a:xfrm>
            <a:off x="1417319" y="1755648"/>
            <a:ext cx="3749039"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Scan</a:t>
            </a:r>
          </a:p>
        </p:txBody>
      </p:sp>
      <p:sp>
        <p:nvSpPr>
          <p:cNvPr id="10" name="TextBox 9"/>
          <p:cNvSpPr txBox="1"/>
          <p:nvPr/>
        </p:nvSpPr>
        <p:spPr>
          <a:xfrm>
            <a:off x="1417319" y="2048256"/>
            <a:ext cx="3749039"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Reads all five sites and compares meaning, not formatting: 25 field checks in about 150 ms.</a:t>
            </a:r>
          </a:p>
        </p:txBody>
      </p:sp>
      <p:sp>
        <p:nvSpPr>
          <p:cNvPr id="11" name="Rounded Rectangle 10"/>
          <p:cNvSpPr/>
          <p:nvPr/>
        </p:nvSpPr>
        <p:spPr>
          <a:xfrm>
            <a:off x="548640" y="2779776"/>
            <a:ext cx="4754880" cy="1024128"/>
          </a:xfrm>
          <a:prstGeom prst="roundRect">
            <a:avLst>
              <a:gd name="adj" fmla="val 5357"/>
            </a:avLst>
          </a:prstGeom>
          <a:solidFill>
            <a:srgbClr val="FBF8F1"/>
          </a:solidFill>
          <a:ln w="9525">
            <a:solidFill>
              <a:srgbClr val="E2D8C6"/>
            </a:solidFill>
          </a:ln>
          <a:effectLst/>
        </p:spPr>
        <p:txBody>
          <a:bodyPr rtlCol="0" anchor="ctr"/>
          <a:lstStyle/>
          <a:p>
            <a:pPr algn="ctr"/>
          </a:p>
        </p:txBody>
      </p:sp>
      <p:sp>
        <p:nvSpPr>
          <p:cNvPr id="12" name="Oval 11"/>
          <p:cNvSpPr/>
          <p:nvPr/>
        </p:nvSpPr>
        <p:spPr>
          <a:xfrm>
            <a:off x="713232" y="3035808"/>
            <a:ext cx="512064" cy="512064"/>
          </a:xfrm>
          <a:prstGeom prst="ellipse">
            <a:avLst/>
          </a:prstGeom>
          <a:solidFill>
            <a:srgbClr val="54733F"/>
          </a:solidFill>
          <a:ln>
            <a:noFill/>
          </a:ln>
          <a:effectLst/>
        </p:spPr>
        <p:txBody>
          <a:bodyPr rtlCol="0" anchor="ctr"/>
          <a:lstStyle/>
          <a:p>
            <a:pPr algn="ctr"/>
          </a:p>
        </p:txBody>
      </p:sp>
      <p:sp>
        <p:nvSpPr>
          <p:cNvPr id="13" name="TextBox 12"/>
          <p:cNvSpPr txBox="1"/>
          <p:nvPr/>
        </p:nvSpPr>
        <p:spPr>
          <a:xfrm>
            <a:off x="713232" y="3035808"/>
            <a:ext cx="512064" cy="512064"/>
          </a:xfrm>
          <a:prstGeom prst="rect">
            <a:avLst/>
          </a:prstGeom>
          <a:noFill/>
        </p:spPr>
        <p:txBody>
          <a:bodyPr wrap="square" lIns="0" rIns="0" tIns="0" bIns="0" anchor="ctr">
            <a:spAutoFit/>
          </a:bodyPr>
          <a:lstStyle/>
          <a:p>
            <a:pPr algn="ctr">
              <a:lnSpc>
                <a:spcPct val="100000"/>
              </a:lnSpc>
            </a:pPr>
            <a:r>
              <a:rPr sz="2000" b="1" i="0">
                <a:solidFill>
                  <a:srgbClr val="FBF8F1"/>
                </a:solidFill>
                <a:latin typeface="Cambria"/>
              </a:rPr>
              <a:t>2</a:t>
            </a:r>
          </a:p>
        </p:txBody>
      </p:sp>
      <p:sp>
        <p:nvSpPr>
          <p:cNvPr id="14" name="TextBox 13"/>
          <p:cNvSpPr txBox="1"/>
          <p:nvPr/>
        </p:nvSpPr>
        <p:spPr>
          <a:xfrm>
            <a:off x="1417319" y="2889504"/>
            <a:ext cx="3749039"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Review</a:t>
            </a:r>
          </a:p>
        </p:txBody>
      </p:sp>
      <p:sp>
        <p:nvSpPr>
          <p:cNvPr id="15" name="TextBox 14"/>
          <p:cNvSpPr txBox="1"/>
          <p:nvPr/>
        </p:nvSpPr>
        <p:spPr>
          <a:xfrm>
            <a:off x="1417319" y="3182112"/>
            <a:ext cx="3749039"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Every proposed fix is a card with a plain-English reason. You approve or reject each one.</a:t>
            </a:r>
          </a:p>
        </p:txBody>
      </p:sp>
      <p:sp>
        <p:nvSpPr>
          <p:cNvPr id="16" name="Rounded Rectangle 15"/>
          <p:cNvSpPr/>
          <p:nvPr/>
        </p:nvSpPr>
        <p:spPr>
          <a:xfrm>
            <a:off x="548640" y="3913632"/>
            <a:ext cx="4754880" cy="1024128"/>
          </a:xfrm>
          <a:prstGeom prst="roundRect">
            <a:avLst>
              <a:gd name="adj" fmla="val 5357"/>
            </a:avLst>
          </a:prstGeom>
          <a:solidFill>
            <a:srgbClr val="FBF8F1"/>
          </a:solidFill>
          <a:ln w="9525">
            <a:solidFill>
              <a:srgbClr val="E2D8C6"/>
            </a:solidFill>
          </a:ln>
          <a:effectLst/>
        </p:spPr>
        <p:txBody>
          <a:bodyPr rtlCol="0" anchor="ctr"/>
          <a:lstStyle/>
          <a:p>
            <a:pPr algn="ctr"/>
          </a:p>
        </p:txBody>
      </p:sp>
      <p:sp>
        <p:nvSpPr>
          <p:cNvPr id="17" name="Oval 16"/>
          <p:cNvSpPr/>
          <p:nvPr/>
        </p:nvSpPr>
        <p:spPr>
          <a:xfrm>
            <a:off x="713232" y="4169664"/>
            <a:ext cx="512064" cy="512064"/>
          </a:xfrm>
          <a:prstGeom prst="ellipse">
            <a:avLst/>
          </a:prstGeom>
          <a:solidFill>
            <a:srgbClr val="54733F"/>
          </a:solidFill>
          <a:ln>
            <a:noFill/>
          </a:ln>
          <a:effectLst/>
        </p:spPr>
        <p:txBody>
          <a:bodyPr rtlCol="0" anchor="ctr"/>
          <a:lstStyle/>
          <a:p>
            <a:pPr algn="ctr"/>
          </a:p>
        </p:txBody>
      </p:sp>
      <p:sp>
        <p:nvSpPr>
          <p:cNvPr id="18" name="TextBox 17"/>
          <p:cNvSpPr txBox="1"/>
          <p:nvPr/>
        </p:nvSpPr>
        <p:spPr>
          <a:xfrm>
            <a:off x="713232" y="4169664"/>
            <a:ext cx="512064" cy="512064"/>
          </a:xfrm>
          <a:prstGeom prst="rect">
            <a:avLst/>
          </a:prstGeom>
          <a:noFill/>
        </p:spPr>
        <p:txBody>
          <a:bodyPr wrap="square" lIns="0" rIns="0" tIns="0" bIns="0" anchor="ctr">
            <a:spAutoFit/>
          </a:bodyPr>
          <a:lstStyle/>
          <a:p>
            <a:pPr algn="ctr">
              <a:lnSpc>
                <a:spcPct val="100000"/>
              </a:lnSpc>
            </a:pPr>
            <a:r>
              <a:rPr sz="2000" b="1" i="0">
                <a:solidFill>
                  <a:srgbClr val="FBF8F1"/>
                </a:solidFill>
                <a:latin typeface="Cambria"/>
              </a:rPr>
              <a:t>3</a:t>
            </a:r>
          </a:p>
        </p:txBody>
      </p:sp>
      <p:sp>
        <p:nvSpPr>
          <p:cNvPr id="19" name="TextBox 18"/>
          <p:cNvSpPr txBox="1"/>
          <p:nvPr/>
        </p:nvSpPr>
        <p:spPr>
          <a:xfrm>
            <a:off x="1417319" y="4023360"/>
            <a:ext cx="3749039"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Apply</a:t>
            </a:r>
          </a:p>
        </p:txBody>
      </p:sp>
      <p:sp>
        <p:nvSpPr>
          <p:cNvPr id="20" name="TextBox 19"/>
          <p:cNvSpPr txBox="1"/>
          <p:nvPr/>
        </p:nvSpPr>
        <p:spPr>
          <a:xfrm>
            <a:off x="1417319" y="4315968"/>
            <a:ext cx="3749039"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Only approved changes are sent, and never to a listing you do not own.</a:t>
            </a:r>
          </a:p>
        </p:txBody>
      </p:sp>
      <p:sp>
        <p:nvSpPr>
          <p:cNvPr id="21" name="Rounded Rectangle 20"/>
          <p:cNvSpPr/>
          <p:nvPr/>
        </p:nvSpPr>
        <p:spPr>
          <a:xfrm>
            <a:off x="548640" y="5047488"/>
            <a:ext cx="4754880" cy="1024128"/>
          </a:xfrm>
          <a:prstGeom prst="roundRect">
            <a:avLst>
              <a:gd name="adj" fmla="val 5357"/>
            </a:avLst>
          </a:prstGeom>
          <a:solidFill>
            <a:srgbClr val="FBF8F1"/>
          </a:solidFill>
          <a:ln w="9525">
            <a:solidFill>
              <a:srgbClr val="E2D8C6"/>
            </a:solidFill>
          </a:ln>
          <a:effectLst/>
        </p:spPr>
        <p:txBody>
          <a:bodyPr rtlCol="0" anchor="ctr"/>
          <a:lstStyle/>
          <a:p>
            <a:pPr algn="ctr"/>
          </a:p>
        </p:txBody>
      </p:sp>
      <p:sp>
        <p:nvSpPr>
          <p:cNvPr id="22" name="Oval 21"/>
          <p:cNvSpPr/>
          <p:nvPr/>
        </p:nvSpPr>
        <p:spPr>
          <a:xfrm>
            <a:off x="713232" y="5303520"/>
            <a:ext cx="512064" cy="512064"/>
          </a:xfrm>
          <a:prstGeom prst="ellipse">
            <a:avLst/>
          </a:prstGeom>
          <a:solidFill>
            <a:srgbClr val="54733F"/>
          </a:solidFill>
          <a:ln>
            <a:noFill/>
          </a:ln>
          <a:effectLst/>
        </p:spPr>
        <p:txBody>
          <a:bodyPr rtlCol="0" anchor="ctr"/>
          <a:lstStyle/>
          <a:p>
            <a:pPr algn="ctr"/>
          </a:p>
        </p:txBody>
      </p:sp>
      <p:sp>
        <p:nvSpPr>
          <p:cNvPr id="23" name="TextBox 22"/>
          <p:cNvSpPr txBox="1"/>
          <p:nvPr/>
        </p:nvSpPr>
        <p:spPr>
          <a:xfrm>
            <a:off x="713232" y="5303520"/>
            <a:ext cx="512064" cy="512064"/>
          </a:xfrm>
          <a:prstGeom prst="rect">
            <a:avLst/>
          </a:prstGeom>
          <a:noFill/>
        </p:spPr>
        <p:txBody>
          <a:bodyPr wrap="square" lIns="0" rIns="0" tIns="0" bIns="0" anchor="ctr">
            <a:spAutoFit/>
          </a:bodyPr>
          <a:lstStyle/>
          <a:p>
            <a:pPr algn="ctr">
              <a:lnSpc>
                <a:spcPct val="100000"/>
              </a:lnSpc>
            </a:pPr>
            <a:r>
              <a:rPr sz="2000" b="1" i="0">
                <a:solidFill>
                  <a:srgbClr val="FBF8F1"/>
                </a:solidFill>
                <a:latin typeface="Cambria"/>
              </a:rPr>
              <a:t>4</a:t>
            </a:r>
          </a:p>
        </p:txBody>
      </p:sp>
      <p:sp>
        <p:nvSpPr>
          <p:cNvPr id="24" name="TextBox 23"/>
          <p:cNvSpPr txBox="1"/>
          <p:nvPr/>
        </p:nvSpPr>
        <p:spPr>
          <a:xfrm>
            <a:off x="1417319" y="5157216"/>
            <a:ext cx="3749039" cy="274320"/>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Verify</a:t>
            </a:r>
          </a:p>
        </p:txBody>
      </p:sp>
      <p:sp>
        <p:nvSpPr>
          <p:cNvPr id="25" name="TextBox 24"/>
          <p:cNvSpPr txBox="1"/>
          <p:nvPr/>
        </p:nvSpPr>
        <p:spPr>
          <a:xfrm>
            <a:off x="1417319" y="5449824"/>
            <a:ext cx="3749039" cy="566928"/>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The agent reloads the public page and marks VERIFIED only if the value is really there.</a:t>
            </a:r>
          </a:p>
        </p:txBody>
      </p:sp>
      <p:pic>
        <p:nvPicPr>
          <p:cNvPr id="26" name="Picture 25" descr="Approvals screen: a proposed fix with what the listing shows, what the record says, and the reason"/>
          <p:cNvPicPr>
            <a:picLocks noChangeAspect="1"/>
          </p:cNvPicPr>
          <p:nvPr/>
        </p:nvPicPr>
        <p:blipFill>
          <a:blip r:embed="rId2"/>
          <a:stretch>
            <a:fillRect/>
          </a:stretch>
        </p:blipFill>
        <p:spPr>
          <a:xfrm>
            <a:off x="5577840" y="1645920"/>
            <a:ext cx="6062472" cy="2442819"/>
          </a:xfrm>
          <a:prstGeom prst="rect">
            <a:avLst/>
          </a:prstGeom>
          <a:ln w="9525">
            <a:solidFill>
              <a:srgbClr val="E2D8C6"/>
            </a:solidFill>
          </a:ln>
        </p:spPr>
      </p:pic>
      <p:sp>
        <p:nvSpPr>
          <p:cNvPr id="27" name="TextBox 26"/>
          <p:cNvSpPr txBox="1"/>
          <p:nvPr/>
        </p:nvSpPr>
        <p:spPr>
          <a:xfrm>
            <a:off x="5577840" y="4161891"/>
            <a:ext cx="6062472" cy="22860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Approvals: what the site shows versus what your record says, and why.</a:t>
            </a:r>
          </a:p>
        </p:txBody>
      </p:sp>
      <p:sp>
        <p:nvSpPr>
          <p:cNvPr id="28" name="Rounded Rectangle 27"/>
          <p:cNvSpPr/>
          <p:nvPr/>
        </p:nvSpPr>
        <p:spPr>
          <a:xfrm>
            <a:off x="5577840" y="4545939"/>
            <a:ext cx="6062472" cy="1763420"/>
          </a:xfrm>
          <a:prstGeom prst="roundRect">
            <a:avLst>
              <a:gd name="adj" fmla="val 3111"/>
            </a:avLst>
          </a:prstGeom>
          <a:solidFill>
            <a:srgbClr val="FBF8F1"/>
          </a:solidFill>
          <a:ln w="9525">
            <a:solidFill>
              <a:srgbClr val="E2D8C6"/>
            </a:solidFill>
          </a:ln>
          <a:effectLst/>
        </p:spPr>
        <p:txBody>
          <a:bodyPr rtlCol="0" anchor="ctr"/>
          <a:lstStyle/>
          <a:p>
            <a:pPr algn="ctr"/>
          </a:p>
        </p:txBody>
      </p:sp>
      <p:sp>
        <p:nvSpPr>
          <p:cNvPr id="29" name="TextBox 28"/>
          <p:cNvSpPr txBox="1"/>
          <p:nvPr/>
        </p:nvSpPr>
        <p:spPr>
          <a:xfrm>
            <a:off x="5760720" y="4683099"/>
            <a:ext cx="5669280" cy="274320"/>
          </a:xfrm>
          <a:prstGeom prst="rect">
            <a:avLst/>
          </a:prstGeom>
          <a:noFill/>
        </p:spPr>
        <p:txBody>
          <a:bodyPr wrap="square" lIns="0" rIns="0" tIns="0" bIns="0" anchor="t">
            <a:spAutoFit/>
          </a:bodyPr>
          <a:lstStyle/>
          <a:p>
            <a:pPr algn="l">
              <a:lnSpc>
                <a:spcPct val="100000"/>
              </a:lnSpc>
            </a:pPr>
            <a:r>
              <a:rPr sz="1450" b="1" i="0">
                <a:solidFill>
                  <a:srgbClr val="3A312A"/>
                </a:solidFill>
                <a:latin typeface="Calibri"/>
              </a:rPr>
              <a:t>Your record is the single source of truth</a:t>
            </a:r>
          </a:p>
        </p:txBody>
      </p:sp>
      <p:sp>
        <p:nvSpPr>
          <p:cNvPr id="30" name="Rounded Rectangle 29"/>
          <p:cNvSpPr/>
          <p:nvPr/>
        </p:nvSpPr>
        <p:spPr>
          <a:xfrm>
            <a:off x="5760720" y="5094579"/>
            <a:ext cx="777240" cy="329184"/>
          </a:xfrm>
          <a:prstGeom prst="roundRect">
            <a:avLst>
              <a:gd name="adj" fmla="val 50000"/>
            </a:avLst>
          </a:prstGeom>
          <a:solidFill>
            <a:srgbClr val="EBE2CF"/>
          </a:solidFill>
          <a:ln>
            <a:noFill/>
          </a:ln>
          <a:effectLst/>
        </p:spPr>
        <p:txBody>
          <a:bodyPr rtlCol="0" anchor="ctr"/>
          <a:lstStyle/>
          <a:p>
            <a:pPr algn="ctr"/>
          </a:p>
        </p:txBody>
      </p:sp>
      <p:sp>
        <p:nvSpPr>
          <p:cNvPr id="31" name="TextBox 30"/>
          <p:cNvSpPr txBox="1"/>
          <p:nvPr/>
        </p:nvSpPr>
        <p:spPr>
          <a:xfrm>
            <a:off x="5760720" y="5094579"/>
            <a:ext cx="777240" cy="329184"/>
          </a:xfrm>
          <a:prstGeom prst="rect">
            <a:avLst/>
          </a:prstGeom>
          <a:noFill/>
        </p:spPr>
        <p:txBody>
          <a:bodyPr wrap="square" lIns="0" rIns="0" tIns="0" bIns="0" anchor="ctr">
            <a:spAutoFit/>
          </a:bodyPr>
          <a:lstStyle/>
          <a:p>
            <a:pPr algn="ctr">
              <a:lnSpc>
                <a:spcPct val="100000"/>
              </a:lnSpc>
            </a:pPr>
            <a:r>
              <a:rPr sz="1150" b="1" i="0">
                <a:solidFill>
                  <a:srgbClr val="3F5A2E"/>
                </a:solidFill>
                <a:latin typeface="Calibri"/>
              </a:rPr>
              <a:t>Name</a:t>
            </a:r>
          </a:p>
        </p:txBody>
      </p:sp>
      <p:sp>
        <p:nvSpPr>
          <p:cNvPr id="32" name="Rounded Rectangle 31"/>
          <p:cNvSpPr/>
          <p:nvPr/>
        </p:nvSpPr>
        <p:spPr>
          <a:xfrm>
            <a:off x="6629400" y="5094579"/>
            <a:ext cx="960120" cy="329184"/>
          </a:xfrm>
          <a:prstGeom prst="roundRect">
            <a:avLst>
              <a:gd name="adj" fmla="val 50000"/>
            </a:avLst>
          </a:prstGeom>
          <a:solidFill>
            <a:srgbClr val="EBE2CF"/>
          </a:solidFill>
          <a:ln>
            <a:noFill/>
          </a:ln>
          <a:effectLst/>
        </p:spPr>
        <p:txBody>
          <a:bodyPr rtlCol="0" anchor="ctr"/>
          <a:lstStyle/>
          <a:p>
            <a:pPr algn="ctr"/>
          </a:p>
        </p:txBody>
      </p:sp>
      <p:sp>
        <p:nvSpPr>
          <p:cNvPr id="33" name="TextBox 32"/>
          <p:cNvSpPr txBox="1"/>
          <p:nvPr/>
        </p:nvSpPr>
        <p:spPr>
          <a:xfrm>
            <a:off x="6629400" y="5094579"/>
            <a:ext cx="960120" cy="329184"/>
          </a:xfrm>
          <a:prstGeom prst="rect">
            <a:avLst/>
          </a:prstGeom>
          <a:noFill/>
        </p:spPr>
        <p:txBody>
          <a:bodyPr wrap="square" lIns="0" rIns="0" tIns="0" bIns="0" anchor="ctr">
            <a:spAutoFit/>
          </a:bodyPr>
          <a:lstStyle/>
          <a:p>
            <a:pPr algn="ctr">
              <a:lnSpc>
                <a:spcPct val="100000"/>
              </a:lnSpc>
            </a:pPr>
            <a:r>
              <a:rPr sz="1150" b="1" i="0">
                <a:solidFill>
                  <a:srgbClr val="3F5A2E"/>
                </a:solidFill>
                <a:latin typeface="Calibri"/>
              </a:rPr>
              <a:t>Address</a:t>
            </a:r>
          </a:p>
        </p:txBody>
      </p:sp>
      <p:sp>
        <p:nvSpPr>
          <p:cNvPr id="34" name="Rounded Rectangle 33"/>
          <p:cNvSpPr/>
          <p:nvPr/>
        </p:nvSpPr>
        <p:spPr>
          <a:xfrm>
            <a:off x="7680960" y="5094579"/>
            <a:ext cx="868680" cy="329184"/>
          </a:xfrm>
          <a:prstGeom prst="roundRect">
            <a:avLst>
              <a:gd name="adj" fmla="val 50000"/>
            </a:avLst>
          </a:prstGeom>
          <a:solidFill>
            <a:srgbClr val="EBE2CF"/>
          </a:solidFill>
          <a:ln>
            <a:noFill/>
          </a:ln>
          <a:effectLst/>
        </p:spPr>
        <p:txBody>
          <a:bodyPr rtlCol="0" anchor="ctr"/>
          <a:lstStyle/>
          <a:p>
            <a:pPr algn="ctr"/>
          </a:p>
        </p:txBody>
      </p:sp>
      <p:sp>
        <p:nvSpPr>
          <p:cNvPr id="35" name="TextBox 34"/>
          <p:cNvSpPr txBox="1"/>
          <p:nvPr/>
        </p:nvSpPr>
        <p:spPr>
          <a:xfrm>
            <a:off x="7680960" y="5094579"/>
            <a:ext cx="868680" cy="329184"/>
          </a:xfrm>
          <a:prstGeom prst="rect">
            <a:avLst/>
          </a:prstGeom>
          <a:noFill/>
        </p:spPr>
        <p:txBody>
          <a:bodyPr wrap="square" lIns="0" rIns="0" tIns="0" bIns="0" anchor="ctr">
            <a:spAutoFit/>
          </a:bodyPr>
          <a:lstStyle/>
          <a:p>
            <a:pPr algn="ctr">
              <a:lnSpc>
                <a:spcPct val="100000"/>
              </a:lnSpc>
            </a:pPr>
            <a:r>
              <a:rPr sz="1150" b="1" i="0">
                <a:solidFill>
                  <a:srgbClr val="3F5A2E"/>
                </a:solidFill>
                <a:latin typeface="Calibri"/>
              </a:rPr>
              <a:t>Phone</a:t>
            </a:r>
          </a:p>
        </p:txBody>
      </p:sp>
      <p:sp>
        <p:nvSpPr>
          <p:cNvPr id="36" name="Rounded Rectangle 35"/>
          <p:cNvSpPr/>
          <p:nvPr/>
        </p:nvSpPr>
        <p:spPr>
          <a:xfrm>
            <a:off x="8641080" y="5094579"/>
            <a:ext cx="1325880" cy="329184"/>
          </a:xfrm>
          <a:prstGeom prst="roundRect">
            <a:avLst>
              <a:gd name="adj" fmla="val 50000"/>
            </a:avLst>
          </a:prstGeom>
          <a:solidFill>
            <a:srgbClr val="EBE2CF"/>
          </a:solidFill>
          <a:ln>
            <a:noFill/>
          </a:ln>
          <a:effectLst/>
        </p:spPr>
        <p:txBody>
          <a:bodyPr rtlCol="0" anchor="ctr"/>
          <a:lstStyle/>
          <a:p>
            <a:pPr algn="ctr"/>
          </a:p>
        </p:txBody>
      </p:sp>
      <p:sp>
        <p:nvSpPr>
          <p:cNvPr id="37" name="TextBox 36"/>
          <p:cNvSpPr txBox="1"/>
          <p:nvPr/>
        </p:nvSpPr>
        <p:spPr>
          <a:xfrm>
            <a:off x="8641080" y="5094579"/>
            <a:ext cx="1325880" cy="329184"/>
          </a:xfrm>
          <a:prstGeom prst="rect">
            <a:avLst/>
          </a:prstGeom>
          <a:noFill/>
        </p:spPr>
        <p:txBody>
          <a:bodyPr wrap="square" lIns="0" rIns="0" tIns="0" bIns="0" anchor="ctr">
            <a:spAutoFit/>
          </a:bodyPr>
          <a:lstStyle/>
          <a:p>
            <a:pPr algn="ctr">
              <a:lnSpc>
                <a:spcPct val="100000"/>
              </a:lnSpc>
            </a:pPr>
            <a:r>
              <a:rPr sz="1150" b="1" i="0">
                <a:solidFill>
                  <a:srgbClr val="3F5A2E"/>
                </a:solidFill>
                <a:latin typeface="Calibri"/>
              </a:rPr>
              <a:t>Weekly hours</a:t>
            </a:r>
          </a:p>
        </p:txBody>
      </p:sp>
      <p:sp>
        <p:nvSpPr>
          <p:cNvPr id="38" name="Rounded Rectangle 37"/>
          <p:cNvSpPr/>
          <p:nvPr/>
        </p:nvSpPr>
        <p:spPr>
          <a:xfrm>
            <a:off x="10058400" y="5094579"/>
            <a:ext cx="1051560" cy="329184"/>
          </a:xfrm>
          <a:prstGeom prst="roundRect">
            <a:avLst>
              <a:gd name="adj" fmla="val 50000"/>
            </a:avLst>
          </a:prstGeom>
          <a:solidFill>
            <a:srgbClr val="EBE2CF"/>
          </a:solidFill>
          <a:ln>
            <a:noFill/>
          </a:ln>
          <a:effectLst/>
        </p:spPr>
        <p:txBody>
          <a:bodyPr rtlCol="0" anchor="ctr"/>
          <a:lstStyle/>
          <a:p>
            <a:pPr algn="ctr"/>
          </a:p>
        </p:txBody>
      </p:sp>
      <p:sp>
        <p:nvSpPr>
          <p:cNvPr id="39" name="TextBox 38"/>
          <p:cNvSpPr txBox="1"/>
          <p:nvPr/>
        </p:nvSpPr>
        <p:spPr>
          <a:xfrm>
            <a:off x="10058400" y="5094579"/>
            <a:ext cx="1051560" cy="329184"/>
          </a:xfrm>
          <a:prstGeom prst="rect">
            <a:avLst/>
          </a:prstGeom>
          <a:noFill/>
        </p:spPr>
        <p:txBody>
          <a:bodyPr wrap="square" lIns="0" rIns="0" tIns="0" bIns="0" anchor="ctr">
            <a:spAutoFit/>
          </a:bodyPr>
          <a:lstStyle/>
          <a:p>
            <a:pPr algn="ctr">
              <a:lnSpc>
                <a:spcPct val="100000"/>
              </a:lnSpc>
            </a:pPr>
            <a:r>
              <a:rPr sz="1150" b="1" i="0">
                <a:solidFill>
                  <a:srgbClr val="3F5A2E"/>
                </a:solidFill>
                <a:latin typeface="Calibri"/>
              </a:rPr>
              <a:t>Holidays</a:t>
            </a:r>
          </a:p>
        </p:txBody>
      </p:sp>
      <p:sp>
        <p:nvSpPr>
          <p:cNvPr id="40" name="TextBox 39"/>
          <p:cNvSpPr txBox="1"/>
          <p:nvPr/>
        </p:nvSpPr>
        <p:spPr>
          <a:xfrm>
            <a:off x="5760720" y="5570067"/>
            <a:ext cx="5669280" cy="640080"/>
          </a:xfrm>
          <a:prstGeom prst="rect">
            <a:avLst/>
          </a:prstGeom>
          <a:noFill/>
        </p:spPr>
        <p:txBody>
          <a:bodyPr wrap="square" lIns="0" rIns="0" tIns="0" bIns="0" anchor="t">
            <a:spAutoFit/>
          </a:bodyPr>
          <a:lstStyle/>
          <a:p>
            <a:pPr algn="l">
              <a:lnSpc>
                <a:spcPct val="100000"/>
              </a:lnSpc>
            </a:pPr>
            <a:r>
              <a:rPr sz="1250" b="0" i="0">
                <a:solidFill>
                  <a:srgbClr val="6A5E51"/>
                </a:solidFill>
                <a:latin typeface="Calibri"/>
              </a:rPr>
              <a:t>Five kinds of fact, one place. Nothing reaches a listing until you approve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2  ·  OUR SOLUTION</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Who it helps, and what changes for them</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6</a:t>
            </a:r>
          </a:p>
        </p:txBody>
      </p:sp>
      <p:sp>
        <p:nvSpPr>
          <p:cNvPr id="6" name="TextBox 5"/>
          <p:cNvSpPr txBox="1"/>
          <p:nvPr/>
        </p:nvSpPr>
        <p:spPr>
          <a:xfrm>
            <a:off x="548640" y="1554480"/>
            <a:ext cx="3840480" cy="228600"/>
          </a:xfrm>
          <a:prstGeom prst="rect">
            <a:avLst/>
          </a:prstGeom>
          <a:noFill/>
        </p:spPr>
        <p:txBody>
          <a:bodyPr wrap="square" lIns="0" rIns="0" tIns="0" bIns="0" anchor="t">
            <a:spAutoFit/>
          </a:bodyPr>
          <a:lstStyle/>
          <a:p>
            <a:pPr algn="l">
              <a:lnSpc>
                <a:spcPct val="100000"/>
              </a:lnSpc>
            </a:pPr>
            <a:r>
              <a:rPr sz="1100" b="1" i="0" spc="120">
                <a:solidFill>
                  <a:srgbClr val="B8561F"/>
                </a:solidFill>
                <a:latin typeface="Calibri"/>
              </a:rPr>
              <a:t>WHO IT HELPS</a:t>
            </a:r>
          </a:p>
        </p:txBody>
      </p:sp>
      <p:sp>
        <p:nvSpPr>
          <p:cNvPr id="7" name="Rounded Rectangle 6"/>
          <p:cNvSpPr/>
          <p:nvPr/>
        </p:nvSpPr>
        <p:spPr>
          <a:xfrm>
            <a:off x="548640" y="1828800"/>
            <a:ext cx="3840480" cy="1371600"/>
          </a:xfrm>
          <a:prstGeom prst="roundRect">
            <a:avLst>
              <a:gd name="adj" fmla="val 4000"/>
            </a:avLst>
          </a:prstGeom>
          <a:solidFill>
            <a:srgbClr val="FBF8F1"/>
          </a:solidFill>
          <a:ln w="9525">
            <a:solidFill>
              <a:srgbClr val="E2D8C6"/>
            </a:solidFill>
          </a:ln>
          <a:effectLst/>
        </p:spPr>
        <p:txBody>
          <a:bodyPr rtlCol="0" anchor="ctr"/>
          <a:lstStyle/>
          <a:p>
            <a:pPr algn="ctr"/>
          </a:p>
        </p:txBody>
      </p:sp>
      <p:sp>
        <p:nvSpPr>
          <p:cNvPr id="8" name="TextBox 7"/>
          <p:cNvSpPr txBox="1"/>
          <p:nvPr/>
        </p:nvSpPr>
        <p:spPr>
          <a:xfrm>
            <a:off x="713232" y="1993392"/>
            <a:ext cx="3511296" cy="246888"/>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Busy owners of local shops</a:t>
            </a:r>
          </a:p>
        </p:txBody>
      </p:sp>
      <p:sp>
        <p:nvSpPr>
          <p:cNvPr id="9" name="TextBox 8"/>
          <p:cNvSpPr txBox="1"/>
          <p:nvPr/>
        </p:nvSpPr>
        <p:spPr>
          <a:xfrm>
            <a:off x="713232" y="2286000"/>
            <a:ext cx="3511296" cy="815644"/>
          </a:xfrm>
          <a:prstGeom prst="rect">
            <a:avLst/>
          </a:prstGeom>
          <a:noFill/>
        </p:spPr>
        <p:txBody>
          <a:bodyPr wrap="square" lIns="0" rIns="0" tIns="0" bIns="0" anchor="t">
            <a:spAutoFit/>
          </a:bodyPr>
          <a:lstStyle/>
          <a:p>
            <a:pPr algn="l">
              <a:lnSpc>
                <a:spcPct val="100000"/>
              </a:lnSpc>
            </a:pPr>
            <a:r>
              <a:rPr sz="1300" b="0" i="0">
                <a:solidFill>
                  <a:srgbClr val="6A5E51"/>
                </a:solidFill>
                <a:latin typeface="Calibri"/>
              </a:rPr>
              <a:t>Bakeries, clinics, salons: no time to check five sites, no SEO team.</a:t>
            </a:r>
          </a:p>
        </p:txBody>
      </p:sp>
      <p:sp>
        <p:nvSpPr>
          <p:cNvPr id="10" name="Rounded Rectangle 9"/>
          <p:cNvSpPr/>
          <p:nvPr/>
        </p:nvSpPr>
        <p:spPr>
          <a:xfrm>
            <a:off x="548640" y="3310128"/>
            <a:ext cx="3840480" cy="1371600"/>
          </a:xfrm>
          <a:prstGeom prst="roundRect">
            <a:avLst>
              <a:gd name="adj" fmla="val 4000"/>
            </a:avLst>
          </a:prstGeom>
          <a:solidFill>
            <a:srgbClr val="FBF8F1"/>
          </a:solidFill>
          <a:ln w="9525">
            <a:solidFill>
              <a:srgbClr val="E2D8C6"/>
            </a:solidFill>
          </a:ln>
          <a:effectLst/>
        </p:spPr>
        <p:txBody>
          <a:bodyPr rtlCol="0" anchor="ctr"/>
          <a:lstStyle/>
          <a:p>
            <a:pPr algn="ctr"/>
          </a:p>
        </p:txBody>
      </p:sp>
      <p:sp>
        <p:nvSpPr>
          <p:cNvPr id="11" name="TextBox 10"/>
          <p:cNvSpPr txBox="1"/>
          <p:nvPr/>
        </p:nvSpPr>
        <p:spPr>
          <a:xfrm>
            <a:off x="713232" y="3474720"/>
            <a:ext cx="3511296" cy="246888"/>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Owners with more than one business</a:t>
            </a:r>
          </a:p>
        </p:txBody>
      </p:sp>
      <p:sp>
        <p:nvSpPr>
          <p:cNvPr id="12" name="TextBox 11"/>
          <p:cNvSpPr txBox="1"/>
          <p:nvPr/>
        </p:nvSpPr>
        <p:spPr>
          <a:xfrm>
            <a:off x="713232" y="3767328"/>
            <a:ext cx="3511296" cy="815644"/>
          </a:xfrm>
          <a:prstGeom prst="rect">
            <a:avLst/>
          </a:prstGeom>
          <a:noFill/>
        </p:spPr>
        <p:txBody>
          <a:bodyPr wrap="square" lIns="0" rIns="0" tIns="0" bIns="0" anchor="t">
            <a:spAutoFit/>
          </a:bodyPr>
          <a:lstStyle/>
          <a:p>
            <a:pPr algn="l">
              <a:lnSpc>
                <a:spcPct val="100000"/>
              </a:lnSpc>
            </a:pPr>
            <a:r>
              <a:rPr sz="1300" b="0" i="0">
                <a:solidFill>
                  <a:srgbClr val="6A5E51"/>
                </a:solidFill>
                <a:latin typeface="Calibri"/>
              </a:rPr>
              <a:t>Each business has its own PIN and fully separate data.</a:t>
            </a:r>
          </a:p>
        </p:txBody>
      </p:sp>
      <p:sp>
        <p:nvSpPr>
          <p:cNvPr id="13" name="Rounded Rectangle 12"/>
          <p:cNvSpPr/>
          <p:nvPr/>
        </p:nvSpPr>
        <p:spPr>
          <a:xfrm>
            <a:off x="548640" y="4791456"/>
            <a:ext cx="3840480" cy="1371600"/>
          </a:xfrm>
          <a:prstGeom prst="roundRect">
            <a:avLst>
              <a:gd name="adj" fmla="val 4000"/>
            </a:avLst>
          </a:prstGeom>
          <a:solidFill>
            <a:srgbClr val="FBF8F1"/>
          </a:solidFill>
          <a:ln w="9525">
            <a:solidFill>
              <a:srgbClr val="E2D8C6"/>
            </a:solidFill>
          </a:ln>
          <a:effectLst/>
        </p:spPr>
        <p:txBody>
          <a:bodyPr rtlCol="0" anchor="ctr"/>
          <a:lstStyle/>
          <a:p>
            <a:pPr algn="ctr"/>
          </a:p>
        </p:txBody>
      </p:sp>
      <p:sp>
        <p:nvSpPr>
          <p:cNvPr id="14" name="TextBox 13"/>
          <p:cNvSpPr txBox="1"/>
          <p:nvPr/>
        </p:nvSpPr>
        <p:spPr>
          <a:xfrm>
            <a:off x="713232" y="4956048"/>
            <a:ext cx="3511296" cy="246888"/>
          </a:xfrm>
          <a:prstGeom prst="rect">
            <a:avLst/>
          </a:prstGeom>
          <a:noFill/>
        </p:spPr>
        <p:txBody>
          <a:bodyPr wrap="square" lIns="0" rIns="0" tIns="0" bIns="0" anchor="t">
            <a:spAutoFit/>
          </a:bodyPr>
          <a:lstStyle/>
          <a:p>
            <a:pPr algn="l">
              <a:lnSpc>
                <a:spcPct val="100000"/>
              </a:lnSpc>
            </a:pPr>
            <a:r>
              <a:rPr sz="1500" b="1" i="0">
                <a:solidFill>
                  <a:srgbClr val="3A312A"/>
                </a:solidFill>
                <a:latin typeface="Calibri"/>
              </a:rPr>
              <a:t>New owners</a:t>
            </a:r>
          </a:p>
        </p:txBody>
      </p:sp>
      <p:sp>
        <p:nvSpPr>
          <p:cNvPr id="15" name="TextBox 14"/>
          <p:cNvSpPr txBox="1"/>
          <p:nvPr/>
        </p:nvSpPr>
        <p:spPr>
          <a:xfrm>
            <a:off x="713232" y="5248656"/>
            <a:ext cx="3511296" cy="815644"/>
          </a:xfrm>
          <a:prstGeom prst="rect">
            <a:avLst/>
          </a:prstGeom>
          <a:noFill/>
        </p:spPr>
        <p:txBody>
          <a:bodyPr wrap="square" lIns="0" rIns="0" tIns="0" bIns="0" anchor="t">
            <a:spAutoFit/>
          </a:bodyPr>
          <a:lstStyle/>
          <a:p>
            <a:pPr algn="l">
              <a:lnSpc>
                <a:spcPct val="100000"/>
              </a:lnSpc>
            </a:pPr>
            <a:r>
              <a:rPr sz="1300" b="0" i="0">
                <a:solidFill>
                  <a:srgbClr val="6A5E51"/>
                </a:solidFill>
                <a:latin typeface="Calibri"/>
              </a:rPr>
              <a:t>The agent finds where you are already listed and adds you where you are missing, after you approve.</a:t>
            </a:r>
          </a:p>
        </p:txBody>
      </p:sp>
      <p:graphicFrame>
        <p:nvGraphicFramePr>
          <p:cNvPr id="16" name="Table 15"/>
          <p:cNvGraphicFramePr>
            <a:graphicFrameLocks noGrp="1"/>
          </p:cNvGraphicFramePr>
          <p:nvPr/>
        </p:nvGraphicFramePr>
        <p:xfrm>
          <a:off x="4663440" y="1554480"/>
          <a:ext cx="6976872" cy="4608576"/>
        </p:xfrm>
        <a:graphic>
          <a:graphicData uri="http://schemas.openxmlformats.org/drawingml/2006/table">
            <a:tbl>
              <a:tblPr firstRow="0" bandRow="0">
                <a:tableStyleId>{2D5ABB26-0587-4C30-8999-92F81FD0307C}</a:tableStyleId>
              </a:tblPr>
              <a:tblGrid>
                <a:gridCol w="1828800"/>
                <a:gridCol w="2331720"/>
                <a:gridCol w="2816352"/>
              </a:tblGrid>
              <a:tr h="658368">
                <a:tc>
                  <a:txBody>
                    <a:bodyPr wrap="square"/>
                    <a:lstStyle/>
                    <a:p>
                      <a:pPr algn="l"/>
                      <a:r>
                        <a:rPr sz="1200" b="1">
                          <a:solidFill>
                            <a:srgbClr val="FBF8F1"/>
                          </a:solidFill>
                          <a:latin typeface="Calibri"/>
                        </a:rPr>
                        <a:t/>
                      </a:r>
                    </a:p>
                  </a:txBody>
                  <a:tcPr marL="91440" marR="91440" marT="36576" marB="36576" anchor="ctr">
                    <a:lnB w="9525" cap="flat" cmpd="sng" algn="ctr">
                      <a:solidFill>
                        <a:srgbClr val="E2D8C6"/>
                      </a:solidFill>
                      <a:prstDash val="solid"/>
                    </a:lnB>
                    <a:solidFill>
                      <a:srgbClr val="2F2721"/>
                    </a:solidFill>
                  </a:tcPr>
                </a:tc>
                <a:tc>
                  <a:txBody>
                    <a:bodyPr wrap="square"/>
                    <a:lstStyle/>
                    <a:p>
                      <a:pPr algn="l"/>
                      <a:r>
                        <a:rPr sz="1200" b="1">
                          <a:solidFill>
                            <a:srgbClr val="FBF8F1"/>
                          </a:solidFill>
                          <a:latin typeface="Calibri"/>
                        </a:rPr>
                        <a:t>Today, by hand</a:t>
                      </a:r>
                    </a:p>
                  </a:txBody>
                  <a:tcPr marL="91440" marR="91440" marT="36576" marB="36576" anchor="ctr">
                    <a:lnB w="9525" cap="flat" cmpd="sng" algn="ctr">
                      <a:solidFill>
                        <a:srgbClr val="E2D8C6"/>
                      </a:solidFill>
                      <a:prstDash val="solid"/>
                    </a:lnB>
                    <a:solidFill>
                      <a:srgbClr val="2F2721"/>
                    </a:solidFill>
                  </a:tcPr>
                </a:tc>
                <a:tc>
                  <a:txBody>
                    <a:bodyPr wrap="square"/>
                    <a:lstStyle/>
                    <a:p>
                      <a:pPr algn="l"/>
                      <a:r>
                        <a:rPr sz="1200" b="1">
                          <a:solidFill>
                            <a:srgbClr val="FBF8F1"/>
                          </a:solidFill>
                          <a:latin typeface="Calibri"/>
                        </a:rPr>
                        <a:t>With the agent</a:t>
                      </a:r>
                    </a:p>
                  </a:txBody>
                  <a:tcPr marL="91440" marR="91440" marT="36576" marB="36576" anchor="ctr">
                    <a:lnB w="9525" cap="flat" cmpd="sng" algn="ctr">
                      <a:solidFill>
                        <a:srgbClr val="E2D8C6"/>
                      </a:solidFill>
                      <a:prstDash val="solid"/>
                    </a:lnB>
                    <a:solidFill>
                      <a:srgbClr val="2F2721"/>
                    </a:solidFill>
                  </a:tcPr>
                </a:tc>
              </a:tr>
              <a:tr h="658368">
                <a:tc>
                  <a:txBody>
                    <a:bodyPr wrap="square"/>
                    <a:lstStyle/>
                    <a:p>
                      <a:r>
                        <a:rPr sz="1200" b="1">
                          <a:solidFill>
                            <a:srgbClr val="3A312A"/>
                          </a:solidFill>
                          <a:latin typeface="Calibri"/>
                        </a:rPr>
                        <a:t>Find mismatches</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A312A"/>
                          </a:solidFill>
                          <a:latin typeface="Calibri"/>
                        </a:rPr>
                        <a:t>Open each site and compare by eye</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A312A"/>
                          </a:solidFill>
                          <a:latin typeface="Calibri"/>
                        </a:rPr>
                        <a:t>One scan reads every site and every field</a:t>
                      </a:r>
                    </a:p>
                  </a:txBody>
                  <a:tcPr marL="91440" marR="91440" marT="36576" marB="36576" anchor="ctr">
                    <a:lnB w="9525" cap="flat" cmpd="sng" algn="ctr">
                      <a:solidFill>
                        <a:srgbClr val="E2D8C6"/>
                      </a:solidFill>
                      <a:prstDash val="solid"/>
                    </a:lnB>
                    <a:solidFill>
                      <a:srgbClr val="DFEBD2"/>
                    </a:solidFill>
                  </a:tcPr>
                </a:tc>
              </a:tr>
              <a:tr h="658368">
                <a:tc>
                  <a:txBody>
                    <a:bodyPr wrap="square"/>
                    <a:lstStyle/>
                    <a:p>
                      <a:r>
                        <a:rPr sz="1200" b="1">
                          <a:solidFill>
                            <a:srgbClr val="3A312A"/>
                          </a:solidFill>
                          <a:latin typeface="Calibri"/>
                        </a:rPr>
                        <a:t>Same meaning, other format</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3A312A"/>
                          </a:solidFill>
                          <a:latin typeface="Calibri"/>
                        </a:rPr>
                        <a:t>Easy to miss, or to "fix" needlessly</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3A312A"/>
                          </a:solidFill>
                          <a:latin typeface="Calibri"/>
                        </a:rPr>
                        <a:t>Compared by meaning; formatting-only differences are ignored</a:t>
                      </a:r>
                    </a:p>
                  </a:txBody>
                  <a:tcPr marL="91440" marR="91440" marT="36576" marB="36576" anchor="ctr">
                    <a:lnB w="9525" cap="flat" cmpd="sng" algn="ctr">
                      <a:solidFill>
                        <a:srgbClr val="E2D8C6"/>
                      </a:solidFill>
                      <a:prstDash val="solid"/>
                    </a:lnB>
                    <a:solidFill>
                      <a:srgbClr val="DFEBD2"/>
                    </a:solidFill>
                  </a:tcPr>
                </a:tc>
              </a:tr>
              <a:tr h="658368">
                <a:tc>
                  <a:txBody>
                    <a:bodyPr wrap="square"/>
                    <a:lstStyle/>
                    <a:p>
                      <a:r>
                        <a:rPr sz="1200" b="1">
                          <a:solidFill>
                            <a:srgbClr val="3A312A"/>
                          </a:solidFill>
                          <a:latin typeface="Calibri"/>
                        </a:rPr>
                        <a:t>Fix them</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A312A"/>
                          </a:solidFill>
                          <a:latin typeface="Calibri"/>
                        </a:rPr>
                        <a:t>Log in to each site and retype</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A312A"/>
                          </a:solidFill>
                          <a:latin typeface="Calibri"/>
                        </a:rPr>
                        <a:t>Review cards and approve; only approved changes are sent</a:t>
                      </a:r>
                    </a:p>
                  </a:txBody>
                  <a:tcPr marL="91440" marR="91440" marT="36576" marB="36576" anchor="ctr">
                    <a:lnB w="9525" cap="flat" cmpd="sng" algn="ctr">
                      <a:solidFill>
                        <a:srgbClr val="E2D8C6"/>
                      </a:solidFill>
                      <a:prstDash val="solid"/>
                    </a:lnB>
                    <a:solidFill>
                      <a:srgbClr val="DFEBD2"/>
                    </a:solidFill>
                  </a:tcPr>
                </a:tc>
              </a:tr>
              <a:tr h="658368">
                <a:tc>
                  <a:txBody>
                    <a:bodyPr wrap="square"/>
                    <a:lstStyle/>
                    <a:p>
                      <a:r>
                        <a:rPr sz="1200" b="1">
                          <a:solidFill>
                            <a:srgbClr val="3A312A"/>
                          </a:solidFill>
                          <a:latin typeface="Calibri"/>
                        </a:rPr>
                        <a:t>Know it worked</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3A312A"/>
                          </a:solidFill>
                          <a:latin typeface="Calibri"/>
                        </a:rPr>
                        <a:t>Hope the site saved it</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3A312A"/>
                          </a:solidFill>
                          <a:latin typeface="Calibri"/>
                        </a:rPr>
                        <a:t>Reloads the live page; moderation shows as pending</a:t>
                      </a:r>
                    </a:p>
                  </a:txBody>
                  <a:tcPr marL="91440" marR="91440" marT="36576" marB="36576" anchor="ctr">
                    <a:lnB w="9525" cap="flat" cmpd="sng" algn="ctr">
                      <a:solidFill>
                        <a:srgbClr val="E2D8C6"/>
                      </a:solidFill>
                      <a:prstDash val="solid"/>
                    </a:lnB>
                    <a:solidFill>
                      <a:srgbClr val="DFEBD2"/>
                    </a:solidFill>
                  </a:tcPr>
                </a:tc>
              </a:tr>
              <a:tr h="658368">
                <a:tc>
                  <a:txBody>
                    <a:bodyPr wrap="square"/>
                    <a:lstStyle/>
                    <a:p>
                      <a:r>
                        <a:rPr sz="1200" b="1">
                          <a:solidFill>
                            <a:srgbClr val="3A312A"/>
                          </a:solidFill>
                          <a:latin typeface="Calibri"/>
                        </a:rPr>
                        <a:t>Owner effort in our demo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A312A"/>
                          </a:solidFill>
                          <a:latin typeface="Calibri"/>
                        </a:rPr>
                        <a:t>Edit 2 sites by hand, re-check all 5</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A312A"/>
                          </a:solidFill>
                          <a:latin typeface="Calibri"/>
                        </a:rPr>
                        <a:t>3 clicks: Scan, Approve all, Apply</a:t>
                      </a:r>
                    </a:p>
                  </a:txBody>
                  <a:tcPr marL="91440" marR="91440" marT="36576" marB="36576" anchor="ctr">
                    <a:lnB w="9525" cap="flat" cmpd="sng" algn="ctr">
                      <a:solidFill>
                        <a:srgbClr val="E2D8C6"/>
                      </a:solidFill>
                      <a:prstDash val="solid"/>
                    </a:lnB>
                    <a:solidFill>
                      <a:srgbClr val="DFEBD2"/>
                    </a:solidFill>
                  </a:tcPr>
                </a:tc>
              </a:tr>
              <a:tr h="658368">
                <a:tc>
                  <a:txBody>
                    <a:bodyPr wrap="square"/>
                    <a:lstStyle/>
                    <a:p>
                      <a:r>
                        <a:rPr sz="1200" b="1">
                          <a:solidFill>
                            <a:srgbClr val="3A312A"/>
                          </a:solidFill>
                          <a:latin typeface="Calibri"/>
                        </a:rPr>
                        <a:t>Stay consistent</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3A312A"/>
                          </a:solidFill>
                          <a:latin typeface="Calibri"/>
                        </a:rPr>
                        <a:t>A one-off cleanup</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3A312A"/>
                          </a:solidFill>
                          <a:latin typeface="Calibri"/>
                        </a:rPr>
                        <a:t>Repeatable scans and holiday alerts</a:t>
                      </a:r>
                    </a:p>
                  </a:txBody>
                  <a:tcPr marL="91440" marR="91440" marT="36576" marB="36576" anchor="ctr">
                    <a:lnB w="9525" cap="flat" cmpd="sng" algn="ctr">
                      <a:solidFill>
                        <a:srgbClr val="E2D8C6"/>
                      </a:solidFill>
                      <a:prstDash val="solid"/>
                    </a:lnB>
                    <a:solidFill>
                      <a:srgbClr val="DFEBD2"/>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3  ·  THE AGENTIC AI</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A goal-driven loop, not a chat box</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7</a:t>
            </a:r>
          </a:p>
        </p:txBody>
      </p:sp>
      <p:sp>
        <p:nvSpPr>
          <p:cNvPr id="6" name="Rounded Rectangle 5"/>
          <p:cNvSpPr/>
          <p:nvPr/>
        </p:nvSpPr>
        <p:spPr>
          <a:xfrm>
            <a:off x="548640" y="1554480"/>
            <a:ext cx="11094415" cy="566928"/>
          </a:xfrm>
          <a:prstGeom prst="roundRect">
            <a:avLst>
              <a:gd name="adj" fmla="val 16129"/>
            </a:avLst>
          </a:prstGeom>
          <a:solidFill>
            <a:srgbClr val="EBE2CF"/>
          </a:solidFill>
          <a:ln>
            <a:noFill/>
          </a:ln>
          <a:effectLst/>
        </p:spPr>
        <p:txBody>
          <a:bodyPr rtlCol="0" anchor="ctr"/>
          <a:lstStyle/>
          <a:p>
            <a:pPr algn="ctr"/>
          </a:p>
        </p:txBody>
      </p:sp>
      <p:sp>
        <p:nvSpPr>
          <p:cNvPr id="7" name="TextBox 6"/>
          <p:cNvSpPr txBox="1"/>
          <p:nvPr/>
        </p:nvSpPr>
        <p:spPr>
          <a:xfrm>
            <a:off x="777240" y="1554480"/>
            <a:ext cx="10637215" cy="566928"/>
          </a:xfrm>
          <a:prstGeom prst="rect">
            <a:avLst/>
          </a:prstGeom>
          <a:noFill/>
        </p:spPr>
        <p:txBody>
          <a:bodyPr wrap="square" lIns="0" rIns="0" tIns="0" bIns="0" anchor="ctr">
            <a:spAutoFit/>
          </a:bodyPr>
          <a:lstStyle/>
          <a:p>
            <a:pPr algn="l">
              <a:lnSpc>
                <a:spcPct val="100000"/>
              </a:lnSpc>
            </a:pPr>
            <a:r>
              <a:rPr sz="1400" b="1" i="0">
                <a:solidFill>
                  <a:srgbClr val="B8561F"/>
                </a:solidFill>
                <a:latin typeface="Calibri"/>
              </a:rPr>
              <a:t>Goal  </a:t>
            </a:r>
            <a:r>
              <a:rPr sz="1400" b="0" i="0">
                <a:solidFill>
                  <a:srgbClr val="3A312A"/>
                </a:solidFill>
                <a:latin typeface="Calibri"/>
              </a:rPr>
              <a:t>every listing says what the owner's record says. The owner approves; the agent does the legwork and proves the result.</a:t>
            </a:r>
          </a:p>
        </p:txBody>
      </p:sp>
      <p:sp>
        <p:nvSpPr>
          <p:cNvPr id="8" name="Rounded Rectangle 7"/>
          <p:cNvSpPr/>
          <p:nvPr/>
        </p:nvSpPr>
        <p:spPr>
          <a:xfrm>
            <a:off x="548640" y="2377440"/>
            <a:ext cx="2057400" cy="1783080"/>
          </a:xfrm>
          <a:prstGeom prst="roundRect">
            <a:avLst>
              <a:gd name="adj" fmla="val 3076"/>
            </a:avLst>
          </a:prstGeom>
          <a:solidFill>
            <a:srgbClr val="FBF8F1"/>
          </a:solidFill>
          <a:ln w="9525">
            <a:solidFill>
              <a:srgbClr val="E2D8C6"/>
            </a:solidFill>
          </a:ln>
          <a:effectLst/>
        </p:spPr>
        <p:txBody>
          <a:bodyPr rtlCol="0" anchor="ctr"/>
          <a:lstStyle/>
          <a:p>
            <a:pPr algn="ctr"/>
          </a:p>
        </p:txBody>
      </p:sp>
      <p:sp>
        <p:nvSpPr>
          <p:cNvPr id="9" name="TextBox 8"/>
          <p:cNvSpPr txBox="1"/>
          <p:nvPr/>
        </p:nvSpPr>
        <p:spPr>
          <a:xfrm>
            <a:off x="685800" y="2468880"/>
            <a:ext cx="1783080" cy="274320"/>
          </a:xfrm>
          <a:prstGeom prst="rect">
            <a:avLst/>
          </a:prstGeom>
          <a:noFill/>
        </p:spPr>
        <p:txBody>
          <a:bodyPr wrap="square" lIns="0" rIns="0" tIns="0" bIns="0" anchor="t">
            <a:spAutoFit/>
          </a:bodyPr>
          <a:lstStyle/>
          <a:p>
            <a:pPr algn="l">
              <a:lnSpc>
                <a:spcPct val="100000"/>
              </a:lnSpc>
            </a:pPr>
            <a:r>
              <a:rPr sz="1500" b="1" i="0">
                <a:solidFill>
                  <a:srgbClr val="3F5A2E"/>
                </a:solidFill>
                <a:latin typeface="Calibri"/>
              </a:rPr>
              <a:t>1  Perceive</a:t>
            </a:r>
          </a:p>
        </p:txBody>
      </p:sp>
      <p:sp>
        <p:nvSpPr>
          <p:cNvPr id="10" name="TextBox 9"/>
          <p:cNvSpPr txBox="1"/>
          <p:nvPr/>
        </p:nvSpPr>
        <p:spPr>
          <a:xfrm>
            <a:off x="685800" y="2788920"/>
            <a:ext cx="1783080" cy="868680"/>
          </a:xfrm>
          <a:prstGeom prst="rect">
            <a:avLst/>
          </a:prstGeom>
          <a:noFill/>
        </p:spPr>
        <p:txBody>
          <a:bodyPr wrap="square" lIns="0" rIns="0" tIns="0" bIns="0" anchor="t">
            <a:spAutoFit/>
          </a:bodyPr>
          <a:lstStyle/>
          <a:p>
            <a:pPr algn="l">
              <a:lnSpc>
                <a:spcPct val="100000"/>
              </a:lnSpc>
            </a:pPr>
            <a:r>
              <a:rPr sz="1150" b="0" i="0">
                <a:solidFill>
                  <a:srgbClr val="6A5E51"/>
                </a:solidFill>
                <a:latin typeface="Calibri"/>
              </a:rPr>
              <a:t>Reads each public page and owner dashboard. Raw values are kept.</a:t>
            </a:r>
          </a:p>
        </p:txBody>
      </p:sp>
      <p:sp>
        <p:nvSpPr>
          <p:cNvPr id="11" name="TextBox 10"/>
          <p:cNvSpPr txBox="1"/>
          <p:nvPr/>
        </p:nvSpPr>
        <p:spPr>
          <a:xfrm>
            <a:off x="685800" y="3730752"/>
            <a:ext cx="1783080" cy="384048"/>
          </a:xfrm>
          <a:prstGeom prst="rect">
            <a:avLst/>
          </a:prstGeom>
          <a:noFill/>
        </p:spPr>
        <p:txBody>
          <a:bodyPr wrap="square" lIns="0" rIns="0" tIns="0" bIns="0" anchor="t">
            <a:spAutoFit/>
          </a:bodyPr>
          <a:lstStyle/>
          <a:p>
            <a:pPr algn="l">
              <a:lnSpc>
                <a:spcPct val="100000"/>
              </a:lnSpc>
            </a:pPr>
            <a:r>
              <a:rPr sz="950" b="0" i="0">
                <a:solidFill>
                  <a:srgbClr val="B8561F"/>
                </a:solidFill>
                <a:latin typeface="Consolas"/>
              </a:rPr>
              <a:t>read_listing, normalise</a:t>
            </a:r>
          </a:p>
        </p:txBody>
      </p:sp>
      <p:cxnSp>
        <p:nvCxnSpPr>
          <p:cNvPr id="12" name="Connector 11"/>
          <p:cNvCxnSpPr/>
          <p:nvPr/>
        </p:nvCxnSpPr>
        <p:spPr>
          <a:xfrm>
            <a:off x="2615184" y="3200400"/>
            <a:ext cx="182880" cy="0"/>
          </a:xfrm>
          <a:prstGeom prst="line">
            <a:avLst/>
          </a:prstGeom>
          <a:ln w="25400">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07208" y="2377440"/>
            <a:ext cx="2057400" cy="1783080"/>
          </a:xfrm>
          <a:prstGeom prst="roundRect">
            <a:avLst>
              <a:gd name="adj" fmla="val 3076"/>
            </a:avLst>
          </a:prstGeom>
          <a:solidFill>
            <a:srgbClr val="FBF8F1"/>
          </a:solidFill>
          <a:ln w="9525">
            <a:solidFill>
              <a:srgbClr val="E2D8C6"/>
            </a:solidFill>
          </a:ln>
          <a:effectLst/>
        </p:spPr>
        <p:txBody>
          <a:bodyPr rtlCol="0" anchor="ctr"/>
          <a:lstStyle/>
          <a:p>
            <a:pPr algn="ctr"/>
          </a:p>
        </p:txBody>
      </p:sp>
      <p:sp>
        <p:nvSpPr>
          <p:cNvPr id="14" name="TextBox 13"/>
          <p:cNvSpPr txBox="1"/>
          <p:nvPr/>
        </p:nvSpPr>
        <p:spPr>
          <a:xfrm>
            <a:off x="2944368" y="2468880"/>
            <a:ext cx="1783080" cy="274320"/>
          </a:xfrm>
          <a:prstGeom prst="rect">
            <a:avLst/>
          </a:prstGeom>
          <a:noFill/>
        </p:spPr>
        <p:txBody>
          <a:bodyPr wrap="square" lIns="0" rIns="0" tIns="0" bIns="0" anchor="t">
            <a:spAutoFit/>
          </a:bodyPr>
          <a:lstStyle/>
          <a:p>
            <a:pPr algn="l">
              <a:lnSpc>
                <a:spcPct val="100000"/>
              </a:lnSpc>
            </a:pPr>
            <a:r>
              <a:rPr sz="1500" b="1" i="0">
                <a:solidFill>
                  <a:srgbClr val="3F5A2E"/>
                </a:solidFill>
                <a:latin typeface="Calibri"/>
              </a:rPr>
              <a:t>2  Decide</a:t>
            </a:r>
          </a:p>
        </p:txBody>
      </p:sp>
      <p:sp>
        <p:nvSpPr>
          <p:cNvPr id="15" name="TextBox 14"/>
          <p:cNvSpPr txBox="1"/>
          <p:nvPr/>
        </p:nvSpPr>
        <p:spPr>
          <a:xfrm>
            <a:off x="2944368" y="2788920"/>
            <a:ext cx="1783080" cy="868680"/>
          </a:xfrm>
          <a:prstGeom prst="rect">
            <a:avLst/>
          </a:prstGeom>
          <a:noFill/>
        </p:spPr>
        <p:txBody>
          <a:bodyPr wrap="square" lIns="0" rIns="0" tIns="0" bIns="0" anchor="t">
            <a:spAutoFit/>
          </a:bodyPr>
          <a:lstStyle/>
          <a:p>
            <a:pPr algn="l">
              <a:lnSpc>
                <a:spcPct val="100000"/>
              </a:lnSpc>
            </a:pPr>
            <a:r>
              <a:rPr sz="1150" b="0" i="0">
                <a:solidFill>
                  <a:srgbClr val="6A5E51"/>
                </a:solidFill>
                <a:latin typeface="Calibri"/>
              </a:rPr>
              <a:t>Compares meaning per field and picks the next tool from the current state.</a:t>
            </a:r>
          </a:p>
        </p:txBody>
      </p:sp>
      <p:sp>
        <p:nvSpPr>
          <p:cNvPr id="16" name="TextBox 15"/>
          <p:cNvSpPr txBox="1"/>
          <p:nvPr/>
        </p:nvSpPr>
        <p:spPr>
          <a:xfrm>
            <a:off x="2944368" y="3730752"/>
            <a:ext cx="1783080" cy="384048"/>
          </a:xfrm>
          <a:prstGeom prst="rect">
            <a:avLst/>
          </a:prstGeom>
          <a:noFill/>
        </p:spPr>
        <p:txBody>
          <a:bodyPr wrap="square" lIns="0" rIns="0" tIns="0" bIns="0" anchor="t">
            <a:spAutoFit/>
          </a:bodyPr>
          <a:lstStyle/>
          <a:p>
            <a:pPr algn="l">
              <a:lnSpc>
                <a:spcPct val="100000"/>
              </a:lnSpc>
            </a:pPr>
            <a:r>
              <a:rPr sz="950" b="0" i="0">
                <a:solidFill>
                  <a:srgbClr val="B8561F"/>
                </a:solidFill>
                <a:latin typeface="Consolas"/>
              </a:rPr>
              <a:t>compare, planner</a:t>
            </a:r>
          </a:p>
        </p:txBody>
      </p:sp>
      <p:cxnSp>
        <p:nvCxnSpPr>
          <p:cNvPr id="17" name="Connector 16"/>
          <p:cNvCxnSpPr/>
          <p:nvPr/>
        </p:nvCxnSpPr>
        <p:spPr>
          <a:xfrm>
            <a:off x="4873752" y="3200400"/>
            <a:ext cx="182880" cy="0"/>
          </a:xfrm>
          <a:prstGeom prst="line">
            <a:avLst/>
          </a:prstGeom>
          <a:ln w="25400">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65776" y="2377440"/>
            <a:ext cx="2057400" cy="1783080"/>
          </a:xfrm>
          <a:prstGeom prst="roundRect">
            <a:avLst>
              <a:gd name="adj" fmla="val 3076"/>
            </a:avLst>
          </a:prstGeom>
          <a:solidFill>
            <a:srgbClr val="FBF8F1"/>
          </a:solidFill>
          <a:ln w="9525">
            <a:solidFill>
              <a:srgbClr val="E2D8C6"/>
            </a:solidFill>
          </a:ln>
          <a:effectLst/>
        </p:spPr>
        <p:txBody>
          <a:bodyPr rtlCol="0" anchor="ctr"/>
          <a:lstStyle/>
          <a:p>
            <a:pPr algn="ctr"/>
          </a:p>
        </p:txBody>
      </p:sp>
      <p:sp>
        <p:nvSpPr>
          <p:cNvPr id="19" name="TextBox 18"/>
          <p:cNvSpPr txBox="1"/>
          <p:nvPr/>
        </p:nvSpPr>
        <p:spPr>
          <a:xfrm>
            <a:off x="5202936" y="2468880"/>
            <a:ext cx="1783080" cy="274320"/>
          </a:xfrm>
          <a:prstGeom prst="rect">
            <a:avLst/>
          </a:prstGeom>
          <a:noFill/>
        </p:spPr>
        <p:txBody>
          <a:bodyPr wrap="square" lIns="0" rIns="0" tIns="0" bIns="0" anchor="t">
            <a:spAutoFit/>
          </a:bodyPr>
          <a:lstStyle/>
          <a:p>
            <a:pPr algn="l">
              <a:lnSpc>
                <a:spcPct val="100000"/>
              </a:lnSpc>
            </a:pPr>
            <a:r>
              <a:rPr sz="1500" b="1" i="0">
                <a:solidFill>
                  <a:srgbClr val="3F5A2E"/>
                </a:solidFill>
                <a:latin typeface="Calibri"/>
              </a:rPr>
              <a:t>3  Act</a:t>
            </a:r>
          </a:p>
        </p:txBody>
      </p:sp>
      <p:sp>
        <p:nvSpPr>
          <p:cNvPr id="20" name="TextBox 19"/>
          <p:cNvSpPr txBox="1"/>
          <p:nvPr/>
        </p:nvSpPr>
        <p:spPr>
          <a:xfrm>
            <a:off x="5202936" y="2788920"/>
            <a:ext cx="1783080" cy="868680"/>
          </a:xfrm>
          <a:prstGeom prst="rect">
            <a:avLst/>
          </a:prstGeom>
          <a:noFill/>
        </p:spPr>
        <p:txBody>
          <a:bodyPr wrap="square" lIns="0" rIns="0" tIns="0" bIns="0" anchor="t">
            <a:spAutoFit/>
          </a:bodyPr>
          <a:lstStyle/>
          <a:p>
            <a:pPr algn="l">
              <a:lnSpc>
                <a:spcPct val="100000"/>
              </a:lnSpc>
            </a:pPr>
            <a:r>
              <a:rPr sz="1150" b="0" i="0">
                <a:solidFill>
                  <a:srgbClr val="6A5E51"/>
                </a:solidFill>
                <a:latin typeface="Calibri"/>
              </a:rPr>
              <a:t>Proposes a fix, flags a listing, asks the owner, or applies what was approved.</a:t>
            </a:r>
          </a:p>
        </p:txBody>
      </p:sp>
      <p:sp>
        <p:nvSpPr>
          <p:cNvPr id="21" name="TextBox 20"/>
          <p:cNvSpPr txBox="1"/>
          <p:nvPr/>
        </p:nvSpPr>
        <p:spPr>
          <a:xfrm>
            <a:off x="5202936" y="3730752"/>
            <a:ext cx="1783080" cy="384048"/>
          </a:xfrm>
          <a:prstGeom prst="rect">
            <a:avLst/>
          </a:prstGeom>
          <a:noFill/>
        </p:spPr>
        <p:txBody>
          <a:bodyPr wrap="square" lIns="0" rIns="0" tIns="0" bIns="0" anchor="t">
            <a:spAutoFit/>
          </a:bodyPr>
          <a:lstStyle/>
          <a:p>
            <a:pPr algn="l">
              <a:lnSpc>
                <a:spcPct val="100000"/>
              </a:lnSpc>
            </a:pPr>
            <a:r>
              <a:rPr sz="950" b="0" i="0">
                <a:solidFill>
                  <a:srgbClr val="B8561F"/>
                </a:solidFill>
                <a:latin typeface="Consolas"/>
              </a:rPr>
              <a:t>propose, flag_listing, apply_approved</a:t>
            </a:r>
          </a:p>
        </p:txBody>
      </p:sp>
      <p:cxnSp>
        <p:nvCxnSpPr>
          <p:cNvPr id="22" name="Connector 21"/>
          <p:cNvCxnSpPr/>
          <p:nvPr/>
        </p:nvCxnSpPr>
        <p:spPr>
          <a:xfrm>
            <a:off x="7132320" y="3200400"/>
            <a:ext cx="182880" cy="0"/>
          </a:xfrm>
          <a:prstGeom prst="line">
            <a:avLst/>
          </a:prstGeom>
          <a:ln w="25400">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24344" y="2377440"/>
            <a:ext cx="2057400" cy="1783080"/>
          </a:xfrm>
          <a:prstGeom prst="roundRect">
            <a:avLst>
              <a:gd name="adj" fmla="val 3076"/>
            </a:avLst>
          </a:prstGeom>
          <a:solidFill>
            <a:srgbClr val="FBF8F1"/>
          </a:solidFill>
          <a:ln w="9525">
            <a:solidFill>
              <a:srgbClr val="E2D8C6"/>
            </a:solidFill>
          </a:ln>
          <a:effectLst/>
        </p:spPr>
        <p:txBody>
          <a:bodyPr rtlCol="0" anchor="ctr"/>
          <a:lstStyle/>
          <a:p>
            <a:pPr algn="ctr"/>
          </a:p>
        </p:txBody>
      </p:sp>
      <p:sp>
        <p:nvSpPr>
          <p:cNvPr id="24" name="TextBox 23"/>
          <p:cNvSpPr txBox="1"/>
          <p:nvPr/>
        </p:nvSpPr>
        <p:spPr>
          <a:xfrm>
            <a:off x="7461504" y="2468880"/>
            <a:ext cx="1783080" cy="274320"/>
          </a:xfrm>
          <a:prstGeom prst="rect">
            <a:avLst/>
          </a:prstGeom>
          <a:noFill/>
        </p:spPr>
        <p:txBody>
          <a:bodyPr wrap="square" lIns="0" rIns="0" tIns="0" bIns="0" anchor="t">
            <a:spAutoFit/>
          </a:bodyPr>
          <a:lstStyle/>
          <a:p>
            <a:pPr algn="l">
              <a:lnSpc>
                <a:spcPct val="100000"/>
              </a:lnSpc>
            </a:pPr>
            <a:r>
              <a:rPr sz="1500" b="1" i="0">
                <a:solidFill>
                  <a:srgbClr val="3F5A2E"/>
                </a:solidFill>
                <a:latin typeface="Calibri"/>
              </a:rPr>
              <a:t>4  Verify</a:t>
            </a:r>
          </a:p>
        </p:txBody>
      </p:sp>
      <p:sp>
        <p:nvSpPr>
          <p:cNvPr id="25" name="TextBox 24"/>
          <p:cNvSpPr txBox="1"/>
          <p:nvPr/>
        </p:nvSpPr>
        <p:spPr>
          <a:xfrm>
            <a:off x="7461504" y="2788920"/>
            <a:ext cx="1783080" cy="868680"/>
          </a:xfrm>
          <a:prstGeom prst="rect">
            <a:avLst/>
          </a:prstGeom>
          <a:noFill/>
        </p:spPr>
        <p:txBody>
          <a:bodyPr wrap="square" lIns="0" rIns="0" tIns="0" bIns="0" anchor="t">
            <a:spAutoFit/>
          </a:bodyPr>
          <a:lstStyle/>
          <a:p>
            <a:pPr algn="l">
              <a:lnSpc>
                <a:spcPct val="100000"/>
              </a:lnSpc>
            </a:pPr>
            <a:r>
              <a:rPr sz="1150" b="0" i="0">
                <a:solidFill>
                  <a:srgbClr val="6A5E51"/>
                </a:solidFill>
                <a:latin typeface="Calibri"/>
              </a:rPr>
              <a:t>Reloads the page. VERIFIED only if the approved value is really there.</a:t>
            </a:r>
          </a:p>
        </p:txBody>
      </p:sp>
      <p:sp>
        <p:nvSpPr>
          <p:cNvPr id="26" name="TextBox 25"/>
          <p:cNvSpPr txBox="1"/>
          <p:nvPr/>
        </p:nvSpPr>
        <p:spPr>
          <a:xfrm>
            <a:off x="7461504" y="3730752"/>
            <a:ext cx="1783080" cy="384048"/>
          </a:xfrm>
          <a:prstGeom prst="rect">
            <a:avLst/>
          </a:prstGeom>
          <a:noFill/>
        </p:spPr>
        <p:txBody>
          <a:bodyPr wrap="square" lIns="0" rIns="0" tIns="0" bIns="0" anchor="t">
            <a:spAutoFit/>
          </a:bodyPr>
          <a:lstStyle/>
          <a:p>
            <a:pPr algn="l">
              <a:lnSpc>
                <a:spcPct val="100000"/>
              </a:lnSpc>
            </a:pPr>
            <a:r>
              <a:rPr sz="950" b="0" i="0">
                <a:solidFill>
                  <a:srgbClr val="B8561F"/>
                </a:solidFill>
                <a:latin typeface="Consolas"/>
              </a:rPr>
              <a:t>reload_and_verify</a:t>
            </a:r>
          </a:p>
        </p:txBody>
      </p:sp>
      <p:cxnSp>
        <p:nvCxnSpPr>
          <p:cNvPr id="27" name="Connector 26"/>
          <p:cNvCxnSpPr/>
          <p:nvPr/>
        </p:nvCxnSpPr>
        <p:spPr>
          <a:xfrm>
            <a:off x="9390888" y="3200400"/>
            <a:ext cx="182880" cy="0"/>
          </a:xfrm>
          <a:prstGeom prst="line">
            <a:avLst/>
          </a:prstGeom>
          <a:ln w="25400">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582912" y="2377440"/>
            <a:ext cx="2057400" cy="1783080"/>
          </a:xfrm>
          <a:prstGeom prst="roundRect">
            <a:avLst>
              <a:gd name="adj" fmla="val 3076"/>
            </a:avLst>
          </a:prstGeom>
          <a:solidFill>
            <a:srgbClr val="FBF8F1"/>
          </a:solidFill>
          <a:ln w="9525">
            <a:solidFill>
              <a:srgbClr val="E2D8C6"/>
            </a:solidFill>
          </a:ln>
          <a:effectLst/>
        </p:spPr>
        <p:txBody>
          <a:bodyPr rtlCol="0" anchor="ctr"/>
          <a:lstStyle/>
          <a:p>
            <a:pPr algn="ctr"/>
          </a:p>
        </p:txBody>
      </p:sp>
      <p:sp>
        <p:nvSpPr>
          <p:cNvPr id="29" name="TextBox 28"/>
          <p:cNvSpPr txBox="1"/>
          <p:nvPr/>
        </p:nvSpPr>
        <p:spPr>
          <a:xfrm>
            <a:off x="9720072" y="2468880"/>
            <a:ext cx="1783080" cy="274320"/>
          </a:xfrm>
          <a:prstGeom prst="rect">
            <a:avLst/>
          </a:prstGeom>
          <a:noFill/>
        </p:spPr>
        <p:txBody>
          <a:bodyPr wrap="square" lIns="0" rIns="0" tIns="0" bIns="0" anchor="t">
            <a:spAutoFit/>
          </a:bodyPr>
          <a:lstStyle/>
          <a:p>
            <a:pPr algn="l">
              <a:lnSpc>
                <a:spcPct val="100000"/>
              </a:lnSpc>
            </a:pPr>
            <a:r>
              <a:rPr sz="1500" b="1" i="0">
                <a:solidFill>
                  <a:srgbClr val="3F5A2E"/>
                </a:solidFill>
                <a:latin typeface="Calibri"/>
              </a:rPr>
              <a:t>5  Recover</a:t>
            </a:r>
          </a:p>
        </p:txBody>
      </p:sp>
      <p:sp>
        <p:nvSpPr>
          <p:cNvPr id="30" name="TextBox 29"/>
          <p:cNvSpPr txBox="1"/>
          <p:nvPr/>
        </p:nvSpPr>
        <p:spPr>
          <a:xfrm>
            <a:off x="9720072" y="2788920"/>
            <a:ext cx="1783080" cy="868680"/>
          </a:xfrm>
          <a:prstGeom prst="rect">
            <a:avLst/>
          </a:prstGeom>
          <a:noFill/>
        </p:spPr>
        <p:txBody>
          <a:bodyPr wrap="square" lIns="0" rIns="0" tIns="0" bIns="0" anchor="t">
            <a:spAutoFit/>
          </a:bodyPr>
          <a:lstStyle/>
          <a:p>
            <a:pPr algn="l">
              <a:lnSpc>
                <a:spcPct val="100000"/>
              </a:lnSpc>
            </a:pPr>
            <a:r>
              <a:rPr sz="1150" b="0" i="0">
                <a:solidFill>
                  <a:srgbClr val="6A5E51"/>
                </a:solidFill>
                <a:latin typeface="Calibri"/>
              </a:rPr>
              <a:t>Page changed? Site down? Edit dropped? Re-ask, retry, or re-send once.</a:t>
            </a:r>
          </a:p>
        </p:txBody>
      </p:sp>
      <p:sp>
        <p:nvSpPr>
          <p:cNvPr id="31" name="TextBox 30"/>
          <p:cNvSpPr txBox="1"/>
          <p:nvPr/>
        </p:nvSpPr>
        <p:spPr>
          <a:xfrm>
            <a:off x="9720072" y="3730752"/>
            <a:ext cx="1783080" cy="384048"/>
          </a:xfrm>
          <a:prstGeom prst="rect">
            <a:avLst/>
          </a:prstGeom>
          <a:noFill/>
        </p:spPr>
        <p:txBody>
          <a:bodyPr wrap="square" lIns="0" rIns="0" tIns="0" bIns="0" anchor="t">
            <a:spAutoFit/>
          </a:bodyPr>
          <a:lstStyle/>
          <a:p>
            <a:pPr algn="l">
              <a:lnSpc>
                <a:spcPct val="100000"/>
              </a:lnSpc>
            </a:pPr>
            <a:r>
              <a:rPr sz="950" b="0" i="0">
                <a:solidFill>
                  <a:srgbClr val="B8561F"/>
                </a:solidFill>
                <a:latin typeface="Consolas"/>
              </a:rPr>
              <a:t>same tools, new decision</a:t>
            </a:r>
          </a:p>
        </p:txBody>
      </p:sp>
      <p:cxnSp>
        <p:nvCxnSpPr>
          <p:cNvPr id="32" name="Connector 31"/>
          <p:cNvCxnSpPr/>
          <p:nvPr/>
        </p:nvCxnSpPr>
        <p:spPr>
          <a:xfrm>
            <a:off x="10611612" y="4160520"/>
            <a:ext cx="0" cy="246888"/>
          </a:xfrm>
          <a:prstGeom prst="line">
            <a:avLst/>
          </a:prstGeom>
          <a:ln w="22225">
            <a:solidFill>
              <a:srgbClr val="54733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3835908" y="4407408"/>
            <a:ext cx="6775704" cy="0"/>
          </a:xfrm>
          <a:prstGeom prst="line">
            <a:avLst/>
          </a:prstGeom>
          <a:ln w="22225">
            <a:solidFill>
              <a:srgbClr val="54733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835908" y="4178808"/>
            <a:ext cx="0" cy="228600"/>
          </a:xfrm>
          <a:prstGeom prst="line">
            <a:avLst/>
          </a:prstGeom>
          <a:ln w="22225">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110228" y="4443984"/>
            <a:ext cx="4572000" cy="228600"/>
          </a:xfrm>
          <a:prstGeom prst="rect">
            <a:avLst/>
          </a:prstGeom>
          <a:noFill/>
        </p:spPr>
        <p:txBody>
          <a:bodyPr wrap="square" lIns="0" rIns="0" tIns="0" bIns="0" anchor="t">
            <a:spAutoFit/>
          </a:bodyPr>
          <a:lstStyle/>
          <a:p>
            <a:pPr algn="l">
              <a:lnSpc>
                <a:spcPct val="100000"/>
              </a:lnSpc>
            </a:pPr>
            <a:r>
              <a:rPr sz="1050" b="0" i="0">
                <a:solidFill>
                  <a:srgbClr val="6A5E51"/>
                </a:solidFill>
                <a:latin typeface="Calibri"/>
              </a:rPr>
              <a:t>loops until nothing is left to do</a:t>
            </a:r>
          </a:p>
        </p:txBody>
      </p:sp>
      <p:sp>
        <p:nvSpPr>
          <p:cNvPr id="36" name="Rounded Rectangle 35"/>
          <p:cNvSpPr/>
          <p:nvPr/>
        </p:nvSpPr>
        <p:spPr>
          <a:xfrm>
            <a:off x="548640" y="4754880"/>
            <a:ext cx="7040880" cy="1554480"/>
          </a:xfrm>
          <a:prstGeom prst="roundRect">
            <a:avLst>
              <a:gd name="adj" fmla="val 3529"/>
            </a:avLst>
          </a:prstGeom>
          <a:solidFill>
            <a:srgbClr val="FBF8F1"/>
          </a:solidFill>
          <a:ln w="9525">
            <a:solidFill>
              <a:srgbClr val="E2D8C6"/>
            </a:solidFill>
          </a:ln>
          <a:effectLst/>
        </p:spPr>
        <p:txBody>
          <a:bodyPr rtlCol="0" anchor="ctr"/>
          <a:lstStyle/>
          <a:p>
            <a:pPr algn="ctr"/>
          </a:p>
        </p:txBody>
      </p:sp>
      <p:sp>
        <p:nvSpPr>
          <p:cNvPr id="37" name="TextBox 36"/>
          <p:cNvSpPr txBox="1"/>
          <p:nvPr/>
        </p:nvSpPr>
        <p:spPr>
          <a:xfrm>
            <a:off x="731520" y="4828032"/>
            <a:ext cx="6400800" cy="237744"/>
          </a:xfrm>
          <a:prstGeom prst="rect">
            <a:avLst/>
          </a:prstGeom>
          <a:noFill/>
        </p:spPr>
        <p:txBody>
          <a:bodyPr wrap="square" lIns="0" rIns="0" tIns="0" bIns="0" anchor="t">
            <a:spAutoFit/>
          </a:bodyPr>
          <a:lstStyle/>
          <a:p>
            <a:pPr algn="l">
              <a:lnSpc>
                <a:spcPct val="100000"/>
              </a:lnSpc>
            </a:pPr>
            <a:r>
              <a:rPr sz="1050" b="1" i="0" spc="100">
                <a:solidFill>
                  <a:srgbClr val="B8561F"/>
                </a:solidFill>
                <a:latin typeface="Calibri"/>
              </a:rPr>
              <a:t>EIGHT TOOLS, ONE REGISTRY</a:t>
            </a:r>
          </a:p>
        </p:txBody>
      </p:sp>
      <p:sp>
        <p:nvSpPr>
          <p:cNvPr id="38" name="Rounded Rectangle 37"/>
          <p:cNvSpPr/>
          <p:nvPr/>
        </p:nvSpPr>
        <p:spPr>
          <a:xfrm>
            <a:off x="731520" y="5102352"/>
            <a:ext cx="1572768" cy="548640"/>
          </a:xfrm>
          <a:prstGeom prst="roundRect">
            <a:avLst>
              <a:gd name="adj" fmla="val 10000"/>
            </a:avLst>
          </a:prstGeom>
          <a:solidFill>
            <a:srgbClr val="F4EEE3"/>
          </a:solidFill>
          <a:ln w="9525">
            <a:solidFill>
              <a:srgbClr val="E2D8C6"/>
            </a:solidFill>
          </a:ln>
          <a:effectLst/>
        </p:spPr>
        <p:txBody>
          <a:bodyPr rtlCol="0" anchor="ctr"/>
          <a:lstStyle/>
          <a:p>
            <a:pPr algn="ctr"/>
          </a:p>
        </p:txBody>
      </p:sp>
      <p:sp>
        <p:nvSpPr>
          <p:cNvPr id="39" name="TextBox 38"/>
          <p:cNvSpPr txBox="1"/>
          <p:nvPr/>
        </p:nvSpPr>
        <p:spPr>
          <a:xfrm>
            <a:off x="804672" y="5157216"/>
            <a:ext cx="1444752" cy="228600"/>
          </a:xfrm>
          <a:prstGeom prst="rect">
            <a:avLst/>
          </a:prstGeom>
          <a:noFill/>
        </p:spPr>
        <p:txBody>
          <a:bodyPr wrap="square" lIns="0" rIns="0" tIns="0" bIns="0" anchor="t">
            <a:spAutoFit/>
          </a:bodyPr>
          <a:lstStyle/>
          <a:p>
            <a:pPr algn="l">
              <a:lnSpc>
                <a:spcPct val="100000"/>
              </a:lnSpc>
            </a:pPr>
            <a:r>
              <a:rPr sz="1050" b="1" i="0">
                <a:solidFill>
                  <a:srgbClr val="3F5A2E"/>
                </a:solidFill>
                <a:latin typeface="Consolas"/>
              </a:rPr>
              <a:t>read_listing</a:t>
            </a:r>
          </a:p>
        </p:txBody>
      </p:sp>
      <p:sp>
        <p:nvSpPr>
          <p:cNvPr id="40" name="TextBox 39"/>
          <p:cNvSpPr txBox="1"/>
          <p:nvPr/>
        </p:nvSpPr>
        <p:spPr>
          <a:xfrm>
            <a:off x="804672" y="5394960"/>
            <a:ext cx="1444752"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page + dashboard</a:t>
            </a:r>
          </a:p>
        </p:txBody>
      </p:sp>
      <p:sp>
        <p:nvSpPr>
          <p:cNvPr id="41" name="Rounded Rectangle 40"/>
          <p:cNvSpPr/>
          <p:nvPr/>
        </p:nvSpPr>
        <p:spPr>
          <a:xfrm>
            <a:off x="2395728" y="5102352"/>
            <a:ext cx="1572768" cy="548640"/>
          </a:xfrm>
          <a:prstGeom prst="roundRect">
            <a:avLst>
              <a:gd name="adj" fmla="val 10000"/>
            </a:avLst>
          </a:prstGeom>
          <a:solidFill>
            <a:srgbClr val="F4EEE3"/>
          </a:solidFill>
          <a:ln w="9525">
            <a:solidFill>
              <a:srgbClr val="E2D8C6"/>
            </a:solidFill>
          </a:ln>
          <a:effectLst/>
        </p:spPr>
        <p:txBody>
          <a:bodyPr rtlCol="0" anchor="ctr"/>
          <a:lstStyle/>
          <a:p>
            <a:pPr algn="ctr"/>
          </a:p>
        </p:txBody>
      </p:sp>
      <p:sp>
        <p:nvSpPr>
          <p:cNvPr id="42" name="TextBox 41"/>
          <p:cNvSpPr txBox="1"/>
          <p:nvPr/>
        </p:nvSpPr>
        <p:spPr>
          <a:xfrm>
            <a:off x="2468880" y="5157216"/>
            <a:ext cx="1444752" cy="228600"/>
          </a:xfrm>
          <a:prstGeom prst="rect">
            <a:avLst/>
          </a:prstGeom>
          <a:noFill/>
        </p:spPr>
        <p:txBody>
          <a:bodyPr wrap="square" lIns="0" rIns="0" tIns="0" bIns="0" anchor="t">
            <a:spAutoFit/>
          </a:bodyPr>
          <a:lstStyle/>
          <a:p>
            <a:pPr algn="l">
              <a:lnSpc>
                <a:spcPct val="100000"/>
              </a:lnSpc>
            </a:pPr>
            <a:r>
              <a:rPr sz="1050" b="1" i="0">
                <a:solidFill>
                  <a:srgbClr val="3F5A2E"/>
                </a:solidFill>
                <a:latin typeface="Consolas"/>
              </a:rPr>
              <a:t>normalise</a:t>
            </a:r>
          </a:p>
        </p:txBody>
      </p:sp>
      <p:sp>
        <p:nvSpPr>
          <p:cNvPr id="43" name="TextBox 42"/>
          <p:cNvSpPr txBox="1"/>
          <p:nvPr/>
        </p:nvSpPr>
        <p:spPr>
          <a:xfrm>
            <a:off x="2468880" y="5394960"/>
            <a:ext cx="1444752"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E.164, address, hours</a:t>
            </a:r>
          </a:p>
        </p:txBody>
      </p:sp>
      <p:sp>
        <p:nvSpPr>
          <p:cNvPr id="44" name="Rounded Rectangle 43"/>
          <p:cNvSpPr/>
          <p:nvPr/>
        </p:nvSpPr>
        <p:spPr>
          <a:xfrm>
            <a:off x="4059936" y="5102352"/>
            <a:ext cx="1572768" cy="548640"/>
          </a:xfrm>
          <a:prstGeom prst="roundRect">
            <a:avLst>
              <a:gd name="adj" fmla="val 10000"/>
            </a:avLst>
          </a:prstGeom>
          <a:solidFill>
            <a:srgbClr val="F4EEE3"/>
          </a:solidFill>
          <a:ln w="9525">
            <a:solidFill>
              <a:srgbClr val="E2D8C6"/>
            </a:solidFill>
          </a:ln>
          <a:effectLst/>
        </p:spPr>
        <p:txBody>
          <a:bodyPr rtlCol="0" anchor="ctr"/>
          <a:lstStyle/>
          <a:p>
            <a:pPr algn="ctr"/>
          </a:p>
        </p:txBody>
      </p:sp>
      <p:sp>
        <p:nvSpPr>
          <p:cNvPr id="45" name="TextBox 44"/>
          <p:cNvSpPr txBox="1"/>
          <p:nvPr/>
        </p:nvSpPr>
        <p:spPr>
          <a:xfrm>
            <a:off x="4133088" y="5157216"/>
            <a:ext cx="1444752" cy="228600"/>
          </a:xfrm>
          <a:prstGeom prst="rect">
            <a:avLst/>
          </a:prstGeom>
          <a:noFill/>
        </p:spPr>
        <p:txBody>
          <a:bodyPr wrap="square" lIns="0" rIns="0" tIns="0" bIns="0" anchor="t">
            <a:spAutoFit/>
          </a:bodyPr>
          <a:lstStyle/>
          <a:p>
            <a:pPr algn="l">
              <a:lnSpc>
                <a:spcPct val="100000"/>
              </a:lnSpc>
            </a:pPr>
            <a:r>
              <a:rPr sz="1050" b="1" i="0">
                <a:solidFill>
                  <a:srgbClr val="3F5A2E"/>
                </a:solidFill>
                <a:latin typeface="Consolas"/>
              </a:rPr>
              <a:t>compare</a:t>
            </a:r>
          </a:p>
        </p:txBody>
      </p:sp>
      <p:sp>
        <p:nvSpPr>
          <p:cNvPr id="46" name="TextBox 45"/>
          <p:cNvSpPr txBox="1"/>
          <p:nvPr/>
        </p:nvSpPr>
        <p:spPr>
          <a:xfrm>
            <a:off x="4133088" y="5394960"/>
            <a:ext cx="1444752"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meaning per field</a:t>
            </a:r>
          </a:p>
        </p:txBody>
      </p:sp>
      <p:sp>
        <p:nvSpPr>
          <p:cNvPr id="47" name="Rounded Rectangle 46"/>
          <p:cNvSpPr/>
          <p:nvPr/>
        </p:nvSpPr>
        <p:spPr>
          <a:xfrm>
            <a:off x="5724144" y="5102352"/>
            <a:ext cx="1572768" cy="548640"/>
          </a:xfrm>
          <a:prstGeom prst="roundRect">
            <a:avLst>
              <a:gd name="adj" fmla="val 10000"/>
            </a:avLst>
          </a:prstGeom>
          <a:solidFill>
            <a:srgbClr val="F4EEE3"/>
          </a:solidFill>
          <a:ln w="9525">
            <a:solidFill>
              <a:srgbClr val="E2D8C6"/>
            </a:solidFill>
          </a:ln>
          <a:effectLst/>
        </p:spPr>
        <p:txBody>
          <a:bodyPr rtlCol="0" anchor="ctr"/>
          <a:lstStyle/>
          <a:p>
            <a:pPr algn="ctr"/>
          </a:p>
        </p:txBody>
      </p:sp>
      <p:sp>
        <p:nvSpPr>
          <p:cNvPr id="48" name="TextBox 47"/>
          <p:cNvSpPr txBox="1"/>
          <p:nvPr/>
        </p:nvSpPr>
        <p:spPr>
          <a:xfrm>
            <a:off x="5797296" y="5157216"/>
            <a:ext cx="1444752" cy="228600"/>
          </a:xfrm>
          <a:prstGeom prst="rect">
            <a:avLst/>
          </a:prstGeom>
          <a:noFill/>
        </p:spPr>
        <p:txBody>
          <a:bodyPr wrap="square" lIns="0" rIns="0" tIns="0" bIns="0" anchor="t">
            <a:spAutoFit/>
          </a:bodyPr>
          <a:lstStyle/>
          <a:p>
            <a:pPr algn="l">
              <a:lnSpc>
                <a:spcPct val="100000"/>
              </a:lnSpc>
            </a:pPr>
            <a:r>
              <a:rPr sz="1050" b="1" i="0">
                <a:solidFill>
                  <a:srgbClr val="3F5A2E"/>
                </a:solidFill>
                <a:latin typeface="Consolas"/>
              </a:rPr>
              <a:t>propose</a:t>
            </a:r>
          </a:p>
        </p:txBody>
      </p:sp>
      <p:sp>
        <p:nvSpPr>
          <p:cNvPr id="49" name="TextBox 48"/>
          <p:cNvSpPr txBox="1"/>
          <p:nvPr/>
        </p:nvSpPr>
        <p:spPr>
          <a:xfrm>
            <a:off x="5797296" y="5394960"/>
            <a:ext cx="1444752"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one card per fix</a:t>
            </a:r>
          </a:p>
        </p:txBody>
      </p:sp>
      <p:sp>
        <p:nvSpPr>
          <p:cNvPr id="50" name="Rounded Rectangle 49"/>
          <p:cNvSpPr/>
          <p:nvPr/>
        </p:nvSpPr>
        <p:spPr>
          <a:xfrm>
            <a:off x="731520" y="5705856"/>
            <a:ext cx="1572768" cy="548640"/>
          </a:xfrm>
          <a:prstGeom prst="roundRect">
            <a:avLst>
              <a:gd name="adj" fmla="val 10000"/>
            </a:avLst>
          </a:prstGeom>
          <a:solidFill>
            <a:srgbClr val="F4EEE3"/>
          </a:solidFill>
          <a:ln w="9525">
            <a:solidFill>
              <a:srgbClr val="E2D8C6"/>
            </a:solidFill>
          </a:ln>
          <a:effectLst/>
        </p:spPr>
        <p:txBody>
          <a:bodyPr rtlCol="0" anchor="ctr"/>
          <a:lstStyle/>
          <a:p>
            <a:pPr algn="ctr"/>
          </a:p>
        </p:txBody>
      </p:sp>
      <p:sp>
        <p:nvSpPr>
          <p:cNvPr id="51" name="TextBox 50"/>
          <p:cNvSpPr txBox="1"/>
          <p:nvPr/>
        </p:nvSpPr>
        <p:spPr>
          <a:xfrm>
            <a:off x="804672" y="5760720"/>
            <a:ext cx="1444752" cy="228600"/>
          </a:xfrm>
          <a:prstGeom prst="rect">
            <a:avLst/>
          </a:prstGeom>
          <a:noFill/>
        </p:spPr>
        <p:txBody>
          <a:bodyPr wrap="square" lIns="0" rIns="0" tIns="0" bIns="0" anchor="t">
            <a:spAutoFit/>
          </a:bodyPr>
          <a:lstStyle/>
          <a:p>
            <a:pPr algn="l">
              <a:lnSpc>
                <a:spcPct val="100000"/>
              </a:lnSpc>
            </a:pPr>
            <a:r>
              <a:rPr sz="1050" b="1" i="0">
                <a:solidFill>
                  <a:srgbClr val="3F5A2E"/>
                </a:solidFill>
                <a:latin typeface="Consolas"/>
              </a:rPr>
              <a:t>apply_approved</a:t>
            </a:r>
          </a:p>
        </p:txBody>
      </p:sp>
      <p:sp>
        <p:nvSpPr>
          <p:cNvPr id="52" name="TextBox 51"/>
          <p:cNvSpPr txBox="1"/>
          <p:nvPr/>
        </p:nvSpPr>
        <p:spPr>
          <a:xfrm>
            <a:off x="804672" y="5998464"/>
            <a:ext cx="1444752"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approved rows only</a:t>
            </a:r>
          </a:p>
        </p:txBody>
      </p:sp>
      <p:sp>
        <p:nvSpPr>
          <p:cNvPr id="53" name="Rounded Rectangle 52"/>
          <p:cNvSpPr/>
          <p:nvPr/>
        </p:nvSpPr>
        <p:spPr>
          <a:xfrm>
            <a:off x="2395728" y="5705856"/>
            <a:ext cx="1572768" cy="548640"/>
          </a:xfrm>
          <a:prstGeom prst="roundRect">
            <a:avLst>
              <a:gd name="adj" fmla="val 10000"/>
            </a:avLst>
          </a:prstGeom>
          <a:solidFill>
            <a:srgbClr val="F4EEE3"/>
          </a:solidFill>
          <a:ln w="9525">
            <a:solidFill>
              <a:srgbClr val="E2D8C6"/>
            </a:solidFill>
          </a:ln>
          <a:effectLst/>
        </p:spPr>
        <p:txBody>
          <a:bodyPr rtlCol="0" anchor="ctr"/>
          <a:lstStyle/>
          <a:p>
            <a:pPr algn="ctr"/>
          </a:p>
        </p:txBody>
      </p:sp>
      <p:sp>
        <p:nvSpPr>
          <p:cNvPr id="54" name="TextBox 53"/>
          <p:cNvSpPr txBox="1"/>
          <p:nvPr/>
        </p:nvSpPr>
        <p:spPr>
          <a:xfrm>
            <a:off x="2468880" y="5760720"/>
            <a:ext cx="1444752" cy="228600"/>
          </a:xfrm>
          <a:prstGeom prst="rect">
            <a:avLst/>
          </a:prstGeom>
          <a:noFill/>
        </p:spPr>
        <p:txBody>
          <a:bodyPr wrap="square" lIns="0" rIns="0" tIns="0" bIns="0" anchor="t">
            <a:spAutoFit/>
          </a:bodyPr>
          <a:lstStyle/>
          <a:p>
            <a:pPr algn="l">
              <a:lnSpc>
                <a:spcPct val="100000"/>
              </a:lnSpc>
            </a:pPr>
            <a:r>
              <a:rPr sz="1050" b="1" i="0">
                <a:solidFill>
                  <a:srgbClr val="3F5A2E"/>
                </a:solidFill>
                <a:latin typeface="Consolas"/>
              </a:rPr>
              <a:t>reload_and_verify</a:t>
            </a:r>
          </a:p>
        </p:txBody>
      </p:sp>
      <p:sp>
        <p:nvSpPr>
          <p:cNvPr id="55" name="TextBox 54"/>
          <p:cNvSpPr txBox="1"/>
          <p:nvPr/>
        </p:nvSpPr>
        <p:spPr>
          <a:xfrm>
            <a:off x="2468880" y="5998464"/>
            <a:ext cx="1444752"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checks the live page</a:t>
            </a:r>
          </a:p>
        </p:txBody>
      </p:sp>
      <p:sp>
        <p:nvSpPr>
          <p:cNvPr id="56" name="Rounded Rectangle 55"/>
          <p:cNvSpPr/>
          <p:nvPr/>
        </p:nvSpPr>
        <p:spPr>
          <a:xfrm>
            <a:off x="4059936" y="5705856"/>
            <a:ext cx="1572768" cy="548640"/>
          </a:xfrm>
          <a:prstGeom prst="roundRect">
            <a:avLst>
              <a:gd name="adj" fmla="val 10000"/>
            </a:avLst>
          </a:prstGeom>
          <a:solidFill>
            <a:srgbClr val="F4EEE3"/>
          </a:solidFill>
          <a:ln w="9525">
            <a:solidFill>
              <a:srgbClr val="E2D8C6"/>
            </a:solidFill>
          </a:ln>
          <a:effectLst/>
        </p:spPr>
        <p:txBody>
          <a:bodyPr rtlCol="0" anchor="ctr"/>
          <a:lstStyle/>
          <a:p>
            <a:pPr algn="ctr"/>
          </a:p>
        </p:txBody>
      </p:sp>
      <p:sp>
        <p:nvSpPr>
          <p:cNvPr id="57" name="TextBox 56"/>
          <p:cNvSpPr txBox="1"/>
          <p:nvPr/>
        </p:nvSpPr>
        <p:spPr>
          <a:xfrm>
            <a:off x="4133088" y="5760720"/>
            <a:ext cx="1444752" cy="228600"/>
          </a:xfrm>
          <a:prstGeom prst="rect">
            <a:avLst/>
          </a:prstGeom>
          <a:noFill/>
        </p:spPr>
        <p:txBody>
          <a:bodyPr wrap="square" lIns="0" rIns="0" tIns="0" bIns="0" anchor="t">
            <a:spAutoFit/>
          </a:bodyPr>
          <a:lstStyle/>
          <a:p>
            <a:pPr algn="l">
              <a:lnSpc>
                <a:spcPct val="100000"/>
              </a:lnSpc>
            </a:pPr>
            <a:r>
              <a:rPr sz="1050" b="1" i="0">
                <a:solidFill>
                  <a:srgbClr val="3F5A2E"/>
                </a:solidFill>
                <a:latin typeface="Consolas"/>
              </a:rPr>
              <a:t>flag_listing</a:t>
            </a:r>
          </a:p>
        </p:txBody>
      </p:sp>
      <p:sp>
        <p:nvSpPr>
          <p:cNvPr id="58" name="TextBox 57"/>
          <p:cNvSpPr txBox="1"/>
          <p:nvPr/>
        </p:nvSpPr>
        <p:spPr>
          <a:xfrm>
            <a:off x="4133088" y="5998464"/>
            <a:ext cx="1444752"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not ours: no write</a:t>
            </a:r>
          </a:p>
        </p:txBody>
      </p:sp>
      <p:sp>
        <p:nvSpPr>
          <p:cNvPr id="59" name="Rounded Rectangle 58"/>
          <p:cNvSpPr/>
          <p:nvPr/>
        </p:nvSpPr>
        <p:spPr>
          <a:xfrm>
            <a:off x="5724144" y="5705856"/>
            <a:ext cx="1572768" cy="548640"/>
          </a:xfrm>
          <a:prstGeom prst="roundRect">
            <a:avLst>
              <a:gd name="adj" fmla="val 10000"/>
            </a:avLst>
          </a:prstGeom>
          <a:solidFill>
            <a:srgbClr val="F4EEE3"/>
          </a:solidFill>
          <a:ln w="9525">
            <a:solidFill>
              <a:srgbClr val="E2D8C6"/>
            </a:solidFill>
          </a:ln>
          <a:effectLst/>
        </p:spPr>
        <p:txBody>
          <a:bodyPr rtlCol="0" anchor="ctr"/>
          <a:lstStyle/>
          <a:p>
            <a:pPr algn="ctr"/>
          </a:p>
        </p:txBody>
      </p:sp>
      <p:sp>
        <p:nvSpPr>
          <p:cNvPr id="60" name="TextBox 59"/>
          <p:cNvSpPr txBox="1"/>
          <p:nvPr/>
        </p:nvSpPr>
        <p:spPr>
          <a:xfrm>
            <a:off x="5797296" y="5760720"/>
            <a:ext cx="1444752" cy="228600"/>
          </a:xfrm>
          <a:prstGeom prst="rect">
            <a:avLst/>
          </a:prstGeom>
          <a:noFill/>
        </p:spPr>
        <p:txBody>
          <a:bodyPr wrap="square" lIns="0" rIns="0" tIns="0" bIns="0" anchor="t">
            <a:spAutoFit/>
          </a:bodyPr>
          <a:lstStyle/>
          <a:p>
            <a:pPr algn="l">
              <a:lnSpc>
                <a:spcPct val="100000"/>
              </a:lnSpc>
            </a:pPr>
            <a:r>
              <a:rPr sz="1050" b="1" i="0">
                <a:solidFill>
                  <a:srgbClr val="3F5A2E"/>
                </a:solidFill>
                <a:latin typeface="Consolas"/>
              </a:rPr>
              <a:t>ask_owner</a:t>
            </a:r>
          </a:p>
        </p:txBody>
      </p:sp>
      <p:sp>
        <p:nvSpPr>
          <p:cNvPr id="61" name="TextBox 60"/>
          <p:cNvSpPr txBox="1"/>
          <p:nvPr/>
        </p:nvSpPr>
        <p:spPr>
          <a:xfrm>
            <a:off x="5797296" y="5998464"/>
            <a:ext cx="1444752"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asks for approval</a:t>
            </a:r>
          </a:p>
        </p:txBody>
      </p:sp>
      <p:sp>
        <p:nvSpPr>
          <p:cNvPr id="62" name="Rounded Rectangle 61"/>
          <p:cNvSpPr/>
          <p:nvPr/>
        </p:nvSpPr>
        <p:spPr>
          <a:xfrm>
            <a:off x="7772400" y="4754880"/>
            <a:ext cx="3870655" cy="1554480"/>
          </a:xfrm>
          <a:prstGeom prst="roundRect">
            <a:avLst>
              <a:gd name="adj" fmla="val 3529"/>
            </a:avLst>
          </a:prstGeom>
          <a:solidFill>
            <a:srgbClr val="FBF8F1"/>
          </a:solidFill>
          <a:ln w="9525">
            <a:solidFill>
              <a:srgbClr val="E2D8C6"/>
            </a:solidFill>
          </a:ln>
          <a:effectLst/>
        </p:spPr>
        <p:txBody>
          <a:bodyPr rtlCol="0" anchor="ctr"/>
          <a:lstStyle/>
          <a:p>
            <a:pPr algn="ctr"/>
          </a:p>
        </p:txBody>
      </p:sp>
      <p:sp>
        <p:nvSpPr>
          <p:cNvPr id="63" name="TextBox 62"/>
          <p:cNvSpPr txBox="1"/>
          <p:nvPr/>
        </p:nvSpPr>
        <p:spPr>
          <a:xfrm>
            <a:off x="7936992" y="4919472"/>
            <a:ext cx="3541471" cy="231648"/>
          </a:xfrm>
          <a:prstGeom prst="rect">
            <a:avLst/>
          </a:prstGeom>
          <a:noFill/>
        </p:spPr>
        <p:txBody>
          <a:bodyPr wrap="square" lIns="0" rIns="0" tIns="0" bIns="0" anchor="t">
            <a:spAutoFit/>
          </a:bodyPr>
          <a:lstStyle/>
          <a:p>
            <a:pPr algn="l">
              <a:lnSpc>
                <a:spcPct val="100000"/>
              </a:lnSpc>
            </a:pPr>
            <a:r>
              <a:rPr sz="1400" b="1" i="0">
                <a:solidFill>
                  <a:srgbClr val="3A312A"/>
                </a:solidFill>
                <a:latin typeface="Calibri"/>
              </a:rPr>
              <a:t>Who decides each step?</a:t>
            </a:r>
          </a:p>
        </p:txBody>
      </p:sp>
      <p:sp>
        <p:nvSpPr>
          <p:cNvPr id="64" name="TextBox 63"/>
          <p:cNvSpPr txBox="1"/>
          <p:nvPr/>
        </p:nvSpPr>
        <p:spPr>
          <a:xfrm>
            <a:off x="7936992" y="5196840"/>
            <a:ext cx="3541471" cy="1013764"/>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A rules planner (default, no key needed) or an optional Gemini planner. Same tools, same guardrails. Each trace row carries a badge: Gemini, Deterministic, Fallback or Blocked.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3  ·  THE AGENTIC AI</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From plain-language request to verified result</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8</a:t>
            </a:r>
          </a:p>
        </p:txBody>
      </p:sp>
      <p:sp>
        <p:nvSpPr>
          <p:cNvPr id="6" name="Rounded Rectangle 5"/>
          <p:cNvSpPr/>
          <p:nvPr/>
        </p:nvSpPr>
        <p:spPr>
          <a:xfrm>
            <a:off x="548640" y="1554480"/>
            <a:ext cx="2651760" cy="4114800"/>
          </a:xfrm>
          <a:prstGeom prst="roundRect">
            <a:avLst>
              <a:gd name="adj" fmla="val 2068"/>
            </a:avLst>
          </a:prstGeom>
          <a:solidFill>
            <a:srgbClr val="FBF8F1"/>
          </a:solidFill>
          <a:ln w="9525">
            <a:solidFill>
              <a:srgbClr val="E2D8C6"/>
            </a:solidFill>
          </a:ln>
          <a:effectLst/>
        </p:spPr>
        <p:txBody>
          <a:bodyPr rtlCol="0" anchor="ctr"/>
          <a:lstStyle/>
          <a:p>
            <a:pPr algn="ctr"/>
          </a:p>
        </p:txBody>
      </p:sp>
      <p:sp>
        <p:nvSpPr>
          <p:cNvPr id="7" name="Rounded Rectangle 6"/>
          <p:cNvSpPr/>
          <p:nvPr/>
        </p:nvSpPr>
        <p:spPr>
          <a:xfrm>
            <a:off x="548640" y="1554480"/>
            <a:ext cx="2651760" cy="457200"/>
          </a:xfrm>
          <a:prstGeom prst="roundRect">
            <a:avLst>
              <a:gd name="adj" fmla="val 12000"/>
            </a:avLst>
          </a:prstGeom>
          <a:solidFill>
            <a:srgbClr val="54733F"/>
          </a:solidFill>
          <a:ln>
            <a:noFill/>
          </a:ln>
          <a:effectLst/>
        </p:spPr>
        <p:txBody>
          <a:bodyPr rtlCol="0" anchor="ctr"/>
          <a:lstStyle/>
          <a:p>
            <a:pPr algn="ctr"/>
          </a:p>
        </p:txBody>
      </p:sp>
      <p:sp>
        <p:nvSpPr>
          <p:cNvPr id="8" name="TextBox 7"/>
          <p:cNvSpPr txBox="1"/>
          <p:nvPr/>
        </p:nvSpPr>
        <p:spPr>
          <a:xfrm>
            <a:off x="685800" y="1554480"/>
            <a:ext cx="2377440" cy="457200"/>
          </a:xfrm>
          <a:prstGeom prst="rect">
            <a:avLst/>
          </a:prstGeom>
          <a:noFill/>
        </p:spPr>
        <p:txBody>
          <a:bodyPr wrap="square" lIns="0" rIns="0" tIns="0" bIns="0" anchor="ctr">
            <a:spAutoFit/>
          </a:bodyPr>
          <a:lstStyle/>
          <a:p>
            <a:pPr algn="l">
              <a:lnSpc>
                <a:spcPct val="100000"/>
              </a:lnSpc>
            </a:pPr>
            <a:r>
              <a:rPr sz="1400" b="1" i="0">
                <a:solidFill>
                  <a:srgbClr val="FBF8F1"/>
                </a:solidFill>
                <a:latin typeface="Calibri"/>
              </a:rPr>
              <a:t>Interprets requests</a:t>
            </a:r>
          </a:p>
        </p:txBody>
      </p:sp>
      <p:sp>
        <p:nvSpPr>
          <p:cNvPr id="9" name="TextBox 8"/>
          <p:cNvSpPr txBox="1"/>
          <p:nvPr/>
        </p:nvSpPr>
        <p:spPr>
          <a:xfrm>
            <a:off x="685800" y="2121408"/>
            <a:ext cx="2377440" cy="2697480"/>
          </a:xfrm>
          <a:prstGeom prst="rect">
            <a:avLst/>
          </a:prstGeom>
          <a:noFill/>
        </p:spPr>
        <p:txBody>
          <a:bodyPr wrap="square" lIns="0" rIns="0" tIns="0" bIns="0" anchor="t">
            <a:spAutoFit/>
          </a:bodyPr>
          <a:lstStyle/>
          <a:p>
            <a:pPr algn="l" marL="155448" indent="-155448">
              <a:lnSpc>
                <a:spcPct val="100000"/>
              </a:lnSpc>
              <a:spcAft>
                <a:spcPts val="500"/>
              </a:spcAft>
              <a:buChar char="•"/>
            </a:pPr>
            <a:r>
              <a:rPr sz="1150" b="0" i="0">
                <a:solidFill>
                  <a:srgbClr val="3A312A"/>
                </a:solidFill>
                <a:latin typeface="Calibri"/>
              </a:rPr>
              <a:t>Typed text becomes an intent: a question, a detail edit or a closure date.</a:t>
            </a:r>
          </a:p>
          <a:p>
            <a:pPr algn="l" marL="155448" indent="-155448">
              <a:lnSpc>
                <a:spcPct val="100000"/>
              </a:lnSpc>
              <a:spcAft>
                <a:spcPts val="500"/>
              </a:spcAft>
              <a:buChar char="•"/>
            </a:pPr>
            <a:r>
              <a:rPr sz="1150" b="0" i="0">
                <a:solidFill>
                  <a:srgbClr val="3A312A"/>
                </a:solidFill>
                <a:latin typeface="Calibri"/>
              </a:rPr>
              <a:t>chrono-node plus rules turn "26th December" into Sat 26 Dec 2026 (IST).</a:t>
            </a:r>
          </a:p>
          <a:p>
            <a:pPr algn="l" marL="155448" indent="-155448">
              <a:lnSpc>
                <a:spcPct val="100000"/>
              </a:lnSpc>
              <a:spcAft>
                <a:spcPts val="500"/>
              </a:spcAft>
              <a:buChar char="•"/>
            </a:pPr>
            <a:r>
              <a:rPr sz="1150" b="0" i="0">
                <a:solidFill>
                  <a:srgbClr val="3A312A"/>
                </a:solidFill>
                <a:latin typeface="Calibri"/>
              </a:rPr>
              <a:t>Unclear input gets exactly one clarifying question.</a:t>
            </a:r>
          </a:p>
          <a:p>
            <a:pPr algn="l" marL="155448" indent="-155448">
              <a:lnSpc>
                <a:spcPct val="100000"/>
              </a:lnSpc>
              <a:spcAft>
                <a:spcPts val="500"/>
              </a:spcAft>
              <a:buChar char="•"/>
            </a:pPr>
            <a:r>
              <a:rPr sz="1150" b="0" i="0">
                <a:solidFill>
                  <a:srgbClr val="3A312A"/>
                </a:solidFill>
                <a:latin typeface="Calibri"/>
              </a:rPr>
              <a:t>Optional Gemini cross-checks the reading; if it disagrees, the owner chooses.</a:t>
            </a:r>
          </a:p>
          <a:p>
            <a:pPr algn="l" marL="155448" indent="-155448">
              <a:lnSpc>
                <a:spcPct val="100000"/>
              </a:lnSpc>
              <a:buChar char="•"/>
            </a:pPr>
            <a:r>
              <a:rPr sz="1150" b="0" i="0">
                <a:solidFill>
                  <a:srgbClr val="3A312A"/>
                </a:solidFill>
                <a:latin typeface="Calibri"/>
              </a:rPr>
              <a:t>Nothing is saved before Confirm.</a:t>
            </a:r>
          </a:p>
        </p:txBody>
      </p:sp>
      <p:sp>
        <p:nvSpPr>
          <p:cNvPr id="10" name="Rounded Rectangle 9"/>
          <p:cNvSpPr/>
          <p:nvPr/>
        </p:nvSpPr>
        <p:spPr>
          <a:xfrm>
            <a:off x="658368" y="4892040"/>
            <a:ext cx="2432304" cy="658368"/>
          </a:xfrm>
          <a:prstGeom prst="roundRect">
            <a:avLst>
              <a:gd name="adj" fmla="val 8333"/>
            </a:avLst>
          </a:prstGeom>
          <a:solidFill>
            <a:srgbClr val="EBE2CF"/>
          </a:solidFill>
          <a:ln>
            <a:noFill/>
          </a:ln>
          <a:effectLst/>
        </p:spPr>
        <p:txBody>
          <a:bodyPr rtlCol="0" anchor="ctr"/>
          <a:lstStyle/>
          <a:p>
            <a:pPr algn="ctr"/>
          </a:p>
        </p:txBody>
      </p:sp>
      <p:sp>
        <p:nvSpPr>
          <p:cNvPr id="11" name="TextBox 10"/>
          <p:cNvSpPr txBox="1"/>
          <p:nvPr/>
        </p:nvSpPr>
        <p:spPr>
          <a:xfrm>
            <a:off x="731520" y="4919472"/>
            <a:ext cx="2286000" cy="603504"/>
          </a:xfrm>
          <a:prstGeom prst="rect">
            <a:avLst/>
          </a:prstGeom>
          <a:noFill/>
        </p:spPr>
        <p:txBody>
          <a:bodyPr wrap="square" lIns="0" rIns="0" tIns="0" bIns="0" anchor="ctr">
            <a:spAutoFit/>
          </a:bodyPr>
          <a:lstStyle/>
          <a:p>
            <a:pPr algn="l">
              <a:lnSpc>
                <a:spcPct val="100000"/>
              </a:lnSpc>
            </a:pPr>
            <a:r>
              <a:rPr sz="1050" b="1" i="0">
                <a:solidFill>
                  <a:srgbClr val="3F5A2E"/>
                </a:solidFill>
                <a:latin typeface="Calibri"/>
              </a:rPr>
              <a:t>"closed on 26th December"  &gt;  Action: Closed, Date: Sat 26 Dec 2026</a:t>
            </a:r>
          </a:p>
        </p:txBody>
      </p:sp>
      <p:sp>
        <p:nvSpPr>
          <p:cNvPr id="12" name="Rounded Rectangle 11"/>
          <p:cNvSpPr/>
          <p:nvPr/>
        </p:nvSpPr>
        <p:spPr>
          <a:xfrm>
            <a:off x="3362248" y="1554480"/>
            <a:ext cx="2651760" cy="4114800"/>
          </a:xfrm>
          <a:prstGeom prst="roundRect">
            <a:avLst>
              <a:gd name="adj" fmla="val 2068"/>
            </a:avLst>
          </a:prstGeom>
          <a:solidFill>
            <a:srgbClr val="FBF8F1"/>
          </a:solidFill>
          <a:ln w="9525">
            <a:solidFill>
              <a:srgbClr val="E2D8C6"/>
            </a:solidFill>
          </a:ln>
          <a:effectLst/>
        </p:spPr>
        <p:txBody>
          <a:bodyPr rtlCol="0" anchor="ctr"/>
          <a:lstStyle/>
          <a:p>
            <a:pPr algn="ctr"/>
          </a:p>
        </p:txBody>
      </p:sp>
      <p:sp>
        <p:nvSpPr>
          <p:cNvPr id="13" name="Rounded Rectangle 12"/>
          <p:cNvSpPr/>
          <p:nvPr/>
        </p:nvSpPr>
        <p:spPr>
          <a:xfrm>
            <a:off x="3362248" y="1554480"/>
            <a:ext cx="2651760" cy="457200"/>
          </a:xfrm>
          <a:prstGeom prst="roundRect">
            <a:avLst>
              <a:gd name="adj" fmla="val 12000"/>
            </a:avLst>
          </a:prstGeom>
          <a:solidFill>
            <a:srgbClr val="54733F"/>
          </a:solidFill>
          <a:ln>
            <a:noFill/>
          </a:ln>
          <a:effectLst/>
        </p:spPr>
        <p:txBody>
          <a:bodyPr rtlCol="0" anchor="ctr"/>
          <a:lstStyle/>
          <a:p>
            <a:pPr algn="ctr"/>
          </a:p>
        </p:txBody>
      </p:sp>
      <p:sp>
        <p:nvSpPr>
          <p:cNvPr id="14" name="TextBox 13"/>
          <p:cNvSpPr txBox="1"/>
          <p:nvPr/>
        </p:nvSpPr>
        <p:spPr>
          <a:xfrm>
            <a:off x="3499408" y="1554480"/>
            <a:ext cx="2377440" cy="457200"/>
          </a:xfrm>
          <a:prstGeom prst="rect">
            <a:avLst/>
          </a:prstGeom>
          <a:noFill/>
        </p:spPr>
        <p:txBody>
          <a:bodyPr wrap="square" lIns="0" rIns="0" tIns="0" bIns="0" anchor="ctr">
            <a:spAutoFit/>
          </a:bodyPr>
          <a:lstStyle/>
          <a:p>
            <a:pPr algn="l">
              <a:lnSpc>
                <a:spcPct val="100000"/>
              </a:lnSpc>
            </a:pPr>
            <a:r>
              <a:rPr sz="1400" b="1" i="0">
                <a:solidFill>
                  <a:srgbClr val="FBF8F1"/>
                </a:solidFill>
                <a:latin typeface="Calibri"/>
              </a:rPr>
              <a:t>Selects tools</a:t>
            </a:r>
          </a:p>
        </p:txBody>
      </p:sp>
      <p:sp>
        <p:nvSpPr>
          <p:cNvPr id="15" name="TextBox 14"/>
          <p:cNvSpPr txBox="1"/>
          <p:nvPr/>
        </p:nvSpPr>
        <p:spPr>
          <a:xfrm>
            <a:off x="3499408" y="2121408"/>
            <a:ext cx="2377440" cy="2697480"/>
          </a:xfrm>
          <a:prstGeom prst="rect">
            <a:avLst/>
          </a:prstGeom>
          <a:noFill/>
        </p:spPr>
        <p:txBody>
          <a:bodyPr wrap="square" lIns="0" rIns="0" tIns="0" bIns="0" anchor="t">
            <a:spAutoFit/>
          </a:bodyPr>
          <a:lstStyle/>
          <a:p>
            <a:pPr algn="l" marL="155448" indent="-155448">
              <a:lnSpc>
                <a:spcPct val="100000"/>
              </a:lnSpc>
              <a:spcAft>
                <a:spcPts val="500"/>
              </a:spcAft>
              <a:buChar char="•"/>
            </a:pPr>
            <a:r>
              <a:rPr sz="1150" b="0" i="0">
                <a:solidFill>
                  <a:srgbClr val="3A312A"/>
                </a:solidFill>
                <a:latin typeface="Calibri"/>
              </a:rPr>
              <a:t>Each step the planner sees the tool list, the record and every site's state.</a:t>
            </a:r>
          </a:p>
          <a:p>
            <a:pPr algn="l" marL="155448" indent="-155448">
              <a:lnSpc>
                <a:spcPct val="100000"/>
              </a:lnSpc>
              <a:spcAft>
                <a:spcPts val="500"/>
              </a:spcAft>
              <a:buChar char="•"/>
            </a:pPr>
            <a:r>
              <a:rPr sz="1150" b="0" i="0">
                <a:solidFill>
                  <a:srgbClr val="3A312A"/>
                </a:solidFill>
                <a:latin typeface="Calibri"/>
              </a:rPr>
              <a:t>Nothing read yet: read_listing. Then normalise, then compare.</a:t>
            </a:r>
          </a:p>
          <a:p>
            <a:pPr algn="l" marL="155448" indent="-155448">
              <a:lnSpc>
                <a:spcPct val="100000"/>
              </a:lnSpc>
              <a:spcAft>
                <a:spcPts val="500"/>
              </a:spcAft>
              <a:buChar char="•"/>
            </a:pPr>
            <a:r>
              <a:rPr sz="1150" b="0" i="0">
                <a:solidFill>
                  <a:srgbClr val="3A312A"/>
                </a:solidFill>
                <a:latin typeface="Calibri"/>
              </a:rPr>
              <a:t>Owner's listing differs: propose. Permission denied: flag_listing (forced in code).</a:t>
            </a:r>
          </a:p>
          <a:p>
            <a:pPr algn="l" marL="155448" indent="-155448">
              <a:lnSpc>
                <a:spcPct val="100000"/>
              </a:lnSpc>
              <a:spcAft>
                <a:spcPts val="500"/>
              </a:spcAft>
              <a:buChar char="•"/>
            </a:pPr>
            <a:r>
              <a:rPr sz="1150" b="0" i="0">
                <a:solidFill>
                  <a:srgbClr val="3A312A"/>
                </a:solidFill>
                <a:latin typeface="Calibri"/>
              </a:rPr>
              <a:t>Approved rows: apply_approved.</a:t>
            </a:r>
          </a:p>
          <a:p>
            <a:pPr algn="l" marL="155448" indent="-155448">
              <a:lnSpc>
                <a:spcPct val="100000"/>
              </a:lnSpc>
              <a:buChar char="•"/>
            </a:pPr>
            <a:r>
              <a:rPr sz="1150" b="0" i="0">
                <a:solidFill>
                  <a:srgbClr val="3A312A"/>
                </a:solidFill>
                <a:latin typeface="Calibri"/>
              </a:rPr>
              <a:t>An unsafe pick is blocked and the rules choose instead.</a:t>
            </a:r>
          </a:p>
        </p:txBody>
      </p:sp>
      <p:sp>
        <p:nvSpPr>
          <p:cNvPr id="16" name="Rounded Rectangle 15"/>
          <p:cNvSpPr/>
          <p:nvPr/>
        </p:nvSpPr>
        <p:spPr>
          <a:xfrm>
            <a:off x="3471976" y="4892040"/>
            <a:ext cx="2432304" cy="658368"/>
          </a:xfrm>
          <a:prstGeom prst="roundRect">
            <a:avLst>
              <a:gd name="adj" fmla="val 8333"/>
            </a:avLst>
          </a:prstGeom>
          <a:solidFill>
            <a:srgbClr val="EBE2CF"/>
          </a:solidFill>
          <a:ln>
            <a:noFill/>
          </a:ln>
          <a:effectLst/>
        </p:spPr>
        <p:txBody>
          <a:bodyPr rtlCol="0" anchor="ctr"/>
          <a:lstStyle/>
          <a:p>
            <a:pPr algn="ctr"/>
          </a:p>
        </p:txBody>
      </p:sp>
      <p:sp>
        <p:nvSpPr>
          <p:cNvPr id="17" name="TextBox 16"/>
          <p:cNvSpPr txBox="1"/>
          <p:nvPr/>
        </p:nvSpPr>
        <p:spPr>
          <a:xfrm>
            <a:off x="3545128" y="4919472"/>
            <a:ext cx="2286000" cy="603504"/>
          </a:xfrm>
          <a:prstGeom prst="rect">
            <a:avLst/>
          </a:prstGeom>
          <a:noFill/>
        </p:spPr>
        <p:txBody>
          <a:bodyPr wrap="square" lIns="0" rIns="0" tIns="0" bIns="0" anchor="ctr">
            <a:spAutoFit/>
          </a:bodyPr>
          <a:lstStyle/>
          <a:p>
            <a:pPr algn="l">
              <a:lnSpc>
                <a:spcPct val="100000"/>
              </a:lnSpc>
            </a:pPr>
            <a:r>
              <a:rPr sz="1050" b="1" i="0">
                <a:solidFill>
                  <a:srgbClr val="3F5A2E"/>
                </a:solidFill>
                <a:latin typeface="Calibri"/>
              </a:rPr>
              <a:t>Rogue planner test: 6 unsafe picks, 6 blocked, 0 writes</a:t>
            </a:r>
          </a:p>
        </p:txBody>
      </p:sp>
      <p:sp>
        <p:nvSpPr>
          <p:cNvPr id="18" name="Rounded Rectangle 17"/>
          <p:cNvSpPr/>
          <p:nvPr/>
        </p:nvSpPr>
        <p:spPr>
          <a:xfrm>
            <a:off x="6175857" y="1554480"/>
            <a:ext cx="2651760" cy="4114800"/>
          </a:xfrm>
          <a:prstGeom prst="roundRect">
            <a:avLst>
              <a:gd name="adj" fmla="val 2068"/>
            </a:avLst>
          </a:prstGeom>
          <a:solidFill>
            <a:srgbClr val="FBF8F1"/>
          </a:solidFill>
          <a:ln w="9525">
            <a:solidFill>
              <a:srgbClr val="E2D8C6"/>
            </a:solidFill>
          </a:ln>
          <a:effectLst/>
        </p:spPr>
        <p:txBody>
          <a:bodyPr rtlCol="0" anchor="ctr"/>
          <a:lstStyle/>
          <a:p>
            <a:pPr algn="ctr"/>
          </a:p>
        </p:txBody>
      </p:sp>
      <p:sp>
        <p:nvSpPr>
          <p:cNvPr id="19" name="Rounded Rectangle 18"/>
          <p:cNvSpPr/>
          <p:nvPr/>
        </p:nvSpPr>
        <p:spPr>
          <a:xfrm>
            <a:off x="6175857" y="1554480"/>
            <a:ext cx="2651760" cy="457200"/>
          </a:xfrm>
          <a:prstGeom prst="roundRect">
            <a:avLst>
              <a:gd name="adj" fmla="val 12000"/>
            </a:avLst>
          </a:prstGeom>
          <a:solidFill>
            <a:srgbClr val="54733F"/>
          </a:solidFill>
          <a:ln>
            <a:noFill/>
          </a:ln>
          <a:effectLst/>
        </p:spPr>
        <p:txBody>
          <a:bodyPr rtlCol="0" anchor="ctr"/>
          <a:lstStyle/>
          <a:p>
            <a:pPr algn="ctr"/>
          </a:p>
        </p:txBody>
      </p:sp>
      <p:sp>
        <p:nvSpPr>
          <p:cNvPr id="20" name="TextBox 19"/>
          <p:cNvSpPr txBox="1"/>
          <p:nvPr/>
        </p:nvSpPr>
        <p:spPr>
          <a:xfrm>
            <a:off x="6313017" y="1554480"/>
            <a:ext cx="2377440" cy="457200"/>
          </a:xfrm>
          <a:prstGeom prst="rect">
            <a:avLst/>
          </a:prstGeom>
          <a:noFill/>
        </p:spPr>
        <p:txBody>
          <a:bodyPr wrap="square" lIns="0" rIns="0" tIns="0" bIns="0" anchor="ctr">
            <a:spAutoFit/>
          </a:bodyPr>
          <a:lstStyle/>
          <a:p>
            <a:pPr algn="l">
              <a:lnSpc>
                <a:spcPct val="100000"/>
              </a:lnSpc>
            </a:pPr>
            <a:r>
              <a:rPr sz="1400" b="1" i="0">
                <a:solidFill>
                  <a:srgbClr val="FBF8F1"/>
                </a:solidFill>
                <a:latin typeface="Calibri"/>
              </a:rPr>
              <a:t>Runs multi-step workflows</a:t>
            </a:r>
          </a:p>
        </p:txBody>
      </p:sp>
      <p:sp>
        <p:nvSpPr>
          <p:cNvPr id="21" name="TextBox 20"/>
          <p:cNvSpPr txBox="1"/>
          <p:nvPr/>
        </p:nvSpPr>
        <p:spPr>
          <a:xfrm>
            <a:off x="6313017" y="2121408"/>
            <a:ext cx="2377440" cy="2697480"/>
          </a:xfrm>
          <a:prstGeom prst="rect">
            <a:avLst/>
          </a:prstGeom>
          <a:noFill/>
        </p:spPr>
        <p:txBody>
          <a:bodyPr wrap="square" lIns="0" rIns="0" tIns="0" bIns="0" anchor="t">
            <a:spAutoFit/>
          </a:bodyPr>
          <a:lstStyle/>
          <a:p>
            <a:pPr algn="l" marL="155448" indent="-155448">
              <a:lnSpc>
                <a:spcPct val="100000"/>
              </a:lnSpc>
              <a:spcAft>
                <a:spcPts val="500"/>
              </a:spcAft>
              <a:buChar char="•"/>
            </a:pPr>
            <a:r>
              <a:rPr sz="1150" b="0" i="0">
                <a:solidFill>
                  <a:srgbClr val="3A312A"/>
                </a:solidFill>
                <a:latin typeface="Calibri"/>
              </a:rPr>
              <a:t>Scan phase reads and proposes. Execute phase applies and verifies.</a:t>
            </a:r>
          </a:p>
          <a:p>
            <a:pPr algn="l" marL="155448" indent="-155448">
              <a:lnSpc>
                <a:spcPct val="100000"/>
              </a:lnSpc>
              <a:spcAft>
                <a:spcPts val="500"/>
              </a:spcAft>
              <a:buChar char="•"/>
            </a:pPr>
            <a:r>
              <a:rPr sz="1150" b="0" i="0">
                <a:solidFill>
                  <a:srgbClr val="3A312A"/>
                </a:solidFill>
                <a:latin typeface="Calibri"/>
              </a:rPr>
              <a:t>One closure request fans out to every site (TC5: 3 verified, 1 flagged, 1 pending moderation).</a:t>
            </a:r>
          </a:p>
          <a:p>
            <a:pPr algn="l" marL="155448" indent="-155448">
              <a:lnSpc>
                <a:spcPct val="100000"/>
              </a:lnSpc>
              <a:spcAft>
                <a:spcPts val="500"/>
              </a:spcAft>
              <a:buChar char="•"/>
            </a:pPr>
            <a:r>
              <a:rPr sz="1150" b="0" i="0">
                <a:solidFill>
                  <a:srgbClr val="3A312A"/>
                </a:solidFill>
                <a:latin typeface="Calibri"/>
              </a:rPr>
              <a:t>27 tool calls for the TC1 holiday fix, each a visible trace row.</a:t>
            </a:r>
          </a:p>
          <a:p>
            <a:pPr algn="l" marL="155448" indent="-155448">
              <a:lnSpc>
                <a:spcPct val="100000"/>
              </a:lnSpc>
              <a:buChar char="•"/>
            </a:pPr>
            <a:r>
              <a:rPr sz="1150" b="0" i="0">
                <a:solidFill>
                  <a:srgbClr val="3A312A"/>
                </a:solidFill>
                <a:latin typeface="Calibri"/>
              </a:rPr>
              <a:t>Every run ends with a short "what I did and why" briefing.</a:t>
            </a:r>
          </a:p>
        </p:txBody>
      </p:sp>
      <p:sp>
        <p:nvSpPr>
          <p:cNvPr id="22" name="Rounded Rectangle 21"/>
          <p:cNvSpPr/>
          <p:nvPr/>
        </p:nvSpPr>
        <p:spPr>
          <a:xfrm>
            <a:off x="6285585" y="4892040"/>
            <a:ext cx="2432304" cy="658368"/>
          </a:xfrm>
          <a:prstGeom prst="roundRect">
            <a:avLst>
              <a:gd name="adj" fmla="val 8333"/>
            </a:avLst>
          </a:prstGeom>
          <a:solidFill>
            <a:srgbClr val="EBE2CF"/>
          </a:solidFill>
          <a:ln>
            <a:noFill/>
          </a:ln>
          <a:effectLst/>
        </p:spPr>
        <p:txBody>
          <a:bodyPr rtlCol="0" anchor="ctr"/>
          <a:lstStyle/>
          <a:p>
            <a:pPr algn="ctr"/>
          </a:p>
        </p:txBody>
      </p:sp>
      <p:sp>
        <p:nvSpPr>
          <p:cNvPr id="23" name="TextBox 22"/>
          <p:cNvSpPr txBox="1"/>
          <p:nvPr/>
        </p:nvSpPr>
        <p:spPr>
          <a:xfrm>
            <a:off x="6358737" y="4919472"/>
            <a:ext cx="2286000" cy="603504"/>
          </a:xfrm>
          <a:prstGeom prst="rect">
            <a:avLst/>
          </a:prstGeom>
          <a:noFill/>
        </p:spPr>
        <p:txBody>
          <a:bodyPr wrap="square" lIns="0" rIns="0" tIns="0" bIns="0" anchor="ctr">
            <a:spAutoFit/>
          </a:bodyPr>
          <a:lstStyle/>
          <a:p>
            <a:pPr algn="l">
              <a:lnSpc>
                <a:spcPct val="100000"/>
              </a:lnSpc>
            </a:pPr>
            <a:r>
              <a:rPr sz="1050" b="1" i="0">
                <a:solidFill>
                  <a:srgbClr val="3F5A2E"/>
                </a:solidFill>
                <a:latin typeface="Calibri"/>
              </a:rPr>
              <a:t>TC1: MISMATCH &gt; PROPOSED &gt; APPROVED &gt; APPLIED &gt; VERIFIED</a:t>
            </a:r>
          </a:p>
        </p:txBody>
      </p:sp>
      <p:sp>
        <p:nvSpPr>
          <p:cNvPr id="24" name="Rounded Rectangle 23"/>
          <p:cNvSpPr/>
          <p:nvPr/>
        </p:nvSpPr>
        <p:spPr>
          <a:xfrm>
            <a:off x="8989466" y="1554480"/>
            <a:ext cx="2651760" cy="4114800"/>
          </a:xfrm>
          <a:prstGeom prst="roundRect">
            <a:avLst>
              <a:gd name="adj" fmla="val 2068"/>
            </a:avLst>
          </a:prstGeom>
          <a:solidFill>
            <a:srgbClr val="FBF8F1"/>
          </a:solidFill>
          <a:ln w="9525">
            <a:solidFill>
              <a:srgbClr val="E2D8C6"/>
            </a:solidFill>
          </a:ln>
          <a:effectLst/>
        </p:spPr>
        <p:txBody>
          <a:bodyPr rtlCol="0" anchor="ctr"/>
          <a:lstStyle/>
          <a:p>
            <a:pPr algn="ctr"/>
          </a:p>
        </p:txBody>
      </p:sp>
      <p:sp>
        <p:nvSpPr>
          <p:cNvPr id="25" name="Rounded Rectangle 24"/>
          <p:cNvSpPr/>
          <p:nvPr/>
        </p:nvSpPr>
        <p:spPr>
          <a:xfrm>
            <a:off x="8989466" y="1554480"/>
            <a:ext cx="2651760" cy="457200"/>
          </a:xfrm>
          <a:prstGeom prst="roundRect">
            <a:avLst>
              <a:gd name="adj" fmla="val 12000"/>
            </a:avLst>
          </a:prstGeom>
          <a:solidFill>
            <a:srgbClr val="54733F"/>
          </a:solidFill>
          <a:ln>
            <a:noFill/>
          </a:ln>
          <a:effectLst/>
        </p:spPr>
        <p:txBody>
          <a:bodyPr rtlCol="0" anchor="ctr"/>
          <a:lstStyle/>
          <a:p>
            <a:pPr algn="ctr"/>
          </a:p>
        </p:txBody>
      </p:sp>
      <p:sp>
        <p:nvSpPr>
          <p:cNvPr id="26" name="TextBox 25"/>
          <p:cNvSpPr txBox="1"/>
          <p:nvPr/>
        </p:nvSpPr>
        <p:spPr>
          <a:xfrm>
            <a:off x="9126626" y="1554480"/>
            <a:ext cx="2377440" cy="457200"/>
          </a:xfrm>
          <a:prstGeom prst="rect">
            <a:avLst/>
          </a:prstGeom>
          <a:noFill/>
        </p:spPr>
        <p:txBody>
          <a:bodyPr wrap="square" lIns="0" rIns="0" tIns="0" bIns="0" anchor="ctr">
            <a:spAutoFit/>
          </a:bodyPr>
          <a:lstStyle/>
          <a:p>
            <a:pPr algn="l">
              <a:lnSpc>
                <a:spcPct val="100000"/>
              </a:lnSpc>
            </a:pPr>
            <a:r>
              <a:rPr sz="1400" b="1" i="0">
                <a:solidFill>
                  <a:srgbClr val="FBF8F1"/>
                </a:solidFill>
                <a:latin typeface="Calibri"/>
              </a:rPr>
              <a:t>Verifies and recovers</a:t>
            </a:r>
          </a:p>
        </p:txBody>
      </p:sp>
      <p:sp>
        <p:nvSpPr>
          <p:cNvPr id="27" name="TextBox 26"/>
          <p:cNvSpPr txBox="1"/>
          <p:nvPr/>
        </p:nvSpPr>
        <p:spPr>
          <a:xfrm>
            <a:off x="9126626" y="2121408"/>
            <a:ext cx="2377440" cy="2697480"/>
          </a:xfrm>
          <a:prstGeom prst="rect">
            <a:avLst/>
          </a:prstGeom>
          <a:noFill/>
        </p:spPr>
        <p:txBody>
          <a:bodyPr wrap="square" lIns="0" rIns="0" tIns="0" bIns="0" anchor="t">
            <a:spAutoFit/>
          </a:bodyPr>
          <a:lstStyle/>
          <a:p>
            <a:pPr algn="l" marL="155448" indent="-155448">
              <a:lnSpc>
                <a:spcPct val="100000"/>
              </a:lnSpc>
              <a:spcAft>
                <a:spcPts val="500"/>
              </a:spcAft>
              <a:buChar char="•"/>
            </a:pPr>
            <a:r>
              <a:rPr sz="1150" b="0" i="0">
                <a:solidFill>
                  <a:srgbClr val="3A312A"/>
                </a:solidFill>
                <a:latin typeface="Calibri"/>
              </a:rPr>
              <a:t>Reloads and compares. "Saved" is never trusted.</a:t>
            </a:r>
          </a:p>
          <a:p>
            <a:pPr algn="l" marL="155448" indent="-155448">
              <a:lnSpc>
                <a:spcPct val="100000"/>
              </a:lnSpc>
              <a:spcAft>
                <a:spcPts val="500"/>
              </a:spcAft>
              <a:buChar char="•"/>
            </a:pPr>
            <a:r>
              <a:rPr sz="1150" b="0" i="0">
                <a:solidFill>
                  <a:srgbClr val="3A312A"/>
                </a:solidFill>
                <a:latin typeface="Calibri"/>
              </a:rPr>
              <a:t>Moderated site: PENDING_MODERATION until the page really changes (TC4).</a:t>
            </a:r>
          </a:p>
          <a:p>
            <a:pPr algn="l" marL="155448" indent="-155448">
              <a:lnSpc>
                <a:spcPct val="100000"/>
              </a:lnSpc>
              <a:spcAft>
                <a:spcPts val="500"/>
              </a:spcAft>
              <a:buChar char="•"/>
            </a:pPr>
            <a:r>
              <a:rPr sz="1150" b="0" i="0">
                <a:solidFill>
                  <a:srgbClr val="3A312A"/>
                </a:solidFill>
                <a:latin typeface="Calibri"/>
              </a:rPr>
              <a:t>Page changed after approval: sends nothing, asks again with the new facts (TC7).</a:t>
            </a:r>
          </a:p>
          <a:p>
            <a:pPr algn="l" marL="155448" indent="-155448">
              <a:lnSpc>
                <a:spcPct val="100000"/>
              </a:lnSpc>
              <a:buChar char="•"/>
            </a:pPr>
            <a:r>
              <a:rPr sz="1150" b="0" i="0">
                <a:solidFill>
                  <a:srgbClr val="3A312A"/>
                </a:solidFill>
                <a:latin typeface="Calibri"/>
              </a:rPr>
              <a:t>Site down: retries. Edit dropped: re-sent once, then verified (TC8).</a:t>
            </a:r>
          </a:p>
        </p:txBody>
      </p:sp>
      <p:sp>
        <p:nvSpPr>
          <p:cNvPr id="28" name="Rounded Rectangle 27"/>
          <p:cNvSpPr/>
          <p:nvPr/>
        </p:nvSpPr>
        <p:spPr>
          <a:xfrm>
            <a:off x="9099194" y="4892040"/>
            <a:ext cx="2432304" cy="658368"/>
          </a:xfrm>
          <a:prstGeom prst="roundRect">
            <a:avLst>
              <a:gd name="adj" fmla="val 8333"/>
            </a:avLst>
          </a:prstGeom>
          <a:solidFill>
            <a:srgbClr val="EBE2CF"/>
          </a:solidFill>
          <a:ln>
            <a:noFill/>
          </a:ln>
          <a:effectLst/>
        </p:spPr>
        <p:txBody>
          <a:bodyPr rtlCol="0" anchor="ctr"/>
          <a:lstStyle/>
          <a:p>
            <a:pPr algn="ctr"/>
          </a:p>
        </p:txBody>
      </p:sp>
      <p:sp>
        <p:nvSpPr>
          <p:cNvPr id="29" name="TextBox 28"/>
          <p:cNvSpPr txBox="1"/>
          <p:nvPr/>
        </p:nvSpPr>
        <p:spPr>
          <a:xfrm>
            <a:off x="9172346" y="4919472"/>
            <a:ext cx="2286000" cy="603504"/>
          </a:xfrm>
          <a:prstGeom prst="rect">
            <a:avLst/>
          </a:prstGeom>
          <a:noFill/>
        </p:spPr>
        <p:txBody>
          <a:bodyPr wrap="square" lIns="0" rIns="0" tIns="0" bIns="0" anchor="ctr">
            <a:spAutoFit/>
          </a:bodyPr>
          <a:lstStyle/>
          <a:p>
            <a:pPr algn="l">
              <a:lnSpc>
                <a:spcPct val="100000"/>
              </a:lnSpc>
            </a:pPr>
            <a:r>
              <a:rPr sz="1050" b="1" i="0">
                <a:solidFill>
                  <a:srgbClr val="3F5A2E"/>
                </a:solidFill>
                <a:latin typeface="Calibri"/>
              </a:rPr>
              <a:t>TC8: outage retried, lost write re-sent, VERIFIED</a:t>
            </a:r>
          </a:p>
        </p:txBody>
      </p:sp>
      <p:sp>
        <p:nvSpPr>
          <p:cNvPr id="30" name="Rounded Rectangle 29"/>
          <p:cNvSpPr/>
          <p:nvPr/>
        </p:nvSpPr>
        <p:spPr>
          <a:xfrm>
            <a:off x="548640" y="5788152"/>
            <a:ext cx="11094415" cy="566928"/>
          </a:xfrm>
          <a:prstGeom prst="roundRect">
            <a:avLst>
              <a:gd name="adj" fmla="val 12903"/>
            </a:avLst>
          </a:prstGeom>
          <a:solidFill>
            <a:srgbClr val="F4DCC8"/>
          </a:solidFill>
          <a:ln>
            <a:noFill/>
          </a:ln>
          <a:effectLst/>
        </p:spPr>
        <p:txBody>
          <a:bodyPr rtlCol="0" anchor="ctr"/>
          <a:lstStyle/>
          <a:p>
            <a:pPr algn="ctr"/>
          </a:p>
        </p:txBody>
      </p:sp>
      <p:sp>
        <p:nvSpPr>
          <p:cNvPr id="31" name="TextBox 30"/>
          <p:cNvSpPr txBox="1"/>
          <p:nvPr/>
        </p:nvSpPr>
        <p:spPr>
          <a:xfrm>
            <a:off x="731520" y="5788152"/>
            <a:ext cx="10728655" cy="566928"/>
          </a:xfrm>
          <a:prstGeom prst="rect">
            <a:avLst/>
          </a:prstGeom>
          <a:noFill/>
        </p:spPr>
        <p:txBody>
          <a:bodyPr wrap="square" lIns="0" rIns="0" tIns="0" bIns="0" anchor="ctr">
            <a:spAutoFit/>
          </a:bodyPr>
          <a:lstStyle/>
          <a:p>
            <a:pPr algn="l">
              <a:lnSpc>
                <a:spcPct val="100000"/>
              </a:lnSpc>
            </a:pPr>
            <a:r>
              <a:rPr sz="1050" b="1" i="0">
                <a:solidFill>
                  <a:srgbClr val="B8561F"/>
                </a:solidFill>
                <a:latin typeface="Calibri"/>
              </a:rPr>
              <a:t>Honest note  </a:t>
            </a:r>
            <a:r>
              <a:rPr sz="1050" b="0" i="0">
                <a:solidFill>
                  <a:srgbClr val="3A312A"/>
                </a:solidFill>
                <a:latin typeface="Calibri"/>
              </a:rPr>
              <a:t>The default decision-maker is a rules planner. The Gemini planner is optional and falls back to rules on 429, timeout or invalid JSON; it is covered by 12 mocked-client tests, and no live Gemini run is in our evidence set (no key in the build environment).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4  ·  TECHNICAL IMPLEMENTATION</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One service: console, agent, readers, five mock platforms</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9</a:t>
            </a:r>
          </a:p>
        </p:txBody>
      </p:sp>
      <p:sp>
        <p:nvSpPr>
          <p:cNvPr id="6" name="Rounded Rectangle 5"/>
          <p:cNvSpPr/>
          <p:nvPr/>
        </p:nvSpPr>
        <p:spPr>
          <a:xfrm>
            <a:off x="548640" y="2240280"/>
            <a:ext cx="2331720" cy="3108960"/>
          </a:xfrm>
          <a:prstGeom prst="roundRect">
            <a:avLst>
              <a:gd name="adj" fmla="val 2352"/>
            </a:avLst>
          </a:prstGeom>
          <a:solidFill>
            <a:srgbClr val="FBF8F1"/>
          </a:solidFill>
          <a:ln w="9525">
            <a:solidFill>
              <a:srgbClr val="E2D8C6"/>
            </a:solidFill>
          </a:ln>
          <a:effectLst/>
        </p:spPr>
        <p:txBody>
          <a:bodyPr rtlCol="0" anchor="ctr"/>
          <a:lstStyle/>
          <a:p>
            <a:pPr algn="ctr"/>
          </a:p>
        </p:txBody>
      </p:sp>
      <p:sp>
        <p:nvSpPr>
          <p:cNvPr id="7" name="TextBox 6"/>
          <p:cNvSpPr txBox="1"/>
          <p:nvPr/>
        </p:nvSpPr>
        <p:spPr>
          <a:xfrm>
            <a:off x="685800" y="2331720"/>
            <a:ext cx="2057400" cy="274320"/>
          </a:xfrm>
          <a:prstGeom prst="rect">
            <a:avLst/>
          </a:prstGeom>
          <a:noFill/>
        </p:spPr>
        <p:txBody>
          <a:bodyPr wrap="square" lIns="0" rIns="0" tIns="0" bIns="0" anchor="t">
            <a:spAutoFit/>
          </a:bodyPr>
          <a:lstStyle/>
          <a:p>
            <a:pPr algn="l">
              <a:lnSpc>
                <a:spcPct val="100000"/>
              </a:lnSpc>
            </a:pPr>
            <a:r>
              <a:rPr sz="1400" b="1" i="0">
                <a:solidFill>
                  <a:srgbClr val="3F5A2E"/>
                </a:solidFill>
                <a:latin typeface="Calibri"/>
              </a:rPr>
              <a:t>Owner's browser</a:t>
            </a:r>
          </a:p>
        </p:txBody>
      </p:sp>
      <p:sp>
        <p:nvSpPr>
          <p:cNvPr id="8" name="TextBox 7"/>
          <p:cNvSpPr txBox="1"/>
          <p:nvPr/>
        </p:nvSpPr>
        <p:spPr>
          <a:xfrm>
            <a:off x="685800" y="2624328"/>
            <a:ext cx="2057400" cy="27432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React 19 + Vite console</a:t>
            </a:r>
          </a:p>
        </p:txBody>
      </p:sp>
      <p:sp>
        <p:nvSpPr>
          <p:cNvPr id="9" name="TextBox 8"/>
          <p:cNvSpPr txBox="1"/>
          <p:nvPr/>
        </p:nvSpPr>
        <p:spPr>
          <a:xfrm>
            <a:off x="685800" y="3017520"/>
            <a:ext cx="2057400" cy="2286000"/>
          </a:xfrm>
          <a:prstGeom prst="rect">
            <a:avLst/>
          </a:prstGeom>
          <a:noFill/>
        </p:spPr>
        <p:txBody>
          <a:bodyPr wrap="square" lIns="0" rIns="0" tIns="0" bIns="0" anchor="t">
            <a:spAutoFit/>
          </a:bodyPr>
          <a:lstStyle/>
          <a:p>
            <a:pPr algn="l" marL="155448" indent="-155448">
              <a:lnSpc>
                <a:spcPct val="100000"/>
              </a:lnSpc>
              <a:spcAft>
                <a:spcPts val="400"/>
              </a:spcAft>
              <a:buChar char="•"/>
            </a:pPr>
            <a:r>
              <a:rPr sz="1100" b="0" i="0">
                <a:solidFill>
                  <a:srgbClr val="3A312A"/>
                </a:solidFill>
                <a:latin typeface="Calibri"/>
              </a:rPr>
              <a:t>PIN-only login</a:t>
            </a:r>
          </a:p>
          <a:p>
            <a:pPr algn="l" marL="155448" indent="-155448">
              <a:lnSpc>
                <a:spcPct val="100000"/>
              </a:lnSpc>
              <a:spcAft>
                <a:spcPts val="400"/>
              </a:spcAft>
              <a:buChar char="•"/>
            </a:pPr>
            <a:r>
              <a:rPr sz="1100" b="0" i="0">
                <a:solidFill>
                  <a:srgbClr val="3A312A"/>
                </a:solidFill>
                <a:latin typeface="Calibri"/>
              </a:rPr>
              <a:t>Nine sections: details, sites, approvals, consistency, edit &amp; ask, change log, agent trace, holidays, add business</a:t>
            </a:r>
          </a:p>
          <a:p>
            <a:pPr algn="l" marL="155448" indent="-155448">
              <a:lnSpc>
                <a:spcPct val="100000"/>
              </a:lnSpc>
              <a:spcAft>
                <a:spcPts val="400"/>
              </a:spcAft>
              <a:buChar char="•"/>
            </a:pPr>
            <a:r>
              <a:rPr sz="1100" b="0" i="0">
                <a:solidFill>
                  <a:srgbClr val="3A312A"/>
                </a:solidFill>
                <a:latin typeface="Calibri"/>
              </a:rPr>
              <a:t>Step bar: Scan, Review, Apply</a:t>
            </a:r>
          </a:p>
          <a:p>
            <a:pPr algn="l" marL="155448" indent="-155448">
              <a:lnSpc>
                <a:spcPct val="100000"/>
              </a:lnSpc>
              <a:buChar char="•"/>
            </a:pPr>
            <a:r>
              <a:rPr sz="1100" b="0" i="0">
                <a:solidFill>
                  <a:srgbClr val="3A312A"/>
                </a:solidFill>
                <a:latin typeface="Calibri"/>
              </a:rPr>
              <a:t>Agent Trace map</a:t>
            </a:r>
          </a:p>
        </p:txBody>
      </p:sp>
      <p:sp>
        <p:nvSpPr>
          <p:cNvPr id="10" name="Rounded Rectangle 9"/>
          <p:cNvSpPr/>
          <p:nvPr/>
        </p:nvSpPr>
        <p:spPr>
          <a:xfrm>
            <a:off x="3246120" y="1554480"/>
            <a:ext cx="5120640" cy="4663440"/>
          </a:xfrm>
          <a:prstGeom prst="roundRect">
            <a:avLst>
              <a:gd name="adj" fmla="val 1176"/>
            </a:avLst>
          </a:prstGeom>
          <a:solidFill>
            <a:srgbClr val="EBE2CF"/>
          </a:solidFill>
          <a:ln w="9525">
            <a:solidFill>
              <a:srgbClr val="E2D8C6"/>
            </a:solidFill>
          </a:ln>
          <a:effectLst/>
        </p:spPr>
        <p:txBody>
          <a:bodyPr rtlCol="0" anchor="ctr"/>
          <a:lstStyle/>
          <a:p>
            <a:pPr algn="ctr"/>
          </a:p>
        </p:txBody>
      </p:sp>
      <p:sp>
        <p:nvSpPr>
          <p:cNvPr id="11" name="TextBox 10"/>
          <p:cNvSpPr txBox="1"/>
          <p:nvPr/>
        </p:nvSpPr>
        <p:spPr>
          <a:xfrm>
            <a:off x="3429000" y="1627632"/>
            <a:ext cx="4754880" cy="274320"/>
          </a:xfrm>
          <a:prstGeom prst="rect">
            <a:avLst/>
          </a:prstGeom>
          <a:noFill/>
        </p:spPr>
        <p:txBody>
          <a:bodyPr wrap="square" lIns="0" rIns="0" tIns="0" bIns="0" anchor="t">
            <a:spAutoFit/>
          </a:bodyPr>
          <a:lstStyle/>
          <a:p>
            <a:pPr algn="l">
              <a:lnSpc>
                <a:spcPct val="100000"/>
              </a:lnSpc>
            </a:pPr>
            <a:r>
              <a:rPr sz="1300" b="1" i="0">
                <a:solidFill>
                  <a:srgbClr val="3A312A"/>
                </a:solidFill>
                <a:latin typeface="Calibri"/>
              </a:rPr>
              <a:t>Node 22 service  ·  Express 5  ·  TypeScript</a:t>
            </a:r>
          </a:p>
        </p:txBody>
      </p:sp>
      <p:sp>
        <p:nvSpPr>
          <p:cNvPr id="12" name="Rounded Rectangle 11"/>
          <p:cNvSpPr/>
          <p:nvPr/>
        </p:nvSpPr>
        <p:spPr>
          <a:xfrm>
            <a:off x="3401568" y="2011680"/>
            <a:ext cx="2377440" cy="1463040"/>
          </a:xfrm>
          <a:prstGeom prst="roundRect">
            <a:avLst>
              <a:gd name="adj" fmla="val 3750"/>
            </a:avLst>
          </a:prstGeom>
          <a:solidFill>
            <a:srgbClr val="FBF8F1"/>
          </a:solidFill>
          <a:ln w="9525">
            <a:solidFill>
              <a:srgbClr val="E2D8C6"/>
            </a:solidFill>
          </a:ln>
          <a:effectLst/>
        </p:spPr>
        <p:txBody>
          <a:bodyPr rtlCol="0" anchor="ctr"/>
          <a:lstStyle/>
          <a:p>
            <a:pPr algn="ctr"/>
          </a:p>
        </p:txBody>
      </p:sp>
      <p:sp>
        <p:nvSpPr>
          <p:cNvPr id="13" name="TextBox 12"/>
          <p:cNvSpPr txBox="1"/>
          <p:nvPr/>
        </p:nvSpPr>
        <p:spPr>
          <a:xfrm>
            <a:off x="3538728" y="2121408"/>
            <a:ext cx="2103120" cy="274320"/>
          </a:xfrm>
          <a:prstGeom prst="rect">
            <a:avLst/>
          </a:prstGeom>
          <a:noFill/>
        </p:spPr>
        <p:txBody>
          <a:bodyPr wrap="square" lIns="0" rIns="0" tIns="0" bIns="0" anchor="t">
            <a:spAutoFit/>
          </a:bodyPr>
          <a:lstStyle/>
          <a:p>
            <a:pPr algn="l">
              <a:lnSpc>
                <a:spcPct val="100000"/>
              </a:lnSpc>
            </a:pPr>
            <a:r>
              <a:rPr sz="1300" b="1" i="0">
                <a:solidFill>
                  <a:srgbClr val="3F5A2E"/>
                </a:solidFill>
                <a:latin typeface="Calibri"/>
              </a:rPr>
              <a:t>API + auth</a:t>
            </a:r>
          </a:p>
        </p:txBody>
      </p:sp>
      <p:sp>
        <p:nvSpPr>
          <p:cNvPr id="14" name="TextBox 13"/>
          <p:cNvSpPr txBox="1"/>
          <p:nvPr/>
        </p:nvSpPr>
        <p:spPr>
          <a:xfrm>
            <a:off x="3538728" y="2468880"/>
            <a:ext cx="2103120" cy="960120"/>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PIN-only login (HMAC), sessions, every call scoped to one business</a:t>
            </a:r>
          </a:p>
        </p:txBody>
      </p:sp>
      <p:sp>
        <p:nvSpPr>
          <p:cNvPr id="15" name="Rounded Rectangle 14"/>
          <p:cNvSpPr/>
          <p:nvPr/>
        </p:nvSpPr>
        <p:spPr>
          <a:xfrm>
            <a:off x="5852160" y="2011680"/>
            <a:ext cx="2377440" cy="1463040"/>
          </a:xfrm>
          <a:prstGeom prst="roundRect">
            <a:avLst>
              <a:gd name="adj" fmla="val 3750"/>
            </a:avLst>
          </a:prstGeom>
          <a:solidFill>
            <a:srgbClr val="FBF8F1"/>
          </a:solidFill>
          <a:ln w="9525">
            <a:solidFill>
              <a:srgbClr val="E2D8C6"/>
            </a:solidFill>
          </a:ln>
          <a:effectLst/>
        </p:spPr>
        <p:txBody>
          <a:bodyPr rtlCol="0" anchor="ctr"/>
          <a:lstStyle/>
          <a:p>
            <a:pPr algn="ctr"/>
          </a:p>
        </p:txBody>
      </p:sp>
      <p:sp>
        <p:nvSpPr>
          <p:cNvPr id="16" name="TextBox 15"/>
          <p:cNvSpPr txBox="1"/>
          <p:nvPr/>
        </p:nvSpPr>
        <p:spPr>
          <a:xfrm>
            <a:off x="5989320" y="2121408"/>
            <a:ext cx="2103120" cy="274320"/>
          </a:xfrm>
          <a:prstGeom prst="rect">
            <a:avLst/>
          </a:prstGeom>
          <a:noFill/>
        </p:spPr>
        <p:txBody>
          <a:bodyPr wrap="square" lIns="0" rIns="0" tIns="0" bIns="0" anchor="t">
            <a:spAutoFit/>
          </a:bodyPr>
          <a:lstStyle/>
          <a:p>
            <a:pPr algn="l">
              <a:lnSpc>
                <a:spcPct val="100000"/>
              </a:lnSpc>
            </a:pPr>
            <a:r>
              <a:rPr sz="1300" b="1" i="0">
                <a:solidFill>
                  <a:srgbClr val="3F5A2E"/>
                </a:solidFill>
                <a:latin typeface="Calibri"/>
              </a:rPr>
              <a:t>Agent core</a:t>
            </a:r>
          </a:p>
        </p:txBody>
      </p:sp>
      <p:sp>
        <p:nvSpPr>
          <p:cNvPr id="17" name="TextBox 16"/>
          <p:cNvSpPr txBox="1"/>
          <p:nvPr/>
        </p:nvSpPr>
        <p:spPr>
          <a:xfrm>
            <a:off x="5989320" y="2468880"/>
            <a:ext cx="2103120" cy="960120"/>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loop · planner · guardrail · 8 tools · verifier</a:t>
            </a:r>
          </a:p>
        </p:txBody>
      </p:sp>
      <p:sp>
        <p:nvSpPr>
          <p:cNvPr id="18" name="Rounded Rectangle 17"/>
          <p:cNvSpPr/>
          <p:nvPr/>
        </p:nvSpPr>
        <p:spPr>
          <a:xfrm>
            <a:off x="3401568" y="3657600"/>
            <a:ext cx="2377440" cy="1463040"/>
          </a:xfrm>
          <a:prstGeom prst="roundRect">
            <a:avLst>
              <a:gd name="adj" fmla="val 3750"/>
            </a:avLst>
          </a:prstGeom>
          <a:solidFill>
            <a:srgbClr val="FBF8F1"/>
          </a:solidFill>
          <a:ln w="9525">
            <a:solidFill>
              <a:srgbClr val="E2D8C6"/>
            </a:solidFill>
          </a:ln>
          <a:effectLst/>
        </p:spPr>
        <p:txBody>
          <a:bodyPr rtlCol="0" anchor="ctr"/>
          <a:lstStyle/>
          <a:p>
            <a:pPr algn="ctr"/>
          </a:p>
        </p:txBody>
      </p:sp>
      <p:sp>
        <p:nvSpPr>
          <p:cNvPr id="19" name="TextBox 18"/>
          <p:cNvSpPr txBox="1"/>
          <p:nvPr/>
        </p:nvSpPr>
        <p:spPr>
          <a:xfrm>
            <a:off x="3538728" y="3767328"/>
            <a:ext cx="2103120" cy="274320"/>
          </a:xfrm>
          <a:prstGeom prst="rect">
            <a:avLst/>
          </a:prstGeom>
          <a:noFill/>
        </p:spPr>
        <p:txBody>
          <a:bodyPr wrap="square" lIns="0" rIns="0" tIns="0" bIns="0" anchor="t">
            <a:spAutoFit/>
          </a:bodyPr>
          <a:lstStyle/>
          <a:p>
            <a:pPr algn="l">
              <a:lnSpc>
                <a:spcPct val="100000"/>
              </a:lnSpc>
            </a:pPr>
            <a:r>
              <a:rPr sz="1300" b="1" i="0">
                <a:solidFill>
                  <a:srgbClr val="3F5A2E"/>
                </a:solidFill>
                <a:latin typeface="Calibri"/>
              </a:rPr>
              <a:t>Owner-facing intelligence</a:t>
            </a:r>
          </a:p>
        </p:txBody>
      </p:sp>
      <p:sp>
        <p:nvSpPr>
          <p:cNvPr id="20" name="TextBox 19"/>
          <p:cNvSpPr txBox="1"/>
          <p:nvPr/>
        </p:nvSpPr>
        <p:spPr>
          <a:xfrm>
            <a:off x="3538728" y="4114800"/>
            <a:ext cx="2103120" cy="960120"/>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intent parser · holiday foresight · score-matched onboarding</a:t>
            </a:r>
          </a:p>
        </p:txBody>
      </p:sp>
      <p:sp>
        <p:nvSpPr>
          <p:cNvPr id="21" name="Rounded Rectangle 20"/>
          <p:cNvSpPr/>
          <p:nvPr/>
        </p:nvSpPr>
        <p:spPr>
          <a:xfrm>
            <a:off x="5852160" y="3657600"/>
            <a:ext cx="2377440" cy="1463040"/>
          </a:xfrm>
          <a:prstGeom prst="roundRect">
            <a:avLst>
              <a:gd name="adj" fmla="val 3750"/>
            </a:avLst>
          </a:prstGeom>
          <a:solidFill>
            <a:srgbClr val="FBF8F1"/>
          </a:solidFill>
          <a:ln w="9525">
            <a:solidFill>
              <a:srgbClr val="E2D8C6"/>
            </a:solidFill>
          </a:ln>
          <a:effectLst/>
        </p:spPr>
        <p:txBody>
          <a:bodyPr rtlCol="0" anchor="ctr"/>
          <a:lstStyle/>
          <a:p>
            <a:pPr algn="ctr"/>
          </a:p>
        </p:txBody>
      </p:sp>
      <p:sp>
        <p:nvSpPr>
          <p:cNvPr id="22" name="TextBox 21"/>
          <p:cNvSpPr txBox="1"/>
          <p:nvPr/>
        </p:nvSpPr>
        <p:spPr>
          <a:xfrm>
            <a:off x="5989320" y="3767328"/>
            <a:ext cx="2103120" cy="274320"/>
          </a:xfrm>
          <a:prstGeom prst="rect">
            <a:avLst/>
          </a:prstGeom>
          <a:noFill/>
        </p:spPr>
        <p:txBody>
          <a:bodyPr wrap="square" lIns="0" rIns="0" tIns="0" bIns="0" anchor="t">
            <a:spAutoFit/>
          </a:bodyPr>
          <a:lstStyle/>
          <a:p>
            <a:pPr algn="l">
              <a:lnSpc>
                <a:spcPct val="100000"/>
              </a:lnSpc>
            </a:pPr>
            <a:r>
              <a:rPr sz="1300" b="1" i="0">
                <a:solidFill>
                  <a:srgbClr val="3F5A2E"/>
                </a:solidFill>
                <a:latin typeface="Calibri"/>
              </a:rPr>
              <a:t>SQLite</a:t>
            </a:r>
          </a:p>
        </p:txBody>
      </p:sp>
      <p:sp>
        <p:nvSpPr>
          <p:cNvPr id="23" name="TextBox 22"/>
          <p:cNvSpPr txBox="1"/>
          <p:nvPr/>
        </p:nvSpPr>
        <p:spPr>
          <a:xfrm>
            <a:off x="5989320" y="4114800"/>
            <a:ext cx="2103120" cy="960120"/>
          </a:xfrm>
          <a:prstGeom prst="rect">
            <a:avLst/>
          </a:prstGeom>
          <a:noFill/>
        </p:spPr>
        <p:txBody>
          <a:bodyPr wrap="square" lIns="0" rIns="0" tIns="0" bIns="0" anchor="t">
            <a:spAutoFit/>
          </a:bodyPr>
          <a:lstStyle/>
          <a:p>
            <a:pPr algn="l">
              <a:lnSpc>
                <a:spcPct val="100000"/>
              </a:lnSpc>
            </a:pPr>
            <a:r>
              <a:rPr sz="1200" b="0" i="0">
                <a:solidFill>
                  <a:srgbClr val="6A5E51"/>
                </a:solidFill>
                <a:latin typeface="Calibri"/>
              </a:rPr>
              <a:t>field states · audit log · trace · change log (Zod-validated)</a:t>
            </a:r>
          </a:p>
        </p:txBody>
      </p:sp>
      <p:sp>
        <p:nvSpPr>
          <p:cNvPr id="24" name="Rounded Rectangle 23"/>
          <p:cNvSpPr/>
          <p:nvPr/>
        </p:nvSpPr>
        <p:spPr>
          <a:xfrm>
            <a:off x="3401568" y="5303520"/>
            <a:ext cx="4828032" cy="713232"/>
          </a:xfrm>
          <a:prstGeom prst="roundRect">
            <a:avLst>
              <a:gd name="adj" fmla="val 7692"/>
            </a:avLst>
          </a:prstGeom>
          <a:solidFill>
            <a:srgbClr val="FBF8F1"/>
          </a:solidFill>
          <a:ln w="9525">
            <a:solidFill>
              <a:srgbClr val="E2D8C6"/>
            </a:solidFill>
          </a:ln>
          <a:effectLst/>
        </p:spPr>
        <p:txBody>
          <a:bodyPr rtlCol="0" anchor="ctr"/>
          <a:lstStyle/>
          <a:p>
            <a:pPr algn="ctr"/>
          </a:p>
        </p:txBody>
      </p:sp>
      <p:sp>
        <p:nvSpPr>
          <p:cNvPr id="25" name="TextBox 24"/>
          <p:cNvSpPr txBox="1"/>
          <p:nvPr/>
        </p:nvSpPr>
        <p:spPr>
          <a:xfrm>
            <a:off x="3538728" y="5340096"/>
            <a:ext cx="4572000" cy="640080"/>
          </a:xfrm>
          <a:prstGeom prst="rect">
            <a:avLst/>
          </a:prstGeom>
          <a:noFill/>
        </p:spPr>
        <p:txBody>
          <a:bodyPr wrap="square" lIns="0" rIns="0" tIns="0" bIns="0" anchor="ctr">
            <a:spAutoFit/>
          </a:bodyPr>
          <a:lstStyle/>
          <a:p>
            <a:pPr algn="l">
              <a:lnSpc>
                <a:spcPct val="100000"/>
              </a:lnSpc>
            </a:pPr>
            <a:r>
              <a:rPr sz="1100" b="1" i="0">
                <a:solidFill>
                  <a:srgbClr val="3F5A2E"/>
                </a:solidFill>
                <a:latin typeface="Calibri"/>
              </a:rPr>
              <a:t>Evidence runner  </a:t>
            </a:r>
            <a:r>
              <a:rPr sz="1100" b="0" i="0">
                <a:solidFill>
                  <a:srgbClr val="6A5E51"/>
                </a:solidFill>
                <a:latin typeface="Calibri"/>
              </a:rPr>
              <a:t>TC1-TC8 on a fresh reset, 295 tests, before/after CSV, trace and audit reports</a:t>
            </a:r>
          </a:p>
        </p:txBody>
      </p:sp>
      <p:cxnSp>
        <p:nvCxnSpPr>
          <p:cNvPr id="26" name="Connector 25"/>
          <p:cNvCxnSpPr/>
          <p:nvPr/>
        </p:nvCxnSpPr>
        <p:spPr>
          <a:xfrm>
            <a:off x="2880360" y="3657600"/>
            <a:ext cx="365760" cy="0"/>
          </a:xfrm>
          <a:prstGeom prst="line">
            <a:avLst/>
          </a:prstGeom>
          <a:ln w="28575">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2880360" y="3931920"/>
            <a:ext cx="365760" cy="0"/>
          </a:xfrm>
          <a:prstGeom prst="line">
            <a:avLst/>
          </a:prstGeom>
          <a:ln w="28575">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743200" y="3310128"/>
            <a:ext cx="640080" cy="274320"/>
          </a:xfrm>
          <a:prstGeom prst="rect">
            <a:avLst/>
          </a:prstGeom>
          <a:noFill/>
        </p:spPr>
        <p:txBody>
          <a:bodyPr wrap="square" lIns="0" rIns="0" tIns="0" bIns="0" anchor="t">
            <a:spAutoFit/>
          </a:bodyPr>
          <a:lstStyle/>
          <a:p>
            <a:pPr algn="ctr">
              <a:lnSpc>
                <a:spcPct val="100000"/>
              </a:lnSpc>
            </a:pPr>
            <a:r>
              <a:rPr sz="950" b="0" i="0">
                <a:solidFill>
                  <a:srgbClr val="6A5E51"/>
                </a:solidFill>
                <a:latin typeface="Calibri"/>
              </a:rPr>
              <a:t>HTTPS</a:t>
            </a:r>
          </a:p>
        </p:txBody>
      </p:sp>
      <p:sp>
        <p:nvSpPr>
          <p:cNvPr id="29" name="Rounded Rectangle 28"/>
          <p:cNvSpPr/>
          <p:nvPr/>
        </p:nvSpPr>
        <p:spPr>
          <a:xfrm>
            <a:off x="8915400" y="1783080"/>
            <a:ext cx="2724912" cy="1051560"/>
          </a:xfrm>
          <a:prstGeom prst="roundRect">
            <a:avLst>
              <a:gd name="adj" fmla="val 5217"/>
            </a:avLst>
          </a:prstGeom>
          <a:solidFill>
            <a:srgbClr val="FBF8F1"/>
          </a:solidFill>
          <a:ln w="9525">
            <a:solidFill>
              <a:srgbClr val="E2D8C6"/>
            </a:solidFill>
          </a:ln>
          <a:effectLst/>
        </p:spPr>
        <p:txBody>
          <a:bodyPr rtlCol="0" anchor="ctr"/>
          <a:lstStyle/>
          <a:p>
            <a:pPr algn="ctr"/>
          </a:p>
        </p:txBody>
      </p:sp>
      <p:sp>
        <p:nvSpPr>
          <p:cNvPr id="30" name="TextBox 29"/>
          <p:cNvSpPr txBox="1"/>
          <p:nvPr/>
        </p:nvSpPr>
        <p:spPr>
          <a:xfrm>
            <a:off x="9052560" y="1856231"/>
            <a:ext cx="2468880" cy="274320"/>
          </a:xfrm>
          <a:prstGeom prst="rect">
            <a:avLst/>
          </a:prstGeom>
          <a:noFill/>
        </p:spPr>
        <p:txBody>
          <a:bodyPr wrap="square" lIns="0" rIns="0" tIns="0" bIns="0" anchor="t">
            <a:spAutoFit/>
          </a:bodyPr>
          <a:lstStyle/>
          <a:p>
            <a:pPr algn="l">
              <a:lnSpc>
                <a:spcPct val="100000"/>
              </a:lnSpc>
            </a:pPr>
            <a:r>
              <a:rPr sz="1300" b="1" i="0">
                <a:solidFill>
                  <a:srgbClr val="3F5A2E"/>
                </a:solidFill>
                <a:latin typeface="Calibri"/>
              </a:rPr>
              <a:t>Readers</a:t>
            </a:r>
          </a:p>
        </p:txBody>
      </p:sp>
      <p:sp>
        <p:nvSpPr>
          <p:cNvPr id="31" name="TextBox 30"/>
          <p:cNvSpPr txBox="1"/>
          <p:nvPr/>
        </p:nvSpPr>
        <p:spPr>
          <a:xfrm>
            <a:off x="9052560" y="2157984"/>
            <a:ext cx="2468880" cy="64008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Playwright (optional) with an HTTP + cheerio fallback</a:t>
            </a:r>
          </a:p>
        </p:txBody>
      </p:sp>
      <p:sp>
        <p:nvSpPr>
          <p:cNvPr id="32" name="Rounded Rectangle 31"/>
          <p:cNvSpPr/>
          <p:nvPr/>
        </p:nvSpPr>
        <p:spPr>
          <a:xfrm>
            <a:off x="8915400" y="3200400"/>
            <a:ext cx="2724912" cy="2194560"/>
          </a:xfrm>
          <a:prstGeom prst="roundRect">
            <a:avLst>
              <a:gd name="adj" fmla="val 2500"/>
            </a:avLst>
          </a:prstGeom>
          <a:solidFill>
            <a:srgbClr val="FBF8F1"/>
          </a:solidFill>
          <a:ln w="9525">
            <a:solidFill>
              <a:srgbClr val="E2D8C6"/>
            </a:solidFill>
          </a:ln>
          <a:effectLst/>
        </p:spPr>
        <p:txBody>
          <a:bodyPr rtlCol="0" anchor="ctr"/>
          <a:lstStyle/>
          <a:p>
            <a:pPr algn="ctr"/>
          </a:p>
        </p:txBody>
      </p:sp>
      <p:sp>
        <p:nvSpPr>
          <p:cNvPr id="33" name="TextBox 32"/>
          <p:cNvSpPr txBox="1"/>
          <p:nvPr/>
        </p:nvSpPr>
        <p:spPr>
          <a:xfrm>
            <a:off x="9052560" y="3273552"/>
            <a:ext cx="2468880" cy="274320"/>
          </a:xfrm>
          <a:prstGeom prst="rect">
            <a:avLst/>
          </a:prstGeom>
          <a:noFill/>
        </p:spPr>
        <p:txBody>
          <a:bodyPr wrap="square" lIns="0" rIns="0" tIns="0" bIns="0" anchor="t">
            <a:spAutoFit/>
          </a:bodyPr>
          <a:lstStyle/>
          <a:p>
            <a:pPr algn="l">
              <a:lnSpc>
                <a:spcPct val="100000"/>
              </a:lnSpc>
            </a:pPr>
            <a:r>
              <a:rPr sz="1300" b="1" i="0">
                <a:solidFill>
                  <a:srgbClr val="3F5A2E"/>
                </a:solidFill>
                <a:latin typeface="Calibri"/>
              </a:rPr>
              <a:t>Five mock platforms</a:t>
            </a:r>
          </a:p>
        </p:txBody>
      </p:sp>
      <p:sp>
        <p:nvSpPr>
          <p:cNvPr id="34" name="TextBox 33"/>
          <p:cNvSpPr txBox="1"/>
          <p:nvPr/>
        </p:nvSpPr>
        <p:spPr>
          <a:xfrm>
            <a:off x="9052560" y="3584448"/>
            <a:ext cx="2468880" cy="1737360"/>
          </a:xfrm>
          <a:prstGeom prst="rect">
            <a:avLst/>
          </a:prstGeom>
          <a:noFill/>
        </p:spPr>
        <p:txBody>
          <a:bodyPr wrap="square" lIns="0" rIns="0" tIns="0" bIns="0" anchor="t">
            <a:spAutoFit/>
          </a:bodyPr>
          <a:lstStyle/>
          <a:p>
            <a:pPr algn="l" marL="155448" indent="-155448">
              <a:lnSpc>
                <a:spcPct val="100000"/>
              </a:lnSpc>
              <a:spcAft>
                <a:spcPts val="300"/>
              </a:spcAft>
              <a:buChar char="•"/>
            </a:pPr>
            <a:r>
              <a:rPr sz="1100" b="0" i="0">
                <a:solidFill>
                  <a:srgbClr val="6A5E51"/>
                </a:solidFill>
                <a:latin typeface="Calibri"/>
              </a:rPr>
              <a:t>Listify · CityPages · LocalLoop · NearbyNow · ShopFront</a:t>
            </a:r>
          </a:p>
          <a:p>
            <a:pPr algn="l" marL="155448" indent="-155448">
              <a:lnSpc>
                <a:spcPct val="100000"/>
              </a:lnSpc>
              <a:spcAft>
                <a:spcPts val="300"/>
              </a:spcAft>
              <a:buChar char="•"/>
            </a:pPr>
            <a:r>
              <a:rPr sz="1100" b="0" i="0">
                <a:solidFill>
                  <a:srgbClr val="6A5E51"/>
                </a:solidFill>
                <a:latin typeface="Calibri"/>
              </a:rPr>
              <a:t>Public page, owner dashboard and edit API on each</a:t>
            </a:r>
          </a:p>
          <a:p>
            <a:pPr algn="l" marL="155448" indent="-155448">
              <a:lnSpc>
                <a:spcPct val="100000"/>
              </a:lnSpc>
              <a:spcAft>
                <a:spcPts val="300"/>
              </a:spcAft>
              <a:buChar char="•"/>
            </a:pPr>
            <a:r>
              <a:rPr sz="1100" b="0" i="0">
                <a:solidFill>
                  <a:srgbClr val="6A5E51"/>
                </a:solidFill>
                <a:latin typeface="Calibri"/>
              </a:rPr>
              <a:t>Different markup, hours formats, ownership and moderation</a:t>
            </a:r>
          </a:p>
          <a:p>
            <a:pPr algn="l" marL="155448" indent="-155448">
              <a:lnSpc>
                <a:spcPct val="100000"/>
              </a:lnSpc>
              <a:buChar char="•"/>
            </a:pPr>
            <a:r>
              <a:rPr sz="1100" b="0" i="0">
                <a:solidFill>
                  <a:srgbClr val="6A5E51"/>
                </a:solidFill>
                <a:latin typeface="Calibri"/>
              </a:rPr>
              <a:t>/mock/admin: moderator queue</a:t>
            </a:r>
          </a:p>
        </p:txBody>
      </p:sp>
      <p:sp>
        <p:nvSpPr>
          <p:cNvPr id="35" name="Rounded Rectangle 34"/>
          <p:cNvSpPr/>
          <p:nvPr/>
        </p:nvSpPr>
        <p:spPr>
          <a:xfrm>
            <a:off x="8915400" y="5577840"/>
            <a:ext cx="2724912" cy="640080"/>
          </a:xfrm>
          <a:prstGeom prst="roundRect">
            <a:avLst>
              <a:gd name="adj" fmla="val 8571"/>
            </a:avLst>
          </a:prstGeom>
          <a:solidFill>
            <a:srgbClr val="FBF8F1"/>
          </a:solidFill>
          <a:ln w="9525">
            <a:solidFill>
              <a:srgbClr val="54733F"/>
            </a:solidFill>
            <a:prstDash val="dash"/>
          </a:ln>
          <a:effectLst/>
        </p:spPr>
        <p:txBody>
          <a:bodyPr rtlCol="0" anchor="ctr"/>
          <a:lstStyle/>
          <a:p>
            <a:pPr algn="ctr"/>
          </a:p>
        </p:txBody>
      </p:sp>
      <p:sp>
        <p:nvSpPr>
          <p:cNvPr id="36" name="TextBox 35"/>
          <p:cNvSpPr txBox="1"/>
          <p:nvPr/>
        </p:nvSpPr>
        <p:spPr>
          <a:xfrm>
            <a:off x="9052560" y="5614416"/>
            <a:ext cx="2468880" cy="566928"/>
          </a:xfrm>
          <a:prstGeom prst="rect">
            <a:avLst/>
          </a:prstGeom>
          <a:noFill/>
        </p:spPr>
        <p:txBody>
          <a:bodyPr wrap="square" lIns="0" rIns="0" tIns="0" bIns="0" anchor="ctr">
            <a:spAutoFit/>
          </a:bodyPr>
          <a:lstStyle/>
          <a:p>
            <a:pPr algn="l">
              <a:lnSpc>
                <a:spcPct val="100000"/>
              </a:lnSpc>
            </a:pPr>
            <a:r>
              <a:rPr sz="1100" b="1" i="0">
                <a:solidFill>
                  <a:srgbClr val="3F5A2E"/>
                </a:solidFill>
                <a:latin typeface="Calibri"/>
              </a:rPr>
              <a:t>Gemini (optional)  </a:t>
            </a:r>
            <a:r>
              <a:rPr sz="1100" b="0" i="0">
                <a:solidFill>
                  <a:srgbClr val="6A5E51"/>
                </a:solidFill>
                <a:latin typeface="Calibri"/>
              </a:rPr>
              <a:t>Interactions API</a:t>
            </a:r>
          </a:p>
        </p:txBody>
      </p:sp>
      <p:cxnSp>
        <p:nvCxnSpPr>
          <p:cNvPr id="37" name="Connector 36"/>
          <p:cNvCxnSpPr/>
          <p:nvPr/>
        </p:nvCxnSpPr>
        <p:spPr>
          <a:xfrm>
            <a:off x="8366760" y="2286000"/>
            <a:ext cx="548640" cy="0"/>
          </a:xfrm>
          <a:prstGeom prst="line">
            <a:avLst/>
          </a:prstGeom>
          <a:ln w="28575">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277856" y="2834640"/>
            <a:ext cx="0" cy="365760"/>
          </a:xfrm>
          <a:prstGeom prst="line">
            <a:avLst/>
          </a:prstGeom>
          <a:ln w="28575">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366760" y="5897880"/>
            <a:ext cx="548640" cy="0"/>
          </a:xfrm>
          <a:prstGeom prst="line">
            <a:avLst/>
          </a:prstGeom>
          <a:ln w="22225">
            <a:solidFill>
              <a:srgbClr val="54733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385048" y="1965960"/>
            <a:ext cx="548640" cy="274320"/>
          </a:xfrm>
          <a:prstGeom prst="rect">
            <a:avLst/>
          </a:prstGeom>
          <a:noFill/>
        </p:spPr>
        <p:txBody>
          <a:bodyPr wrap="square" lIns="0" rIns="0" tIns="0" bIns="0" anchor="t">
            <a:spAutoFit/>
          </a:bodyPr>
          <a:lstStyle/>
          <a:p>
            <a:pPr algn="l">
              <a:lnSpc>
                <a:spcPct val="100000"/>
              </a:lnSpc>
            </a:pPr>
            <a:r>
              <a:rPr sz="950" b="0" i="0">
                <a:solidFill>
                  <a:srgbClr val="6A5E51"/>
                </a:solidFill>
                <a:latin typeface="Calibri"/>
              </a:rPr>
              <a:t>read +</a:t>
            </a:r>
          </a:p>
        </p:txBody>
      </p:sp>
      <p:sp>
        <p:nvSpPr>
          <p:cNvPr id="41" name="TextBox 40"/>
          <p:cNvSpPr txBox="1"/>
          <p:nvPr/>
        </p:nvSpPr>
        <p:spPr>
          <a:xfrm>
            <a:off x="8385048" y="2331720"/>
            <a:ext cx="548640" cy="274320"/>
          </a:xfrm>
          <a:prstGeom prst="rect">
            <a:avLst/>
          </a:prstGeom>
          <a:noFill/>
        </p:spPr>
        <p:txBody>
          <a:bodyPr wrap="square" lIns="0" rIns="0" tIns="0" bIns="0" anchor="t">
            <a:spAutoFit/>
          </a:bodyPr>
          <a:lstStyle/>
          <a:p>
            <a:pPr algn="l">
              <a:lnSpc>
                <a:spcPct val="100000"/>
              </a:lnSpc>
            </a:pPr>
            <a:r>
              <a:rPr sz="950" b="0" i="0">
                <a:solidFill>
                  <a:srgbClr val="6A5E51"/>
                </a:solidFill>
                <a:latin typeface="Calibri"/>
              </a:rPr>
              <a:t>write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4  ·  TECHNICAL IMPLEMENTATION</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Stack, data flow and how it talks to listing platforms</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10</a:t>
            </a:r>
          </a:p>
        </p:txBody>
      </p:sp>
      <p:sp>
        <p:nvSpPr>
          <p:cNvPr id="6" name="Rounded Rectangle 5"/>
          <p:cNvSpPr/>
          <p:nvPr/>
        </p:nvSpPr>
        <p:spPr>
          <a:xfrm>
            <a:off x="548640" y="1600200"/>
            <a:ext cx="3383280" cy="4617720"/>
          </a:xfrm>
          <a:prstGeom prst="roundRect">
            <a:avLst>
              <a:gd name="adj" fmla="val 1621"/>
            </a:avLst>
          </a:prstGeom>
          <a:solidFill>
            <a:srgbClr val="FBF8F1"/>
          </a:solidFill>
          <a:ln w="9525">
            <a:solidFill>
              <a:srgbClr val="E2D8C6"/>
            </a:solidFill>
          </a:ln>
          <a:effectLst/>
        </p:spPr>
        <p:txBody>
          <a:bodyPr rtlCol="0" anchor="ctr"/>
          <a:lstStyle/>
          <a:p>
            <a:pPr algn="ctr"/>
          </a:p>
        </p:txBody>
      </p:sp>
      <p:sp>
        <p:nvSpPr>
          <p:cNvPr id="7" name="TextBox 6"/>
          <p:cNvSpPr txBox="1"/>
          <p:nvPr/>
        </p:nvSpPr>
        <p:spPr>
          <a:xfrm>
            <a:off x="731520" y="1691640"/>
            <a:ext cx="3017520" cy="256032"/>
          </a:xfrm>
          <a:prstGeom prst="rect">
            <a:avLst/>
          </a:prstGeom>
          <a:noFill/>
        </p:spPr>
        <p:txBody>
          <a:bodyPr wrap="square" lIns="0" rIns="0" tIns="0" bIns="0" anchor="t">
            <a:spAutoFit/>
          </a:bodyPr>
          <a:lstStyle/>
          <a:p>
            <a:pPr algn="l">
              <a:lnSpc>
                <a:spcPct val="100000"/>
              </a:lnSpc>
            </a:pPr>
            <a:r>
              <a:rPr sz="1100" b="1" i="0" spc="120">
                <a:solidFill>
                  <a:srgbClr val="B8561F"/>
                </a:solidFill>
                <a:latin typeface="Calibri"/>
              </a:rPr>
              <a:t>STACK</a:t>
            </a:r>
          </a:p>
        </p:txBody>
      </p:sp>
      <p:sp>
        <p:nvSpPr>
          <p:cNvPr id="8" name="TextBox 7"/>
          <p:cNvSpPr txBox="1"/>
          <p:nvPr/>
        </p:nvSpPr>
        <p:spPr>
          <a:xfrm>
            <a:off x="731520" y="2011680"/>
            <a:ext cx="3017520" cy="4160520"/>
          </a:xfrm>
          <a:prstGeom prst="rect">
            <a:avLst/>
          </a:prstGeom>
          <a:noFill/>
        </p:spPr>
        <p:txBody>
          <a:bodyPr wrap="square" lIns="0" rIns="0" tIns="0" bIns="0" anchor="t">
            <a:spAutoFit/>
          </a:bodyPr>
          <a:lstStyle/>
          <a:p>
            <a:pPr algn="l">
              <a:lnSpc>
                <a:spcPct val="100000"/>
              </a:lnSpc>
              <a:spcAft>
                <a:spcPts val="1000"/>
              </a:spcAft>
            </a:pPr>
            <a:r>
              <a:rPr sz="1250" b="1" i="0">
                <a:solidFill>
                  <a:srgbClr val="3F5A2E"/>
                </a:solidFill>
                <a:latin typeface="Calibri"/>
              </a:rPr>
              <a:t>Language  </a:t>
            </a:r>
            <a:r>
              <a:rPr sz="1250" b="0" i="0">
                <a:solidFill>
                  <a:srgbClr val="3A312A"/>
                </a:solidFill>
                <a:latin typeface="Calibri"/>
              </a:rPr>
              <a:t>TypeScript end to end, Node 22</a:t>
            </a:r>
          </a:p>
          <a:p>
            <a:pPr algn="l">
              <a:lnSpc>
                <a:spcPct val="100000"/>
              </a:lnSpc>
              <a:spcAft>
                <a:spcPts val="1000"/>
              </a:spcAft>
            </a:pPr>
            <a:r>
              <a:rPr sz="1250" b="1" i="0">
                <a:solidFill>
                  <a:srgbClr val="3F5A2E"/>
                </a:solidFill>
                <a:latin typeface="Calibri"/>
              </a:rPr>
              <a:t>Server  </a:t>
            </a:r>
            <a:r>
              <a:rPr sz="1250" b="0" i="0">
                <a:solidFill>
                  <a:srgbClr val="3A312A"/>
                </a:solidFill>
                <a:latin typeface="Calibri"/>
              </a:rPr>
              <a:t>Express 5, Zod 4 validation</a:t>
            </a:r>
          </a:p>
          <a:p>
            <a:pPr algn="l">
              <a:lnSpc>
                <a:spcPct val="100000"/>
              </a:lnSpc>
              <a:spcAft>
                <a:spcPts val="1000"/>
              </a:spcAft>
            </a:pPr>
            <a:r>
              <a:rPr sz="1250" b="1" i="0">
                <a:solidFill>
                  <a:srgbClr val="3F5A2E"/>
                </a:solidFill>
                <a:latin typeface="Calibri"/>
              </a:rPr>
              <a:t>Console  </a:t>
            </a:r>
            <a:r>
              <a:rPr sz="1250" b="0" i="0">
                <a:solidFill>
                  <a:srgbClr val="3A312A"/>
                </a:solidFill>
                <a:latin typeface="Calibri"/>
              </a:rPr>
              <a:t>React 19 + Vite, served by Express</a:t>
            </a:r>
          </a:p>
          <a:p>
            <a:pPr algn="l">
              <a:lnSpc>
                <a:spcPct val="100000"/>
              </a:lnSpc>
              <a:spcAft>
                <a:spcPts val="1000"/>
              </a:spcAft>
            </a:pPr>
            <a:r>
              <a:rPr sz="1250" b="1" i="0">
                <a:solidFill>
                  <a:srgbClr val="3F5A2E"/>
                </a:solidFill>
                <a:latin typeface="Calibri"/>
              </a:rPr>
              <a:t>Data  </a:t>
            </a:r>
            <a:r>
              <a:rPr sz="1250" b="0" i="0">
                <a:solidFill>
                  <a:srgbClr val="3A312A"/>
                </a:solidFill>
                <a:latin typeface="Calibri"/>
              </a:rPr>
              <a:t>SQLite (better-sqlite3, node:sqlite fallback)</a:t>
            </a:r>
          </a:p>
          <a:p>
            <a:pPr algn="l">
              <a:lnSpc>
                <a:spcPct val="100000"/>
              </a:lnSpc>
              <a:spcAft>
                <a:spcPts val="1000"/>
              </a:spcAft>
            </a:pPr>
            <a:r>
              <a:rPr sz="1250" b="1" i="0">
                <a:solidFill>
                  <a:srgbClr val="3F5A2E"/>
                </a:solidFill>
                <a:latin typeface="Calibri"/>
              </a:rPr>
              <a:t>Readers  </a:t>
            </a:r>
            <a:r>
              <a:rPr sz="1250" b="0" i="0">
                <a:solidFill>
                  <a:srgbClr val="3A312A"/>
                </a:solidFill>
                <a:latin typeface="Calibri"/>
              </a:rPr>
              <a:t>Playwright, plus fetch + cheerio</a:t>
            </a:r>
          </a:p>
          <a:p>
            <a:pPr algn="l">
              <a:lnSpc>
                <a:spcPct val="100000"/>
              </a:lnSpc>
              <a:spcAft>
                <a:spcPts val="1000"/>
              </a:spcAft>
            </a:pPr>
            <a:r>
              <a:rPr sz="1250" b="1" i="0">
                <a:solidFill>
                  <a:srgbClr val="3F5A2E"/>
                </a:solidFill>
                <a:latin typeface="Calibri"/>
              </a:rPr>
              <a:t>Language tools  </a:t>
            </a:r>
            <a:r>
              <a:rPr sz="1250" b="0" i="0">
                <a:solidFill>
                  <a:srgbClr val="3A312A"/>
                </a:solidFill>
                <a:latin typeface="Calibri"/>
              </a:rPr>
              <a:t>chrono-node for dates</a:t>
            </a:r>
          </a:p>
          <a:p>
            <a:pPr algn="l">
              <a:lnSpc>
                <a:spcPct val="100000"/>
              </a:lnSpc>
              <a:spcAft>
                <a:spcPts val="1000"/>
              </a:spcAft>
            </a:pPr>
            <a:r>
              <a:rPr sz="1250" b="1" i="0">
                <a:solidFill>
                  <a:srgbClr val="3F5A2E"/>
                </a:solidFill>
                <a:latin typeface="Calibri"/>
              </a:rPr>
              <a:t>LLM (optional)  </a:t>
            </a:r>
            <a:r>
              <a:rPr sz="1250" b="0" i="0">
                <a:solidFill>
                  <a:srgbClr val="3A312A"/>
                </a:solidFill>
                <a:latin typeface="Calibri"/>
              </a:rPr>
              <a:t>@google/genai, Interactions API</a:t>
            </a:r>
          </a:p>
          <a:p>
            <a:pPr algn="l">
              <a:lnSpc>
                <a:spcPct val="100000"/>
              </a:lnSpc>
              <a:spcAft>
                <a:spcPts val="1000"/>
              </a:spcAft>
            </a:pPr>
            <a:r>
              <a:rPr sz="1250" b="1" i="0">
                <a:solidFill>
                  <a:srgbClr val="3F5A2E"/>
                </a:solidFill>
                <a:latin typeface="Calibri"/>
              </a:rPr>
              <a:t>Quality  </a:t>
            </a:r>
            <a:r>
              <a:rPr sz="1250" b="0" i="0">
                <a:solidFill>
                  <a:srgbClr val="3A312A"/>
                </a:solidFill>
                <a:latin typeface="Calibri"/>
              </a:rPr>
              <a:t>Vitest: 295 tests, 24 files</a:t>
            </a:r>
          </a:p>
          <a:p>
            <a:pPr algn="l">
              <a:lnSpc>
                <a:spcPct val="100000"/>
              </a:lnSpc>
            </a:pPr>
            <a:r>
              <a:rPr sz="1250" b="1" i="0">
                <a:solidFill>
                  <a:srgbClr val="3F5A2E"/>
                </a:solidFill>
                <a:latin typeface="Calibri"/>
              </a:rPr>
              <a:t>Deploy  </a:t>
            </a:r>
            <a:r>
              <a:rPr sz="1250" b="0" i="0">
                <a:solidFill>
                  <a:srgbClr val="3A312A"/>
                </a:solidFill>
                <a:latin typeface="Calibri"/>
              </a:rPr>
              <a:t>Docker, Render free tier, /health</a:t>
            </a:r>
          </a:p>
        </p:txBody>
      </p:sp>
      <p:sp>
        <p:nvSpPr>
          <p:cNvPr id="9" name="Rounded Rectangle 8"/>
          <p:cNvSpPr/>
          <p:nvPr/>
        </p:nvSpPr>
        <p:spPr>
          <a:xfrm>
            <a:off x="4114800" y="1600200"/>
            <a:ext cx="3840480" cy="4617720"/>
          </a:xfrm>
          <a:prstGeom prst="roundRect">
            <a:avLst>
              <a:gd name="adj" fmla="val 1428"/>
            </a:avLst>
          </a:prstGeom>
          <a:solidFill>
            <a:srgbClr val="FBF8F1"/>
          </a:solidFill>
          <a:ln w="9525">
            <a:solidFill>
              <a:srgbClr val="E2D8C6"/>
            </a:solidFill>
          </a:ln>
          <a:effectLst/>
        </p:spPr>
        <p:txBody>
          <a:bodyPr rtlCol="0" anchor="ctr"/>
          <a:lstStyle/>
          <a:p>
            <a:pPr algn="ctr"/>
          </a:p>
        </p:txBody>
      </p:sp>
      <p:sp>
        <p:nvSpPr>
          <p:cNvPr id="10" name="TextBox 9"/>
          <p:cNvSpPr txBox="1"/>
          <p:nvPr/>
        </p:nvSpPr>
        <p:spPr>
          <a:xfrm>
            <a:off x="4297680" y="1691640"/>
            <a:ext cx="3474720" cy="256032"/>
          </a:xfrm>
          <a:prstGeom prst="rect">
            <a:avLst/>
          </a:prstGeom>
          <a:noFill/>
        </p:spPr>
        <p:txBody>
          <a:bodyPr wrap="square" lIns="0" rIns="0" tIns="0" bIns="0" anchor="t">
            <a:spAutoFit/>
          </a:bodyPr>
          <a:lstStyle/>
          <a:p>
            <a:pPr algn="l">
              <a:lnSpc>
                <a:spcPct val="100000"/>
              </a:lnSpc>
            </a:pPr>
            <a:r>
              <a:rPr sz="1100" b="1" i="0" spc="120">
                <a:solidFill>
                  <a:srgbClr val="B8561F"/>
                </a:solidFill>
                <a:latin typeface="Calibri"/>
              </a:rPr>
              <a:t>DATA FLOW OF A RUN</a:t>
            </a:r>
          </a:p>
        </p:txBody>
      </p:sp>
      <p:sp>
        <p:nvSpPr>
          <p:cNvPr id="11" name="Oval 10"/>
          <p:cNvSpPr/>
          <p:nvPr/>
        </p:nvSpPr>
        <p:spPr>
          <a:xfrm>
            <a:off x="4297680" y="2057400"/>
            <a:ext cx="274320" cy="274320"/>
          </a:xfrm>
          <a:prstGeom prst="ellipse">
            <a:avLst/>
          </a:prstGeom>
          <a:solidFill>
            <a:srgbClr val="54733F"/>
          </a:solidFill>
          <a:ln>
            <a:noFill/>
          </a:ln>
          <a:effectLst/>
        </p:spPr>
        <p:txBody>
          <a:bodyPr rtlCol="0" anchor="ctr"/>
          <a:lstStyle/>
          <a:p>
            <a:pPr algn="ctr"/>
          </a:p>
        </p:txBody>
      </p:sp>
      <p:sp>
        <p:nvSpPr>
          <p:cNvPr id="12" name="TextBox 11"/>
          <p:cNvSpPr txBox="1"/>
          <p:nvPr/>
        </p:nvSpPr>
        <p:spPr>
          <a:xfrm>
            <a:off x="4297680" y="2057400"/>
            <a:ext cx="274320" cy="274320"/>
          </a:xfrm>
          <a:prstGeom prst="rect">
            <a:avLst/>
          </a:prstGeom>
          <a:noFill/>
        </p:spPr>
        <p:txBody>
          <a:bodyPr wrap="square" lIns="0" rIns="0" tIns="0" bIns="0" anchor="ctr">
            <a:spAutoFit/>
          </a:bodyPr>
          <a:lstStyle/>
          <a:p>
            <a:pPr algn="ctr">
              <a:lnSpc>
                <a:spcPct val="100000"/>
              </a:lnSpc>
            </a:pPr>
            <a:r>
              <a:rPr sz="1000" b="1" i="0">
                <a:solidFill>
                  <a:srgbClr val="FBF8F1"/>
                </a:solidFill>
                <a:latin typeface="Calibri"/>
              </a:rPr>
              <a:t>1</a:t>
            </a:r>
          </a:p>
        </p:txBody>
      </p:sp>
      <p:sp>
        <p:nvSpPr>
          <p:cNvPr id="13" name="TextBox 12"/>
          <p:cNvSpPr txBox="1"/>
          <p:nvPr/>
        </p:nvSpPr>
        <p:spPr>
          <a:xfrm>
            <a:off x="4681728" y="2029968"/>
            <a:ext cx="3108960" cy="420624"/>
          </a:xfrm>
          <a:prstGeom prst="rect">
            <a:avLst/>
          </a:prstGeom>
          <a:noFill/>
        </p:spPr>
        <p:txBody>
          <a:bodyPr wrap="square" lIns="0" rIns="0" tIns="0" bIns="0" anchor="ctr">
            <a:spAutoFit/>
          </a:bodyPr>
          <a:lstStyle/>
          <a:p>
            <a:pPr algn="l">
              <a:lnSpc>
                <a:spcPct val="100000"/>
              </a:lnSpc>
            </a:pPr>
            <a:r>
              <a:rPr sz="1150" b="0" i="0">
                <a:solidFill>
                  <a:srgbClr val="3A312A"/>
                </a:solidFill>
                <a:latin typeface="Calibri"/>
              </a:rPr>
              <a:t>Owner record (SQLite) is the source of truth</a:t>
            </a:r>
          </a:p>
        </p:txBody>
      </p:sp>
      <p:sp>
        <p:nvSpPr>
          <p:cNvPr id="14" name="Oval 13"/>
          <p:cNvSpPr/>
          <p:nvPr/>
        </p:nvSpPr>
        <p:spPr>
          <a:xfrm>
            <a:off x="4297680" y="2514600"/>
            <a:ext cx="274320" cy="274320"/>
          </a:xfrm>
          <a:prstGeom prst="ellipse">
            <a:avLst/>
          </a:prstGeom>
          <a:solidFill>
            <a:srgbClr val="54733F"/>
          </a:solidFill>
          <a:ln>
            <a:noFill/>
          </a:ln>
          <a:effectLst/>
        </p:spPr>
        <p:txBody>
          <a:bodyPr rtlCol="0" anchor="ctr"/>
          <a:lstStyle/>
          <a:p>
            <a:pPr algn="ctr"/>
          </a:p>
        </p:txBody>
      </p:sp>
      <p:sp>
        <p:nvSpPr>
          <p:cNvPr id="15" name="TextBox 14"/>
          <p:cNvSpPr txBox="1"/>
          <p:nvPr/>
        </p:nvSpPr>
        <p:spPr>
          <a:xfrm>
            <a:off x="4297680" y="2514600"/>
            <a:ext cx="274320" cy="274320"/>
          </a:xfrm>
          <a:prstGeom prst="rect">
            <a:avLst/>
          </a:prstGeom>
          <a:noFill/>
        </p:spPr>
        <p:txBody>
          <a:bodyPr wrap="square" lIns="0" rIns="0" tIns="0" bIns="0" anchor="ctr">
            <a:spAutoFit/>
          </a:bodyPr>
          <a:lstStyle/>
          <a:p>
            <a:pPr algn="ctr">
              <a:lnSpc>
                <a:spcPct val="100000"/>
              </a:lnSpc>
            </a:pPr>
            <a:r>
              <a:rPr sz="1000" b="1" i="0">
                <a:solidFill>
                  <a:srgbClr val="FBF8F1"/>
                </a:solidFill>
                <a:latin typeface="Calibri"/>
              </a:rPr>
              <a:t>2</a:t>
            </a:r>
          </a:p>
        </p:txBody>
      </p:sp>
      <p:sp>
        <p:nvSpPr>
          <p:cNvPr id="16" name="TextBox 15"/>
          <p:cNvSpPr txBox="1"/>
          <p:nvPr/>
        </p:nvSpPr>
        <p:spPr>
          <a:xfrm>
            <a:off x="4681728" y="2487168"/>
            <a:ext cx="3108960" cy="420624"/>
          </a:xfrm>
          <a:prstGeom prst="rect">
            <a:avLst/>
          </a:prstGeom>
          <a:noFill/>
        </p:spPr>
        <p:txBody>
          <a:bodyPr wrap="square" lIns="0" rIns="0" tIns="0" bIns="0" anchor="ctr">
            <a:spAutoFit/>
          </a:bodyPr>
          <a:lstStyle/>
          <a:p>
            <a:pPr algn="l">
              <a:lnSpc>
                <a:spcPct val="100000"/>
              </a:lnSpc>
            </a:pPr>
            <a:r>
              <a:rPr sz="1150" b="0" i="0">
                <a:solidFill>
                  <a:srgbClr val="3A312A"/>
                </a:solidFill>
                <a:latin typeface="Calibri"/>
              </a:rPr>
              <a:t>Read each public page and dashboard; keep raw values</a:t>
            </a:r>
          </a:p>
        </p:txBody>
      </p:sp>
      <p:sp>
        <p:nvSpPr>
          <p:cNvPr id="17" name="Oval 16"/>
          <p:cNvSpPr/>
          <p:nvPr/>
        </p:nvSpPr>
        <p:spPr>
          <a:xfrm>
            <a:off x="4297680" y="2971800"/>
            <a:ext cx="274320" cy="274320"/>
          </a:xfrm>
          <a:prstGeom prst="ellipse">
            <a:avLst/>
          </a:prstGeom>
          <a:solidFill>
            <a:srgbClr val="54733F"/>
          </a:solidFill>
          <a:ln>
            <a:noFill/>
          </a:ln>
          <a:effectLst/>
        </p:spPr>
        <p:txBody>
          <a:bodyPr rtlCol="0" anchor="ctr"/>
          <a:lstStyle/>
          <a:p>
            <a:pPr algn="ctr"/>
          </a:p>
        </p:txBody>
      </p:sp>
      <p:sp>
        <p:nvSpPr>
          <p:cNvPr id="18" name="TextBox 17"/>
          <p:cNvSpPr txBox="1"/>
          <p:nvPr/>
        </p:nvSpPr>
        <p:spPr>
          <a:xfrm>
            <a:off x="4297680" y="2971800"/>
            <a:ext cx="274320" cy="274320"/>
          </a:xfrm>
          <a:prstGeom prst="rect">
            <a:avLst/>
          </a:prstGeom>
          <a:noFill/>
        </p:spPr>
        <p:txBody>
          <a:bodyPr wrap="square" lIns="0" rIns="0" tIns="0" bIns="0" anchor="ctr">
            <a:spAutoFit/>
          </a:bodyPr>
          <a:lstStyle/>
          <a:p>
            <a:pPr algn="ctr">
              <a:lnSpc>
                <a:spcPct val="100000"/>
              </a:lnSpc>
            </a:pPr>
            <a:r>
              <a:rPr sz="1000" b="1" i="0">
                <a:solidFill>
                  <a:srgbClr val="FBF8F1"/>
                </a:solidFill>
                <a:latin typeface="Calibri"/>
              </a:rPr>
              <a:t>3</a:t>
            </a:r>
          </a:p>
        </p:txBody>
      </p:sp>
      <p:sp>
        <p:nvSpPr>
          <p:cNvPr id="19" name="TextBox 18"/>
          <p:cNvSpPr txBox="1"/>
          <p:nvPr/>
        </p:nvSpPr>
        <p:spPr>
          <a:xfrm>
            <a:off x="4681728" y="2944368"/>
            <a:ext cx="3108960" cy="420624"/>
          </a:xfrm>
          <a:prstGeom prst="rect">
            <a:avLst/>
          </a:prstGeom>
          <a:noFill/>
        </p:spPr>
        <p:txBody>
          <a:bodyPr wrap="square" lIns="0" rIns="0" tIns="0" bIns="0" anchor="ctr">
            <a:spAutoFit/>
          </a:bodyPr>
          <a:lstStyle/>
          <a:p>
            <a:pPr algn="l">
              <a:lnSpc>
                <a:spcPct val="100000"/>
              </a:lnSpc>
            </a:pPr>
            <a:r>
              <a:rPr sz="1150" b="0" i="0">
                <a:solidFill>
                  <a:srgbClr val="3A312A"/>
                </a:solidFill>
                <a:latin typeface="Calibri"/>
              </a:rPr>
              <a:t>Normalise: E.164 phone, tidy address, parse hours</a:t>
            </a:r>
          </a:p>
        </p:txBody>
      </p:sp>
      <p:sp>
        <p:nvSpPr>
          <p:cNvPr id="20" name="Oval 19"/>
          <p:cNvSpPr/>
          <p:nvPr/>
        </p:nvSpPr>
        <p:spPr>
          <a:xfrm>
            <a:off x="4297680" y="3429000"/>
            <a:ext cx="274320" cy="274320"/>
          </a:xfrm>
          <a:prstGeom prst="ellipse">
            <a:avLst/>
          </a:prstGeom>
          <a:solidFill>
            <a:srgbClr val="54733F"/>
          </a:solidFill>
          <a:ln>
            <a:noFill/>
          </a:ln>
          <a:effectLst/>
        </p:spPr>
        <p:txBody>
          <a:bodyPr rtlCol="0" anchor="ctr"/>
          <a:lstStyle/>
          <a:p>
            <a:pPr algn="ctr"/>
          </a:p>
        </p:txBody>
      </p:sp>
      <p:sp>
        <p:nvSpPr>
          <p:cNvPr id="21" name="TextBox 20"/>
          <p:cNvSpPr txBox="1"/>
          <p:nvPr/>
        </p:nvSpPr>
        <p:spPr>
          <a:xfrm>
            <a:off x="4297680" y="3429000"/>
            <a:ext cx="274320" cy="274320"/>
          </a:xfrm>
          <a:prstGeom prst="rect">
            <a:avLst/>
          </a:prstGeom>
          <a:noFill/>
        </p:spPr>
        <p:txBody>
          <a:bodyPr wrap="square" lIns="0" rIns="0" tIns="0" bIns="0" anchor="ctr">
            <a:spAutoFit/>
          </a:bodyPr>
          <a:lstStyle/>
          <a:p>
            <a:pPr algn="ctr">
              <a:lnSpc>
                <a:spcPct val="100000"/>
              </a:lnSpc>
            </a:pPr>
            <a:r>
              <a:rPr sz="1000" b="1" i="0">
                <a:solidFill>
                  <a:srgbClr val="FBF8F1"/>
                </a:solidFill>
                <a:latin typeface="Calibri"/>
              </a:rPr>
              <a:t>4</a:t>
            </a:r>
          </a:p>
        </p:txBody>
      </p:sp>
      <p:sp>
        <p:nvSpPr>
          <p:cNvPr id="22" name="TextBox 21"/>
          <p:cNvSpPr txBox="1"/>
          <p:nvPr/>
        </p:nvSpPr>
        <p:spPr>
          <a:xfrm>
            <a:off x="4681728" y="3401568"/>
            <a:ext cx="3108960" cy="420624"/>
          </a:xfrm>
          <a:prstGeom prst="rect">
            <a:avLst/>
          </a:prstGeom>
          <a:noFill/>
        </p:spPr>
        <p:txBody>
          <a:bodyPr wrap="square" lIns="0" rIns="0" tIns="0" bIns="0" anchor="ctr">
            <a:spAutoFit/>
          </a:bodyPr>
          <a:lstStyle/>
          <a:p>
            <a:pPr algn="l">
              <a:lnSpc>
                <a:spcPct val="100000"/>
              </a:lnSpc>
            </a:pPr>
            <a:r>
              <a:rPr sz="1150" b="0" i="0">
                <a:solidFill>
                  <a:srgbClr val="3A312A"/>
                </a:solidFill>
                <a:latin typeface="Calibri"/>
              </a:rPr>
              <a:t>Compare meaning per field</a:t>
            </a:r>
          </a:p>
        </p:txBody>
      </p:sp>
      <p:sp>
        <p:nvSpPr>
          <p:cNvPr id="23" name="Oval 22"/>
          <p:cNvSpPr/>
          <p:nvPr/>
        </p:nvSpPr>
        <p:spPr>
          <a:xfrm>
            <a:off x="4297680" y="3886200"/>
            <a:ext cx="274320" cy="274320"/>
          </a:xfrm>
          <a:prstGeom prst="ellipse">
            <a:avLst/>
          </a:prstGeom>
          <a:solidFill>
            <a:srgbClr val="54733F"/>
          </a:solidFill>
          <a:ln>
            <a:noFill/>
          </a:ln>
          <a:effectLst/>
        </p:spPr>
        <p:txBody>
          <a:bodyPr rtlCol="0" anchor="ctr"/>
          <a:lstStyle/>
          <a:p>
            <a:pPr algn="ctr"/>
          </a:p>
        </p:txBody>
      </p:sp>
      <p:sp>
        <p:nvSpPr>
          <p:cNvPr id="24" name="TextBox 23"/>
          <p:cNvSpPr txBox="1"/>
          <p:nvPr/>
        </p:nvSpPr>
        <p:spPr>
          <a:xfrm>
            <a:off x="4297680" y="3886200"/>
            <a:ext cx="274320" cy="274320"/>
          </a:xfrm>
          <a:prstGeom prst="rect">
            <a:avLst/>
          </a:prstGeom>
          <a:noFill/>
        </p:spPr>
        <p:txBody>
          <a:bodyPr wrap="square" lIns="0" rIns="0" tIns="0" bIns="0" anchor="ctr">
            <a:spAutoFit/>
          </a:bodyPr>
          <a:lstStyle/>
          <a:p>
            <a:pPr algn="ctr">
              <a:lnSpc>
                <a:spcPct val="100000"/>
              </a:lnSpc>
            </a:pPr>
            <a:r>
              <a:rPr sz="1000" b="1" i="0">
                <a:solidFill>
                  <a:srgbClr val="FBF8F1"/>
                </a:solidFill>
                <a:latin typeface="Calibri"/>
              </a:rPr>
              <a:t>5</a:t>
            </a:r>
          </a:p>
        </p:txBody>
      </p:sp>
      <p:sp>
        <p:nvSpPr>
          <p:cNvPr id="25" name="TextBox 24"/>
          <p:cNvSpPr txBox="1"/>
          <p:nvPr/>
        </p:nvSpPr>
        <p:spPr>
          <a:xfrm>
            <a:off x="4681728" y="3858768"/>
            <a:ext cx="3108960" cy="420624"/>
          </a:xfrm>
          <a:prstGeom prst="rect">
            <a:avLst/>
          </a:prstGeom>
          <a:noFill/>
        </p:spPr>
        <p:txBody>
          <a:bodyPr wrap="square" lIns="0" rIns="0" tIns="0" bIns="0" anchor="ctr">
            <a:spAutoFit/>
          </a:bodyPr>
          <a:lstStyle/>
          <a:p>
            <a:pPr algn="l">
              <a:lnSpc>
                <a:spcPct val="100000"/>
              </a:lnSpc>
            </a:pPr>
            <a:r>
              <a:rPr sz="1150" b="0" i="0">
                <a:solidFill>
                  <a:srgbClr val="3A312A"/>
                </a:solidFill>
                <a:latin typeface="Calibri"/>
              </a:rPr>
              <a:t>Propose: one card per mismatch</a:t>
            </a:r>
          </a:p>
        </p:txBody>
      </p:sp>
      <p:sp>
        <p:nvSpPr>
          <p:cNvPr id="26" name="Oval 25"/>
          <p:cNvSpPr/>
          <p:nvPr/>
        </p:nvSpPr>
        <p:spPr>
          <a:xfrm>
            <a:off x="4297680" y="4343400"/>
            <a:ext cx="274320" cy="274320"/>
          </a:xfrm>
          <a:prstGeom prst="ellipse">
            <a:avLst/>
          </a:prstGeom>
          <a:solidFill>
            <a:srgbClr val="54733F"/>
          </a:solidFill>
          <a:ln>
            <a:noFill/>
          </a:ln>
          <a:effectLst/>
        </p:spPr>
        <p:txBody>
          <a:bodyPr rtlCol="0" anchor="ctr"/>
          <a:lstStyle/>
          <a:p>
            <a:pPr algn="ctr"/>
          </a:p>
        </p:txBody>
      </p:sp>
      <p:sp>
        <p:nvSpPr>
          <p:cNvPr id="27" name="TextBox 26"/>
          <p:cNvSpPr txBox="1"/>
          <p:nvPr/>
        </p:nvSpPr>
        <p:spPr>
          <a:xfrm>
            <a:off x="4297680" y="4343400"/>
            <a:ext cx="274320" cy="274320"/>
          </a:xfrm>
          <a:prstGeom prst="rect">
            <a:avLst/>
          </a:prstGeom>
          <a:noFill/>
        </p:spPr>
        <p:txBody>
          <a:bodyPr wrap="square" lIns="0" rIns="0" tIns="0" bIns="0" anchor="ctr">
            <a:spAutoFit/>
          </a:bodyPr>
          <a:lstStyle/>
          <a:p>
            <a:pPr algn="ctr">
              <a:lnSpc>
                <a:spcPct val="100000"/>
              </a:lnSpc>
            </a:pPr>
            <a:r>
              <a:rPr sz="1000" b="1" i="0">
                <a:solidFill>
                  <a:srgbClr val="FBF8F1"/>
                </a:solidFill>
                <a:latin typeface="Calibri"/>
              </a:rPr>
              <a:t>6</a:t>
            </a:r>
          </a:p>
        </p:txBody>
      </p:sp>
      <p:sp>
        <p:nvSpPr>
          <p:cNvPr id="28" name="TextBox 27"/>
          <p:cNvSpPr txBox="1"/>
          <p:nvPr/>
        </p:nvSpPr>
        <p:spPr>
          <a:xfrm>
            <a:off x="4681728" y="4315968"/>
            <a:ext cx="3108960" cy="420624"/>
          </a:xfrm>
          <a:prstGeom prst="rect">
            <a:avLst/>
          </a:prstGeom>
          <a:noFill/>
        </p:spPr>
        <p:txBody>
          <a:bodyPr wrap="square" lIns="0" rIns="0" tIns="0" bIns="0" anchor="ctr">
            <a:spAutoFit/>
          </a:bodyPr>
          <a:lstStyle/>
          <a:p>
            <a:pPr algn="l">
              <a:lnSpc>
                <a:spcPct val="100000"/>
              </a:lnSpc>
            </a:pPr>
            <a:r>
              <a:rPr sz="1150" b="0" i="0">
                <a:solidFill>
                  <a:srgbClr val="3A312A"/>
                </a:solidFill>
                <a:latin typeface="Calibri"/>
              </a:rPr>
              <a:t>Owner approves: DB row becomes APPROVED</a:t>
            </a:r>
          </a:p>
        </p:txBody>
      </p:sp>
      <p:sp>
        <p:nvSpPr>
          <p:cNvPr id="29" name="Oval 28"/>
          <p:cNvSpPr/>
          <p:nvPr/>
        </p:nvSpPr>
        <p:spPr>
          <a:xfrm>
            <a:off x="4297680" y="4800600"/>
            <a:ext cx="274320" cy="274320"/>
          </a:xfrm>
          <a:prstGeom prst="ellipse">
            <a:avLst/>
          </a:prstGeom>
          <a:solidFill>
            <a:srgbClr val="54733F"/>
          </a:solidFill>
          <a:ln>
            <a:noFill/>
          </a:ln>
          <a:effectLst/>
        </p:spPr>
        <p:txBody>
          <a:bodyPr rtlCol="0" anchor="ctr"/>
          <a:lstStyle/>
          <a:p>
            <a:pPr algn="ctr"/>
          </a:p>
        </p:txBody>
      </p:sp>
      <p:sp>
        <p:nvSpPr>
          <p:cNvPr id="30" name="TextBox 29"/>
          <p:cNvSpPr txBox="1"/>
          <p:nvPr/>
        </p:nvSpPr>
        <p:spPr>
          <a:xfrm>
            <a:off x="4297680" y="4800600"/>
            <a:ext cx="274320" cy="274320"/>
          </a:xfrm>
          <a:prstGeom prst="rect">
            <a:avLst/>
          </a:prstGeom>
          <a:noFill/>
        </p:spPr>
        <p:txBody>
          <a:bodyPr wrap="square" lIns="0" rIns="0" tIns="0" bIns="0" anchor="ctr">
            <a:spAutoFit/>
          </a:bodyPr>
          <a:lstStyle/>
          <a:p>
            <a:pPr algn="ctr">
              <a:lnSpc>
                <a:spcPct val="100000"/>
              </a:lnSpc>
            </a:pPr>
            <a:r>
              <a:rPr sz="1000" b="1" i="0">
                <a:solidFill>
                  <a:srgbClr val="FBF8F1"/>
                </a:solidFill>
                <a:latin typeface="Calibri"/>
              </a:rPr>
              <a:t>7</a:t>
            </a:r>
          </a:p>
        </p:txBody>
      </p:sp>
      <p:sp>
        <p:nvSpPr>
          <p:cNvPr id="31" name="TextBox 30"/>
          <p:cNvSpPr txBox="1"/>
          <p:nvPr/>
        </p:nvSpPr>
        <p:spPr>
          <a:xfrm>
            <a:off x="4681728" y="4773168"/>
            <a:ext cx="3108960" cy="420624"/>
          </a:xfrm>
          <a:prstGeom prst="rect">
            <a:avLst/>
          </a:prstGeom>
          <a:noFill/>
        </p:spPr>
        <p:txBody>
          <a:bodyPr wrap="square" lIns="0" rIns="0" tIns="0" bIns="0" anchor="ctr">
            <a:spAutoFit/>
          </a:bodyPr>
          <a:lstStyle/>
          <a:p>
            <a:pPr algn="l">
              <a:lnSpc>
                <a:spcPct val="100000"/>
              </a:lnSpc>
            </a:pPr>
            <a:r>
              <a:rPr sz="1150" b="0" i="0">
                <a:solidFill>
                  <a:srgbClr val="3A312A"/>
                </a:solidFill>
                <a:latin typeface="Calibri"/>
              </a:rPr>
              <a:t>Apply: read-before-write, idempotent</a:t>
            </a:r>
          </a:p>
        </p:txBody>
      </p:sp>
      <p:sp>
        <p:nvSpPr>
          <p:cNvPr id="32" name="Oval 31"/>
          <p:cNvSpPr/>
          <p:nvPr/>
        </p:nvSpPr>
        <p:spPr>
          <a:xfrm>
            <a:off x="4297680" y="5257800"/>
            <a:ext cx="274320" cy="274320"/>
          </a:xfrm>
          <a:prstGeom prst="ellipse">
            <a:avLst/>
          </a:prstGeom>
          <a:solidFill>
            <a:srgbClr val="54733F"/>
          </a:solidFill>
          <a:ln>
            <a:noFill/>
          </a:ln>
          <a:effectLst/>
        </p:spPr>
        <p:txBody>
          <a:bodyPr rtlCol="0" anchor="ctr"/>
          <a:lstStyle/>
          <a:p>
            <a:pPr algn="ctr"/>
          </a:p>
        </p:txBody>
      </p:sp>
      <p:sp>
        <p:nvSpPr>
          <p:cNvPr id="33" name="TextBox 32"/>
          <p:cNvSpPr txBox="1"/>
          <p:nvPr/>
        </p:nvSpPr>
        <p:spPr>
          <a:xfrm>
            <a:off x="4297680" y="5257800"/>
            <a:ext cx="274320" cy="274320"/>
          </a:xfrm>
          <a:prstGeom prst="rect">
            <a:avLst/>
          </a:prstGeom>
          <a:noFill/>
        </p:spPr>
        <p:txBody>
          <a:bodyPr wrap="square" lIns="0" rIns="0" tIns="0" bIns="0" anchor="ctr">
            <a:spAutoFit/>
          </a:bodyPr>
          <a:lstStyle/>
          <a:p>
            <a:pPr algn="ctr">
              <a:lnSpc>
                <a:spcPct val="100000"/>
              </a:lnSpc>
            </a:pPr>
            <a:r>
              <a:rPr sz="1000" b="1" i="0">
                <a:solidFill>
                  <a:srgbClr val="FBF8F1"/>
                </a:solidFill>
                <a:latin typeface="Calibri"/>
              </a:rPr>
              <a:t>8</a:t>
            </a:r>
          </a:p>
        </p:txBody>
      </p:sp>
      <p:sp>
        <p:nvSpPr>
          <p:cNvPr id="34" name="TextBox 33"/>
          <p:cNvSpPr txBox="1"/>
          <p:nvPr/>
        </p:nvSpPr>
        <p:spPr>
          <a:xfrm>
            <a:off x="4681728" y="5230368"/>
            <a:ext cx="3108960" cy="420624"/>
          </a:xfrm>
          <a:prstGeom prst="rect">
            <a:avLst/>
          </a:prstGeom>
          <a:noFill/>
        </p:spPr>
        <p:txBody>
          <a:bodyPr wrap="square" lIns="0" rIns="0" tIns="0" bIns="0" anchor="ctr">
            <a:spAutoFit/>
          </a:bodyPr>
          <a:lstStyle/>
          <a:p>
            <a:pPr algn="l">
              <a:lnSpc>
                <a:spcPct val="100000"/>
              </a:lnSpc>
            </a:pPr>
            <a:r>
              <a:rPr sz="1150" b="0" i="0">
                <a:solidFill>
                  <a:srgbClr val="3A312A"/>
                </a:solidFill>
                <a:latin typeface="Calibri"/>
              </a:rPr>
              <a:t>Reload and verify: VERIFIED, PENDING or MISMATCH</a:t>
            </a:r>
          </a:p>
        </p:txBody>
      </p:sp>
      <p:sp>
        <p:nvSpPr>
          <p:cNvPr id="35" name="Oval 34"/>
          <p:cNvSpPr/>
          <p:nvPr/>
        </p:nvSpPr>
        <p:spPr>
          <a:xfrm>
            <a:off x="4297680" y="5715000"/>
            <a:ext cx="274320" cy="274320"/>
          </a:xfrm>
          <a:prstGeom prst="ellipse">
            <a:avLst/>
          </a:prstGeom>
          <a:solidFill>
            <a:srgbClr val="54733F"/>
          </a:solidFill>
          <a:ln>
            <a:noFill/>
          </a:ln>
          <a:effectLst/>
        </p:spPr>
        <p:txBody>
          <a:bodyPr rtlCol="0" anchor="ctr"/>
          <a:lstStyle/>
          <a:p>
            <a:pPr algn="ctr"/>
          </a:p>
        </p:txBody>
      </p:sp>
      <p:sp>
        <p:nvSpPr>
          <p:cNvPr id="36" name="TextBox 35"/>
          <p:cNvSpPr txBox="1"/>
          <p:nvPr/>
        </p:nvSpPr>
        <p:spPr>
          <a:xfrm>
            <a:off x="4297680" y="5715000"/>
            <a:ext cx="274320" cy="274320"/>
          </a:xfrm>
          <a:prstGeom prst="rect">
            <a:avLst/>
          </a:prstGeom>
          <a:noFill/>
        </p:spPr>
        <p:txBody>
          <a:bodyPr wrap="square" lIns="0" rIns="0" tIns="0" bIns="0" anchor="ctr">
            <a:spAutoFit/>
          </a:bodyPr>
          <a:lstStyle/>
          <a:p>
            <a:pPr algn="ctr">
              <a:lnSpc>
                <a:spcPct val="100000"/>
              </a:lnSpc>
            </a:pPr>
            <a:r>
              <a:rPr sz="1000" b="1" i="0">
                <a:solidFill>
                  <a:srgbClr val="FBF8F1"/>
                </a:solidFill>
                <a:latin typeface="Calibri"/>
              </a:rPr>
              <a:t>9</a:t>
            </a:r>
          </a:p>
        </p:txBody>
      </p:sp>
      <p:sp>
        <p:nvSpPr>
          <p:cNvPr id="37" name="TextBox 36"/>
          <p:cNvSpPr txBox="1"/>
          <p:nvPr/>
        </p:nvSpPr>
        <p:spPr>
          <a:xfrm>
            <a:off x="4681728" y="5687568"/>
            <a:ext cx="3108960" cy="420624"/>
          </a:xfrm>
          <a:prstGeom prst="rect">
            <a:avLst/>
          </a:prstGeom>
          <a:noFill/>
        </p:spPr>
        <p:txBody>
          <a:bodyPr wrap="square" lIns="0" rIns="0" tIns="0" bIns="0" anchor="ctr">
            <a:spAutoFit/>
          </a:bodyPr>
          <a:lstStyle/>
          <a:p>
            <a:pPr algn="l">
              <a:lnSpc>
                <a:spcPct val="100000"/>
              </a:lnSpc>
            </a:pPr>
            <a:r>
              <a:rPr sz="1150" b="0" i="0">
                <a:solidFill>
                  <a:srgbClr val="3A312A"/>
                </a:solidFill>
                <a:latin typeface="Calibri"/>
              </a:rPr>
              <a:t>Report: trace, audit log, change log, CSV</a:t>
            </a:r>
          </a:p>
        </p:txBody>
      </p:sp>
      <p:sp>
        <p:nvSpPr>
          <p:cNvPr id="38" name="Rounded Rectangle 37"/>
          <p:cNvSpPr/>
          <p:nvPr/>
        </p:nvSpPr>
        <p:spPr>
          <a:xfrm>
            <a:off x="8138160" y="1600200"/>
            <a:ext cx="3504895" cy="4617720"/>
          </a:xfrm>
          <a:prstGeom prst="roundRect">
            <a:avLst>
              <a:gd name="adj" fmla="val 1565"/>
            </a:avLst>
          </a:prstGeom>
          <a:solidFill>
            <a:srgbClr val="FBF8F1"/>
          </a:solidFill>
          <a:ln w="9525">
            <a:solidFill>
              <a:srgbClr val="E2D8C6"/>
            </a:solidFill>
          </a:ln>
          <a:effectLst/>
        </p:spPr>
        <p:txBody>
          <a:bodyPr rtlCol="0" anchor="ctr"/>
          <a:lstStyle/>
          <a:p>
            <a:pPr algn="ctr"/>
          </a:p>
        </p:txBody>
      </p:sp>
      <p:sp>
        <p:nvSpPr>
          <p:cNvPr id="39" name="TextBox 38"/>
          <p:cNvSpPr txBox="1"/>
          <p:nvPr/>
        </p:nvSpPr>
        <p:spPr>
          <a:xfrm>
            <a:off x="8321040" y="1691640"/>
            <a:ext cx="3108960" cy="256032"/>
          </a:xfrm>
          <a:prstGeom prst="rect">
            <a:avLst/>
          </a:prstGeom>
          <a:noFill/>
        </p:spPr>
        <p:txBody>
          <a:bodyPr wrap="square" lIns="0" rIns="0" tIns="0" bIns="0" anchor="t">
            <a:spAutoFit/>
          </a:bodyPr>
          <a:lstStyle/>
          <a:p>
            <a:pPr algn="l">
              <a:lnSpc>
                <a:spcPct val="100000"/>
              </a:lnSpc>
            </a:pPr>
            <a:r>
              <a:rPr sz="1100" b="1" i="0" spc="120">
                <a:solidFill>
                  <a:srgbClr val="B8561F"/>
                </a:solidFill>
                <a:latin typeface="Calibri"/>
              </a:rPr>
              <a:t>INTEGRATING WITH PLATFORMS</a:t>
            </a:r>
          </a:p>
        </p:txBody>
      </p:sp>
      <p:sp>
        <p:nvSpPr>
          <p:cNvPr id="40" name="TextBox 39"/>
          <p:cNvSpPr txBox="1"/>
          <p:nvPr/>
        </p:nvSpPr>
        <p:spPr>
          <a:xfrm>
            <a:off x="8321040" y="2029968"/>
            <a:ext cx="3154680" cy="4114800"/>
          </a:xfrm>
          <a:prstGeom prst="rect">
            <a:avLst/>
          </a:prstGeom>
          <a:noFill/>
        </p:spPr>
        <p:txBody>
          <a:bodyPr wrap="square" lIns="0" rIns="0" tIns="0" bIns="0" anchor="t">
            <a:spAutoFit/>
          </a:bodyPr>
          <a:lstStyle/>
          <a:p>
            <a:pPr algn="l" marL="155448" indent="-155448">
              <a:lnSpc>
                <a:spcPct val="100000"/>
              </a:lnSpc>
              <a:spcAft>
                <a:spcPts val="900"/>
              </a:spcAft>
              <a:buChar char="•"/>
            </a:pPr>
            <a:r>
              <a:rPr sz="1200" b="0" i="0">
                <a:solidFill>
                  <a:srgbClr val="3A312A"/>
                </a:solidFill>
                <a:latin typeface="Calibri"/>
              </a:rPr>
              <a:t>One reader per site turns four different hours layouts into one weekly schedule</a:t>
            </a:r>
          </a:p>
          <a:p>
            <a:pPr algn="l" marL="155448" indent="-155448">
              <a:lnSpc>
                <a:spcPct val="100000"/>
              </a:lnSpc>
              <a:spcAft>
                <a:spcPts val="900"/>
              </a:spcAft>
              <a:buChar char="•"/>
            </a:pPr>
            <a:r>
              <a:rPr sz="1200" b="0" i="0">
                <a:solidFill>
                  <a:srgbClr val="3A312A"/>
                </a:solidFill>
                <a:latin typeface="Calibri"/>
              </a:rPr>
              <a:t>Every read asserts the page's listing ID equals the registered ID; look-alike listings are never read as ours</a:t>
            </a:r>
          </a:p>
          <a:p>
            <a:pPr algn="l" marL="155448" indent="-155448">
              <a:lnSpc>
                <a:spcPct val="100000"/>
              </a:lnSpc>
              <a:spcAft>
                <a:spcPts val="900"/>
              </a:spcAft>
              <a:buChar char="•"/>
            </a:pPr>
            <a:r>
              <a:rPr sz="1200" b="0" i="0">
                <a:solidFill>
                  <a:srgbClr val="3A312A"/>
                </a:solidFill>
                <a:latin typeface="Calibri"/>
              </a:rPr>
              <a:t>Writes use each site's dashboard API with server-signed credentials; permission denied becomes a flag, never an edit</a:t>
            </a:r>
          </a:p>
          <a:p>
            <a:pPr algn="l" marL="155448" indent="-155448">
              <a:lnSpc>
                <a:spcPct val="100000"/>
              </a:lnSpc>
              <a:spcAft>
                <a:spcPts val="900"/>
              </a:spcAft>
              <a:buChar char="•"/>
            </a:pPr>
            <a:r>
              <a:rPr sz="1200" b="0" i="0">
                <a:solidFill>
                  <a:srgbClr val="3A312A"/>
                </a:solidFill>
                <a:latin typeface="Calibri"/>
              </a:rPr>
              <a:t>Edit accepted but page unchanged and queued: PENDING_MODERATION</a:t>
            </a:r>
          </a:p>
          <a:p>
            <a:pPr algn="l" marL="155448" indent="-155448">
              <a:lnSpc>
                <a:spcPct val="100000"/>
              </a:lnSpc>
              <a:buChar char="•"/>
            </a:pPr>
            <a:r>
              <a:rPr sz="1200" b="0" i="0">
                <a:solidFill>
                  <a:srgbClr val="3A312A"/>
                </a:solidFill>
                <a:latin typeface="Calibri"/>
              </a:rPr>
              <a:t>Real platforms would need their own APIs and consent flows; we do not claim that yet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4  ·  TECHNICAL IMPLEMENTATION</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Safety is enforced in code, not in prompts</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11</a:t>
            </a:r>
          </a:p>
        </p:txBody>
      </p:sp>
      <p:sp>
        <p:nvSpPr>
          <p:cNvPr id="6" name="Rounded Rectangle 5"/>
          <p:cNvSpPr/>
          <p:nvPr/>
        </p:nvSpPr>
        <p:spPr>
          <a:xfrm>
            <a:off x="548640" y="2011680"/>
            <a:ext cx="1143000" cy="548640"/>
          </a:xfrm>
          <a:prstGeom prst="roundRect">
            <a:avLst>
              <a:gd name="adj" fmla="val 13333"/>
            </a:avLst>
          </a:prstGeom>
          <a:solidFill>
            <a:srgbClr val="EBE2CF"/>
          </a:solidFill>
          <a:ln w="9525">
            <a:solidFill>
              <a:srgbClr val="E2D8C6"/>
            </a:solidFill>
          </a:ln>
          <a:effectLst/>
        </p:spPr>
        <p:txBody>
          <a:bodyPr rtlCol="0" anchor="ctr"/>
          <a:lstStyle/>
          <a:p>
            <a:pPr algn="ctr"/>
          </a:p>
        </p:txBody>
      </p:sp>
      <p:sp>
        <p:nvSpPr>
          <p:cNvPr id="7" name="TextBox 6"/>
          <p:cNvSpPr txBox="1"/>
          <p:nvPr/>
        </p:nvSpPr>
        <p:spPr>
          <a:xfrm>
            <a:off x="585216" y="2011680"/>
            <a:ext cx="1069848" cy="548640"/>
          </a:xfrm>
          <a:prstGeom prst="rect">
            <a:avLst/>
          </a:prstGeom>
          <a:noFill/>
        </p:spPr>
        <p:txBody>
          <a:bodyPr wrap="square" lIns="0" rIns="0" tIns="0" bIns="0" anchor="ctr">
            <a:spAutoFit/>
          </a:bodyPr>
          <a:lstStyle/>
          <a:p>
            <a:pPr algn="ctr">
              <a:lnSpc>
                <a:spcPct val="100000"/>
              </a:lnSpc>
            </a:pPr>
            <a:r>
              <a:rPr sz="950" b="1" i="0">
                <a:solidFill>
                  <a:srgbClr val="3A312A"/>
                </a:solidFill>
                <a:latin typeface="Calibri"/>
              </a:rPr>
              <a:t>MISMATCH</a:t>
            </a:r>
          </a:p>
        </p:txBody>
      </p:sp>
      <p:sp>
        <p:nvSpPr>
          <p:cNvPr id="8" name="Rounded Rectangle 7"/>
          <p:cNvSpPr/>
          <p:nvPr/>
        </p:nvSpPr>
        <p:spPr>
          <a:xfrm>
            <a:off x="1920240" y="2011680"/>
            <a:ext cx="1143000" cy="548640"/>
          </a:xfrm>
          <a:prstGeom prst="roundRect">
            <a:avLst>
              <a:gd name="adj" fmla="val 13333"/>
            </a:avLst>
          </a:prstGeom>
          <a:solidFill>
            <a:srgbClr val="EBE2CF"/>
          </a:solidFill>
          <a:ln w="9525">
            <a:solidFill>
              <a:srgbClr val="E2D8C6"/>
            </a:solidFill>
          </a:ln>
          <a:effectLst/>
        </p:spPr>
        <p:txBody>
          <a:bodyPr rtlCol="0" anchor="ctr"/>
          <a:lstStyle/>
          <a:p>
            <a:pPr algn="ctr"/>
          </a:p>
        </p:txBody>
      </p:sp>
      <p:sp>
        <p:nvSpPr>
          <p:cNvPr id="9" name="TextBox 8"/>
          <p:cNvSpPr txBox="1"/>
          <p:nvPr/>
        </p:nvSpPr>
        <p:spPr>
          <a:xfrm>
            <a:off x="1956816" y="2011680"/>
            <a:ext cx="1069848" cy="548640"/>
          </a:xfrm>
          <a:prstGeom prst="rect">
            <a:avLst/>
          </a:prstGeom>
          <a:noFill/>
        </p:spPr>
        <p:txBody>
          <a:bodyPr wrap="square" lIns="0" rIns="0" tIns="0" bIns="0" anchor="ctr">
            <a:spAutoFit/>
          </a:bodyPr>
          <a:lstStyle/>
          <a:p>
            <a:pPr algn="ctr">
              <a:lnSpc>
                <a:spcPct val="100000"/>
              </a:lnSpc>
            </a:pPr>
            <a:r>
              <a:rPr sz="950" b="1" i="0">
                <a:solidFill>
                  <a:srgbClr val="3A312A"/>
                </a:solidFill>
                <a:latin typeface="Calibri"/>
              </a:rPr>
              <a:t>PROPOSED</a:t>
            </a:r>
          </a:p>
        </p:txBody>
      </p:sp>
      <p:sp>
        <p:nvSpPr>
          <p:cNvPr id="10" name="Rounded Rectangle 9"/>
          <p:cNvSpPr/>
          <p:nvPr/>
        </p:nvSpPr>
        <p:spPr>
          <a:xfrm>
            <a:off x="3291840" y="2011680"/>
            <a:ext cx="1143000" cy="548640"/>
          </a:xfrm>
          <a:prstGeom prst="roundRect">
            <a:avLst>
              <a:gd name="adj" fmla="val 13333"/>
            </a:avLst>
          </a:prstGeom>
          <a:solidFill>
            <a:srgbClr val="DFEBD2"/>
          </a:solidFill>
          <a:ln w="9525">
            <a:solidFill>
              <a:srgbClr val="E2D8C6"/>
            </a:solidFill>
          </a:ln>
          <a:effectLst/>
        </p:spPr>
        <p:txBody>
          <a:bodyPr rtlCol="0" anchor="ctr"/>
          <a:lstStyle/>
          <a:p>
            <a:pPr algn="ctr"/>
          </a:p>
        </p:txBody>
      </p:sp>
      <p:sp>
        <p:nvSpPr>
          <p:cNvPr id="11" name="TextBox 10"/>
          <p:cNvSpPr txBox="1"/>
          <p:nvPr/>
        </p:nvSpPr>
        <p:spPr>
          <a:xfrm>
            <a:off x="3328416" y="2011680"/>
            <a:ext cx="1069848" cy="548640"/>
          </a:xfrm>
          <a:prstGeom prst="rect">
            <a:avLst/>
          </a:prstGeom>
          <a:noFill/>
        </p:spPr>
        <p:txBody>
          <a:bodyPr wrap="square" lIns="0" rIns="0" tIns="0" bIns="0" anchor="ctr">
            <a:spAutoFit/>
          </a:bodyPr>
          <a:lstStyle/>
          <a:p>
            <a:pPr algn="ctr">
              <a:lnSpc>
                <a:spcPct val="100000"/>
              </a:lnSpc>
            </a:pPr>
            <a:r>
              <a:rPr sz="950" b="1" i="0">
                <a:solidFill>
                  <a:srgbClr val="3F5A2E"/>
                </a:solidFill>
                <a:latin typeface="Calibri"/>
              </a:rPr>
              <a:t>APPROVED</a:t>
            </a:r>
          </a:p>
        </p:txBody>
      </p:sp>
      <p:sp>
        <p:nvSpPr>
          <p:cNvPr id="12" name="Rounded Rectangle 11"/>
          <p:cNvSpPr/>
          <p:nvPr/>
        </p:nvSpPr>
        <p:spPr>
          <a:xfrm>
            <a:off x="4663440" y="2011680"/>
            <a:ext cx="1143000" cy="548640"/>
          </a:xfrm>
          <a:prstGeom prst="roundRect">
            <a:avLst>
              <a:gd name="adj" fmla="val 13333"/>
            </a:avLst>
          </a:prstGeom>
          <a:solidFill>
            <a:srgbClr val="EBE2CF"/>
          </a:solidFill>
          <a:ln w="9525">
            <a:solidFill>
              <a:srgbClr val="E2D8C6"/>
            </a:solidFill>
          </a:ln>
          <a:effectLst/>
        </p:spPr>
        <p:txBody>
          <a:bodyPr rtlCol="0" anchor="ctr"/>
          <a:lstStyle/>
          <a:p>
            <a:pPr algn="ctr"/>
          </a:p>
        </p:txBody>
      </p:sp>
      <p:sp>
        <p:nvSpPr>
          <p:cNvPr id="13" name="TextBox 12"/>
          <p:cNvSpPr txBox="1"/>
          <p:nvPr/>
        </p:nvSpPr>
        <p:spPr>
          <a:xfrm>
            <a:off x="4700016" y="2011680"/>
            <a:ext cx="1069848" cy="548640"/>
          </a:xfrm>
          <a:prstGeom prst="rect">
            <a:avLst/>
          </a:prstGeom>
          <a:noFill/>
        </p:spPr>
        <p:txBody>
          <a:bodyPr wrap="square" lIns="0" rIns="0" tIns="0" bIns="0" anchor="ctr">
            <a:spAutoFit/>
          </a:bodyPr>
          <a:lstStyle/>
          <a:p>
            <a:pPr algn="ctr">
              <a:lnSpc>
                <a:spcPct val="100000"/>
              </a:lnSpc>
            </a:pPr>
            <a:r>
              <a:rPr sz="950" b="1" i="0">
                <a:solidFill>
                  <a:srgbClr val="3A312A"/>
                </a:solidFill>
                <a:latin typeface="Calibri"/>
              </a:rPr>
              <a:t>APPLIED</a:t>
            </a:r>
          </a:p>
        </p:txBody>
      </p:sp>
      <p:sp>
        <p:nvSpPr>
          <p:cNvPr id="14" name="Rounded Rectangle 13"/>
          <p:cNvSpPr/>
          <p:nvPr/>
        </p:nvSpPr>
        <p:spPr>
          <a:xfrm>
            <a:off x="6035040" y="2011680"/>
            <a:ext cx="1143000" cy="548640"/>
          </a:xfrm>
          <a:prstGeom prst="roundRect">
            <a:avLst>
              <a:gd name="adj" fmla="val 13333"/>
            </a:avLst>
          </a:prstGeom>
          <a:solidFill>
            <a:srgbClr val="54733F"/>
          </a:solidFill>
          <a:ln w="9525">
            <a:solidFill>
              <a:srgbClr val="E2D8C6"/>
            </a:solidFill>
          </a:ln>
          <a:effectLst/>
        </p:spPr>
        <p:txBody>
          <a:bodyPr rtlCol="0" anchor="ctr"/>
          <a:lstStyle/>
          <a:p>
            <a:pPr algn="ctr"/>
          </a:p>
        </p:txBody>
      </p:sp>
      <p:sp>
        <p:nvSpPr>
          <p:cNvPr id="15" name="TextBox 14"/>
          <p:cNvSpPr txBox="1"/>
          <p:nvPr/>
        </p:nvSpPr>
        <p:spPr>
          <a:xfrm>
            <a:off x="6071616" y="2011680"/>
            <a:ext cx="1069848" cy="548640"/>
          </a:xfrm>
          <a:prstGeom prst="rect">
            <a:avLst/>
          </a:prstGeom>
          <a:noFill/>
        </p:spPr>
        <p:txBody>
          <a:bodyPr wrap="square" lIns="0" rIns="0" tIns="0" bIns="0" anchor="ctr">
            <a:spAutoFit/>
          </a:bodyPr>
          <a:lstStyle/>
          <a:p>
            <a:pPr algn="ctr">
              <a:lnSpc>
                <a:spcPct val="100000"/>
              </a:lnSpc>
            </a:pPr>
            <a:r>
              <a:rPr sz="950" b="1" i="0">
                <a:solidFill>
                  <a:srgbClr val="FBF8F1"/>
                </a:solidFill>
                <a:latin typeface="Calibri"/>
              </a:rPr>
              <a:t>VERIFIED</a:t>
            </a:r>
          </a:p>
        </p:txBody>
      </p:sp>
      <p:cxnSp>
        <p:nvCxnSpPr>
          <p:cNvPr id="16" name="Connector 15"/>
          <p:cNvCxnSpPr/>
          <p:nvPr/>
        </p:nvCxnSpPr>
        <p:spPr>
          <a:xfrm>
            <a:off x="1700784" y="2286000"/>
            <a:ext cx="210312" cy="0"/>
          </a:xfrm>
          <a:prstGeom prst="line">
            <a:avLst/>
          </a:prstGeom>
          <a:ln w="25400">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34440" y="1664208"/>
            <a:ext cx="1143000" cy="274320"/>
          </a:xfrm>
          <a:prstGeom prst="rect">
            <a:avLst/>
          </a:prstGeom>
          <a:noFill/>
        </p:spPr>
        <p:txBody>
          <a:bodyPr wrap="square" lIns="0" rIns="0" tIns="0" bIns="0" anchor="t">
            <a:spAutoFit/>
          </a:bodyPr>
          <a:lstStyle/>
          <a:p>
            <a:pPr algn="ctr">
              <a:lnSpc>
                <a:spcPct val="100000"/>
              </a:lnSpc>
            </a:pPr>
            <a:r>
              <a:rPr sz="950" b="1" i="0">
                <a:solidFill>
                  <a:srgbClr val="B8561F"/>
                </a:solidFill>
                <a:latin typeface="Calibri"/>
              </a:rPr>
              <a:t>agent proposes</a:t>
            </a:r>
          </a:p>
        </p:txBody>
      </p:sp>
      <p:cxnSp>
        <p:nvCxnSpPr>
          <p:cNvPr id="18" name="Connector 17"/>
          <p:cNvCxnSpPr/>
          <p:nvPr/>
        </p:nvCxnSpPr>
        <p:spPr>
          <a:xfrm>
            <a:off x="3072384" y="2286000"/>
            <a:ext cx="210312" cy="0"/>
          </a:xfrm>
          <a:prstGeom prst="line">
            <a:avLst/>
          </a:prstGeom>
          <a:ln w="25400">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606040" y="1664208"/>
            <a:ext cx="1143000" cy="274320"/>
          </a:xfrm>
          <a:prstGeom prst="rect">
            <a:avLst/>
          </a:prstGeom>
          <a:noFill/>
        </p:spPr>
        <p:txBody>
          <a:bodyPr wrap="square" lIns="0" rIns="0" tIns="0" bIns="0" anchor="t">
            <a:spAutoFit/>
          </a:bodyPr>
          <a:lstStyle/>
          <a:p>
            <a:pPr algn="ctr">
              <a:lnSpc>
                <a:spcPct val="100000"/>
              </a:lnSpc>
            </a:pPr>
            <a:r>
              <a:rPr sz="950" b="1" i="0">
                <a:solidFill>
                  <a:srgbClr val="B8561F"/>
                </a:solidFill>
                <a:latin typeface="Calibri"/>
              </a:rPr>
              <a:t>owner only</a:t>
            </a:r>
          </a:p>
        </p:txBody>
      </p:sp>
      <p:cxnSp>
        <p:nvCxnSpPr>
          <p:cNvPr id="20" name="Connector 19"/>
          <p:cNvCxnSpPr/>
          <p:nvPr/>
        </p:nvCxnSpPr>
        <p:spPr>
          <a:xfrm>
            <a:off x="4443984" y="2286000"/>
            <a:ext cx="210312" cy="0"/>
          </a:xfrm>
          <a:prstGeom prst="line">
            <a:avLst/>
          </a:prstGeom>
          <a:ln w="25400">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977639" y="1664208"/>
            <a:ext cx="1143000" cy="274320"/>
          </a:xfrm>
          <a:prstGeom prst="rect">
            <a:avLst/>
          </a:prstGeom>
          <a:noFill/>
        </p:spPr>
        <p:txBody>
          <a:bodyPr wrap="square" lIns="0" rIns="0" tIns="0" bIns="0" anchor="t">
            <a:spAutoFit/>
          </a:bodyPr>
          <a:lstStyle/>
          <a:p>
            <a:pPr algn="ctr">
              <a:lnSpc>
                <a:spcPct val="100000"/>
              </a:lnSpc>
            </a:pPr>
            <a:r>
              <a:rPr sz="950" b="1" i="0">
                <a:solidFill>
                  <a:srgbClr val="B8561F"/>
                </a:solidFill>
                <a:latin typeface="Calibri"/>
              </a:rPr>
              <a:t>agent sends</a:t>
            </a:r>
          </a:p>
        </p:txBody>
      </p:sp>
      <p:cxnSp>
        <p:nvCxnSpPr>
          <p:cNvPr id="22" name="Connector 21"/>
          <p:cNvCxnSpPr/>
          <p:nvPr/>
        </p:nvCxnSpPr>
        <p:spPr>
          <a:xfrm>
            <a:off x="5815583" y="2286000"/>
            <a:ext cx="210313" cy="0"/>
          </a:xfrm>
          <a:prstGeom prst="line">
            <a:avLst/>
          </a:prstGeom>
          <a:ln w="25400">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349240" y="1664208"/>
            <a:ext cx="1143000" cy="274320"/>
          </a:xfrm>
          <a:prstGeom prst="rect">
            <a:avLst/>
          </a:prstGeom>
          <a:noFill/>
        </p:spPr>
        <p:txBody>
          <a:bodyPr wrap="square" lIns="0" rIns="0" tIns="0" bIns="0" anchor="t">
            <a:spAutoFit/>
          </a:bodyPr>
          <a:lstStyle/>
          <a:p>
            <a:pPr algn="ctr">
              <a:lnSpc>
                <a:spcPct val="100000"/>
              </a:lnSpc>
            </a:pPr>
            <a:r>
              <a:rPr sz="950" b="1" i="0">
                <a:solidFill>
                  <a:srgbClr val="B8561F"/>
                </a:solidFill>
                <a:latin typeface="Calibri"/>
              </a:rPr>
              <a:t>verifier only</a:t>
            </a:r>
          </a:p>
        </p:txBody>
      </p:sp>
      <p:sp>
        <p:nvSpPr>
          <p:cNvPr id="24" name="Rounded Rectangle 23"/>
          <p:cNvSpPr/>
          <p:nvPr/>
        </p:nvSpPr>
        <p:spPr>
          <a:xfrm>
            <a:off x="548640" y="3474720"/>
            <a:ext cx="1417320" cy="548640"/>
          </a:xfrm>
          <a:prstGeom prst="roundRect">
            <a:avLst>
              <a:gd name="adj" fmla="val 13333"/>
            </a:avLst>
          </a:prstGeom>
          <a:solidFill>
            <a:srgbClr val="F7DADD"/>
          </a:solidFill>
          <a:ln w="9525">
            <a:solidFill>
              <a:srgbClr val="E2D8C6"/>
            </a:solidFill>
          </a:ln>
          <a:effectLst/>
        </p:spPr>
        <p:txBody>
          <a:bodyPr rtlCol="0" anchor="ctr"/>
          <a:lstStyle/>
          <a:p>
            <a:pPr algn="ctr"/>
          </a:p>
        </p:txBody>
      </p:sp>
      <p:sp>
        <p:nvSpPr>
          <p:cNvPr id="25" name="TextBox 24"/>
          <p:cNvSpPr txBox="1"/>
          <p:nvPr/>
        </p:nvSpPr>
        <p:spPr>
          <a:xfrm>
            <a:off x="585216" y="3474720"/>
            <a:ext cx="1344168" cy="548640"/>
          </a:xfrm>
          <a:prstGeom prst="rect">
            <a:avLst/>
          </a:prstGeom>
          <a:noFill/>
        </p:spPr>
        <p:txBody>
          <a:bodyPr wrap="square" lIns="0" rIns="0" tIns="0" bIns="0" anchor="ctr">
            <a:spAutoFit/>
          </a:bodyPr>
          <a:lstStyle/>
          <a:p>
            <a:pPr algn="ctr">
              <a:lnSpc>
                <a:spcPct val="100000"/>
              </a:lnSpc>
            </a:pPr>
            <a:r>
              <a:rPr sz="950" b="1" i="0">
                <a:solidFill>
                  <a:srgbClr val="9B2A38"/>
                </a:solidFill>
                <a:latin typeface="Calibri"/>
              </a:rPr>
              <a:t>FLAGGED_NOT_OWNER</a:t>
            </a:r>
          </a:p>
        </p:txBody>
      </p:sp>
      <p:cxnSp>
        <p:nvCxnSpPr>
          <p:cNvPr id="26" name="Connector 25"/>
          <p:cNvCxnSpPr/>
          <p:nvPr/>
        </p:nvCxnSpPr>
        <p:spPr>
          <a:xfrm>
            <a:off x="1115568" y="2560320"/>
            <a:ext cx="0" cy="896112"/>
          </a:xfrm>
          <a:prstGeom prst="line">
            <a:avLst/>
          </a:prstGeom>
          <a:ln w="22225">
            <a:solidFill>
              <a:srgbClr val="9B2A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148840" y="3474720"/>
            <a:ext cx="1143000" cy="548640"/>
          </a:xfrm>
          <a:prstGeom prst="roundRect">
            <a:avLst>
              <a:gd name="adj" fmla="val 13333"/>
            </a:avLst>
          </a:prstGeom>
          <a:solidFill>
            <a:srgbClr val="EBE2CF"/>
          </a:solidFill>
          <a:ln w="9525">
            <a:solidFill>
              <a:srgbClr val="E2D8C6"/>
            </a:solidFill>
          </a:ln>
          <a:effectLst/>
        </p:spPr>
        <p:txBody>
          <a:bodyPr rtlCol="0" anchor="ctr"/>
          <a:lstStyle/>
          <a:p>
            <a:pPr algn="ctr"/>
          </a:p>
        </p:txBody>
      </p:sp>
      <p:sp>
        <p:nvSpPr>
          <p:cNvPr id="28" name="TextBox 27"/>
          <p:cNvSpPr txBox="1"/>
          <p:nvPr/>
        </p:nvSpPr>
        <p:spPr>
          <a:xfrm>
            <a:off x="2185416" y="3474720"/>
            <a:ext cx="1069848" cy="548640"/>
          </a:xfrm>
          <a:prstGeom prst="rect">
            <a:avLst/>
          </a:prstGeom>
          <a:noFill/>
        </p:spPr>
        <p:txBody>
          <a:bodyPr wrap="square" lIns="0" rIns="0" tIns="0" bIns="0" anchor="ctr">
            <a:spAutoFit/>
          </a:bodyPr>
          <a:lstStyle/>
          <a:p>
            <a:pPr algn="ctr">
              <a:lnSpc>
                <a:spcPct val="100000"/>
              </a:lnSpc>
            </a:pPr>
            <a:r>
              <a:rPr sz="950" b="1" i="0">
                <a:solidFill>
                  <a:srgbClr val="3A312A"/>
                </a:solidFill>
                <a:latin typeface="Calibri"/>
              </a:rPr>
              <a:t>REJECTED</a:t>
            </a:r>
          </a:p>
        </p:txBody>
      </p:sp>
      <p:cxnSp>
        <p:nvCxnSpPr>
          <p:cNvPr id="29" name="Connector 28"/>
          <p:cNvCxnSpPr/>
          <p:nvPr/>
        </p:nvCxnSpPr>
        <p:spPr>
          <a:xfrm>
            <a:off x="2487168" y="2560320"/>
            <a:ext cx="0" cy="896112"/>
          </a:xfrm>
          <a:prstGeom prst="line">
            <a:avLst/>
          </a:prstGeom>
          <a:ln w="22225">
            <a:solidFill>
              <a:srgbClr val="6A5E5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480559" y="3474720"/>
            <a:ext cx="1554480" cy="548640"/>
          </a:xfrm>
          <a:prstGeom prst="roundRect">
            <a:avLst>
              <a:gd name="adj" fmla="val 13333"/>
            </a:avLst>
          </a:prstGeom>
          <a:solidFill>
            <a:srgbClr val="F4DCC8"/>
          </a:solidFill>
          <a:ln w="9525">
            <a:solidFill>
              <a:srgbClr val="E2D8C6"/>
            </a:solidFill>
          </a:ln>
          <a:effectLst/>
        </p:spPr>
        <p:txBody>
          <a:bodyPr rtlCol="0" anchor="ctr"/>
          <a:lstStyle/>
          <a:p>
            <a:pPr algn="ctr"/>
          </a:p>
        </p:txBody>
      </p:sp>
      <p:sp>
        <p:nvSpPr>
          <p:cNvPr id="31" name="TextBox 30"/>
          <p:cNvSpPr txBox="1"/>
          <p:nvPr/>
        </p:nvSpPr>
        <p:spPr>
          <a:xfrm>
            <a:off x="4517136" y="3474720"/>
            <a:ext cx="1481328" cy="548640"/>
          </a:xfrm>
          <a:prstGeom prst="rect">
            <a:avLst/>
          </a:prstGeom>
          <a:noFill/>
        </p:spPr>
        <p:txBody>
          <a:bodyPr wrap="square" lIns="0" rIns="0" tIns="0" bIns="0" anchor="ctr">
            <a:spAutoFit/>
          </a:bodyPr>
          <a:lstStyle/>
          <a:p>
            <a:pPr algn="ctr">
              <a:lnSpc>
                <a:spcPct val="100000"/>
              </a:lnSpc>
            </a:pPr>
            <a:r>
              <a:rPr sz="950" b="1" i="0">
                <a:solidFill>
                  <a:srgbClr val="B8561F"/>
                </a:solidFill>
                <a:latin typeface="Calibri"/>
              </a:rPr>
              <a:t>PENDING_MODERATION</a:t>
            </a:r>
          </a:p>
        </p:txBody>
      </p:sp>
      <p:cxnSp>
        <p:nvCxnSpPr>
          <p:cNvPr id="32" name="Connector 31"/>
          <p:cNvCxnSpPr/>
          <p:nvPr/>
        </p:nvCxnSpPr>
        <p:spPr>
          <a:xfrm>
            <a:off x="5230368" y="2560320"/>
            <a:ext cx="0" cy="896112"/>
          </a:xfrm>
          <a:prstGeom prst="line">
            <a:avLst/>
          </a:prstGeom>
          <a:ln w="22225">
            <a:solidFill>
              <a:srgbClr val="B856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035040" y="2578608"/>
            <a:ext cx="566928" cy="1033272"/>
          </a:xfrm>
          <a:prstGeom prst="line">
            <a:avLst/>
          </a:prstGeom>
          <a:ln w="22225">
            <a:solidFill>
              <a:srgbClr val="54733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4096512"/>
            <a:ext cx="1417320" cy="411480"/>
          </a:xfrm>
          <a:prstGeom prst="rect">
            <a:avLst/>
          </a:prstGeom>
          <a:noFill/>
        </p:spPr>
        <p:txBody>
          <a:bodyPr wrap="square" lIns="0" rIns="0" tIns="0" bIns="0" anchor="t">
            <a:spAutoFit/>
          </a:bodyPr>
          <a:lstStyle/>
          <a:p>
            <a:pPr algn="l">
              <a:lnSpc>
                <a:spcPct val="100000"/>
              </a:lnSpc>
            </a:pPr>
            <a:r>
              <a:rPr sz="1000" b="1" i="0">
                <a:solidFill>
                  <a:srgbClr val="9B2A38"/>
                </a:solidFill>
                <a:latin typeface="Calibri"/>
              </a:rPr>
              <a:t>permission denied: no write</a:t>
            </a:r>
          </a:p>
        </p:txBody>
      </p:sp>
      <p:sp>
        <p:nvSpPr>
          <p:cNvPr id="35" name="TextBox 34"/>
          <p:cNvSpPr txBox="1"/>
          <p:nvPr/>
        </p:nvSpPr>
        <p:spPr>
          <a:xfrm>
            <a:off x="2148840" y="4096512"/>
            <a:ext cx="1143000" cy="411480"/>
          </a:xfrm>
          <a:prstGeom prst="rect">
            <a:avLst/>
          </a:prstGeom>
          <a:noFill/>
        </p:spPr>
        <p:txBody>
          <a:bodyPr wrap="square" lIns="0" rIns="0" tIns="0" bIns="0" anchor="t">
            <a:spAutoFit/>
          </a:bodyPr>
          <a:lstStyle/>
          <a:p>
            <a:pPr algn="l">
              <a:lnSpc>
                <a:spcPct val="100000"/>
              </a:lnSpc>
            </a:pPr>
            <a:r>
              <a:rPr sz="1000" b="1" i="0">
                <a:solidFill>
                  <a:srgbClr val="6A5E51"/>
                </a:solidFill>
                <a:latin typeface="Calibri"/>
              </a:rPr>
              <a:t>owner rejects</a:t>
            </a:r>
          </a:p>
        </p:txBody>
      </p:sp>
      <p:sp>
        <p:nvSpPr>
          <p:cNvPr id="36" name="TextBox 35"/>
          <p:cNvSpPr txBox="1"/>
          <p:nvPr/>
        </p:nvSpPr>
        <p:spPr>
          <a:xfrm>
            <a:off x="4480559" y="4096512"/>
            <a:ext cx="2468880" cy="411480"/>
          </a:xfrm>
          <a:prstGeom prst="rect">
            <a:avLst/>
          </a:prstGeom>
          <a:noFill/>
        </p:spPr>
        <p:txBody>
          <a:bodyPr wrap="square" lIns="0" rIns="0" tIns="0" bIns="0" anchor="t">
            <a:spAutoFit/>
          </a:bodyPr>
          <a:lstStyle/>
          <a:p>
            <a:pPr algn="l">
              <a:lnSpc>
                <a:spcPct val="100000"/>
              </a:lnSpc>
            </a:pPr>
            <a:r>
              <a:rPr sz="1000" b="1" i="0">
                <a:solidFill>
                  <a:srgbClr val="B8561F"/>
                </a:solidFill>
                <a:latin typeface="Calibri"/>
              </a:rPr>
              <a:t>queued, page unchanged; VERIFIED after moderator and reload</a:t>
            </a:r>
          </a:p>
        </p:txBody>
      </p:sp>
      <p:sp>
        <p:nvSpPr>
          <p:cNvPr id="37" name="TextBox 36"/>
          <p:cNvSpPr txBox="1"/>
          <p:nvPr/>
        </p:nvSpPr>
        <p:spPr>
          <a:xfrm>
            <a:off x="548640" y="4617720"/>
            <a:ext cx="6858000" cy="45720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Entering APPROVED requires the actor "owner"; entering VERIFIED requires the actor "verifier". Enforced in src/core/states.ts and unit-tested.</a:t>
            </a:r>
          </a:p>
        </p:txBody>
      </p:sp>
      <p:sp>
        <p:nvSpPr>
          <p:cNvPr id="38" name="Rounded Rectangle 37"/>
          <p:cNvSpPr/>
          <p:nvPr/>
        </p:nvSpPr>
        <p:spPr>
          <a:xfrm>
            <a:off x="548640" y="5120640"/>
            <a:ext cx="685800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39" name="TextBox 38"/>
          <p:cNvSpPr txBox="1"/>
          <p:nvPr/>
        </p:nvSpPr>
        <p:spPr>
          <a:xfrm>
            <a:off x="713232" y="5285231"/>
            <a:ext cx="6528816" cy="216408"/>
          </a:xfrm>
          <a:prstGeom prst="rect">
            <a:avLst/>
          </a:prstGeom>
          <a:noFill/>
        </p:spPr>
        <p:txBody>
          <a:bodyPr wrap="square" lIns="0" rIns="0" tIns="0" bIns="0" anchor="t">
            <a:spAutoFit/>
          </a:bodyPr>
          <a:lstStyle/>
          <a:p>
            <a:pPr algn="l">
              <a:lnSpc>
                <a:spcPct val="100000"/>
              </a:lnSpc>
            </a:pPr>
            <a:r>
              <a:rPr sz="1300" b="1" i="0">
                <a:solidFill>
                  <a:srgbClr val="3A312A"/>
                </a:solidFill>
                <a:latin typeface="Calibri"/>
              </a:rPr>
              <a:t>Isolation and secrets</a:t>
            </a:r>
          </a:p>
        </p:txBody>
      </p:sp>
      <p:sp>
        <p:nvSpPr>
          <p:cNvPr id="40" name="TextBox 39"/>
          <p:cNvSpPr txBox="1"/>
          <p:nvPr/>
        </p:nvSpPr>
        <p:spPr>
          <a:xfrm>
            <a:off x="713232" y="5547360"/>
            <a:ext cx="6528816" cy="663244"/>
          </a:xfrm>
          <a:prstGeom prst="rect">
            <a:avLst/>
          </a:prstGeom>
          <a:noFill/>
        </p:spPr>
        <p:txBody>
          <a:bodyPr wrap="square" lIns="0" rIns="0" tIns="0" bIns="0" anchor="t">
            <a:spAutoFit/>
          </a:bodyPr>
          <a:lstStyle/>
          <a:p>
            <a:pPr algn="l" marL="155448" indent="-155448">
              <a:lnSpc>
                <a:spcPct val="100000"/>
              </a:lnSpc>
              <a:spcAft>
                <a:spcPts val="200"/>
              </a:spcAft>
              <a:buChar char="•"/>
            </a:pPr>
            <a:r>
              <a:rPr sz="1050" b="0" i="0">
                <a:solidFill>
                  <a:srgbClr val="6A5E51"/>
                </a:solidFill>
                <a:latin typeface="Calibri"/>
              </a:rPr>
              <a:t>One business can never read another's data: a session-scoped business ID is required on every call; foreign IDs answer 404.</a:t>
            </a:r>
          </a:p>
          <a:p>
            <a:pPr algn="l" marL="155448" indent="-155448">
              <a:lnSpc>
                <a:spcPct val="100000"/>
              </a:lnSpc>
              <a:buChar char="•"/>
            </a:pPr>
            <a:r>
              <a:rPr sz="1050" b="0" i="0">
                <a:solidFill>
                  <a:srgbClr val="6A5E51"/>
                </a:solidFill>
                <a:latin typeface="Calibri"/>
              </a:rPr>
              <a:t>PINs are never stored (HMAC-SHA256, constant-time compare, rate-limited). The API key never reaches git, logs, /health or the trace.</a:t>
            </a:r>
          </a:p>
        </p:txBody>
      </p:sp>
      <p:sp>
        <p:nvSpPr>
          <p:cNvPr id="41" name="Rounded Rectangle 40"/>
          <p:cNvSpPr/>
          <p:nvPr/>
        </p:nvSpPr>
        <p:spPr>
          <a:xfrm>
            <a:off x="7680960" y="1600200"/>
            <a:ext cx="3962095" cy="4709160"/>
          </a:xfrm>
          <a:prstGeom prst="roundRect">
            <a:avLst>
              <a:gd name="adj" fmla="val 1384"/>
            </a:avLst>
          </a:prstGeom>
          <a:solidFill>
            <a:srgbClr val="FBF8F1"/>
          </a:solidFill>
          <a:ln w="9525">
            <a:solidFill>
              <a:srgbClr val="E2D8C6"/>
            </a:solidFill>
          </a:ln>
          <a:effectLst/>
        </p:spPr>
        <p:txBody>
          <a:bodyPr rtlCol="0" anchor="ctr"/>
          <a:lstStyle/>
          <a:p>
            <a:pPr algn="ctr"/>
          </a:p>
        </p:txBody>
      </p:sp>
      <p:sp>
        <p:nvSpPr>
          <p:cNvPr id="42" name="TextBox 41"/>
          <p:cNvSpPr txBox="1"/>
          <p:nvPr/>
        </p:nvSpPr>
        <p:spPr>
          <a:xfrm>
            <a:off x="7863840" y="1691640"/>
            <a:ext cx="3566160" cy="256032"/>
          </a:xfrm>
          <a:prstGeom prst="rect">
            <a:avLst/>
          </a:prstGeom>
          <a:noFill/>
        </p:spPr>
        <p:txBody>
          <a:bodyPr wrap="square" lIns="0" rIns="0" tIns="0" bIns="0" anchor="t">
            <a:spAutoFit/>
          </a:bodyPr>
          <a:lstStyle/>
          <a:p>
            <a:pPr algn="l">
              <a:lnSpc>
                <a:spcPct val="100000"/>
              </a:lnSpc>
            </a:pPr>
            <a:r>
              <a:rPr sz="1100" b="1" i="0" spc="120">
                <a:solidFill>
                  <a:srgbClr val="B8561F"/>
                </a:solidFill>
                <a:latin typeface="Calibri"/>
              </a:rPr>
              <a:t>GUARDRAILS IN CODE</a:t>
            </a:r>
          </a:p>
        </p:txBody>
      </p:sp>
      <p:sp>
        <p:nvSpPr>
          <p:cNvPr id="43" name="TextBox 42"/>
          <p:cNvSpPr txBox="1"/>
          <p:nvPr/>
        </p:nvSpPr>
        <p:spPr>
          <a:xfrm>
            <a:off x="7863840" y="2029968"/>
            <a:ext cx="3611880" cy="2743200"/>
          </a:xfrm>
          <a:prstGeom prst="rect">
            <a:avLst/>
          </a:prstGeom>
          <a:noFill/>
        </p:spPr>
        <p:txBody>
          <a:bodyPr wrap="square" lIns="0" rIns="0" tIns="0" bIns="0" anchor="t">
            <a:spAutoFit/>
          </a:bodyPr>
          <a:lstStyle/>
          <a:p>
            <a:pPr algn="l" marL="155448" indent="-155448">
              <a:lnSpc>
                <a:spcPct val="100000"/>
              </a:lnSpc>
              <a:spcAft>
                <a:spcPts val="900"/>
              </a:spcAft>
              <a:buChar char="•"/>
            </a:pPr>
            <a:r>
              <a:rPr sz="1250" b="0" i="0">
                <a:solidFill>
                  <a:srgbClr val="3A312A"/>
                </a:solidFill>
                <a:latin typeface="Calibri"/>
              </a:rPr>
              <a:t>No apply without a DB row the owner approved</a:t>
            </a:r>
          </a:p>
          <a:p>
            <a:pPr algn="l" marL="155448" indent="-155448">
              <a:lnSpc>
                <a:spcPct val="100000"/>
              </a:lnSpc>
              <a:spcAft>
                <a:spcPts val="900"/>
              </a:spcAft>
              <a:buChar char="•"/>
            </a:pPr>
            <a:r>
              <a:rPr sz="1250" b="0" i="0">
                <a:solidFill>
                  <a:srgbClr val="3A312A"/>
                </a:solidFill>
                <a:latin typeface="Calibri"/>
              </a:rPr>
              <a:t>Permission denied forces flag_listing</a:t>
            </a:r>
          </a:p>
          <a:p>
            <a:pPr algn="l" marL="155448" indent="-155448">
              <a:lnSpc>
                <a:spcPct val="100000"/>
              </a:lnSpc>
              <a:spcAft>
                <a:spcPts val="900"/>
              </a:spcAft>
              <a:buChar char="•"/>
            </a:pPr>
            <a:r>
              <a:rPr sz="1250" b="0" i="0">
                <a:solidFill>
                  <a:srgbClr val="3A312A"/>
                </a:solidFill>
                <a:latin typeface="Calibri"/>
              </a:rPr>
              <a:t>Only the verifier can mark VERIFIED, after a reload</a:t>
            </a:r>
          </a:p>
          <a:p>
            <a:pPr algn="l" marL="155448" indent="-155448">
              <a:lnSpc>
                <a:spcPct val="100000"/>
              </a:lnSpc>
              <a:spcAft>
                <a:spcPts val="900"/>
              </a:spcAft>
              <a:buChar char="•"/>
            </a:pPr>
            <a:r>
              <a:rPr sz="1250" b="0" i="0">
                <a:solidFill>
                  <a:srgbClr val="3A312A"/>
                </a:solidFill>
                <a:latin typeface="Calibri"/>
              </a:rPr>
              <a:t>Pending moderation is never reported as fixed</a:t>
            </a:r>
          </a:p>
          <a:p>
            <a:pPr algn="l" marL="155448" indent="-155448">
              <a:lnSpc>
                <a:spcPct val="100000"/>
              </a:lnSpc>
              <a:spcAft>
                <a:spcPts val="900"/>
              </a:spcAft>
              <a:buChar char="•"/>
            </a:pPr>
            <a:r>
              <a:rPr sz="1250" b="0" i="0">
                <a:solidFill>
                  <a:srgbClr val="3A312A"/>
                </a:solidFill>
                <a:latin typeface="Calibri"/>
              </a:rPr>
              <a:t>Decoy listings are never read as ours or edited</a:t>
            </a:r>
          </a:p>
          <a:p>
            <a:pPr algn="l" marL="155448" indent="-155448">
              <a:lnSpc>
                <a:spcPct val="100000"/>
              </a:lnSpc>
              <a:buChar char="•"/>
            </a:pPr>
            <a:r>
              <a:rPr sz="1250" b="0" i="0">
                <a:solidFill>
                  <a:srgbClr val="3A312A"/>
                </a:solidFill>
                <a:latin typeface="Calibri"/>
              </a:rPr>
              <a:t>Re-running never double-applies</a:t>
            </a:r>
          </a:p>
        </p:txBody>
      </p:sp>
      <p:sp>
        <p:nvSpPr>
          <p:cNvPr id="44" name="Rounded Rectangle 43"/>
          <p:cNvSpPr/>
          <p:nvPr/>
        </p:nvSpPr>
        <p:spPr>
          <a:xfrm>
            <a:off x="7863840" y="4800600"/>
            <a:ext cx="3593592" cy="1371600"/>
          </a:xfrm>
          <a:prstGeom prst="roundRect">
            <a:avLst>
              <a:gd name="adj" fmla="val 5333"/>
            </a:avLst>
          </a:prstGeom>
          <a:solidFill>
            <a:srgbClr val="2F2721"/>
          </a:solidFill>
          <a:ln>
            <a:noFill/>
          </a:ln>
          <a:effectLst/>
        </p:spPr>
        <p:txBody>
          <a:bodyPr rtlCol="0" anchor="ctr"/>
          <a:lstStyle/>
          <a:p>
            <a:pPr algn="ctr"/>
          </a:p>
        </p:txBody>
      </p:sp>
      <p:sp>
        <p:nvSpPr>
          <p:cNvPr id="45" name="TextBox 44"/>
          <p:cNvSpPr txBox="1"/>
          <p:nvPr/>
        </p:nvSpPr>
        <p:spPr>
          <a:xfrm>
            <a:off x="8046720" y="4864608"/>
            <a:ext cx="3246120" cy="548640"/>
          </a:xfrm>
          <a:prstGeom prst="rect">
            <a:avLst/>
          </a:prstGeom>
          <a:noFill/>
        </p:spPr>
        <p:txBody>
          <a:bodyPr wrap="square" lIns="0" rIns="0" tIns="0" bIns="0" anchor="t">
            <a:spAutoFit/>
          </a:bodyPr>
          <a:lstStyle/>
          <a:p>
            <a:pPr algn="l">
              <a:lnSpc>
                <a:spcPct val="100000"/>
              </a:lnSpc>
            </a:pPr>
            <a:r>
              <a:rPr sz="3200" b="1" i="0">
                <a:solidFill>
                  <a:srgbClr val="FBF8F1"/>
                </a:solidFill>
                <a:latin typeface="Cambria"/>
              </a:rPr>
              <a:t>6 / 6</a:t>
            </a:r>
          </a:p>
        </p:txBody>
      </p:sp>
      <p:sp>
        <p:nvSpPr>
          <p:cNvPr id="46" name="TextBox 45"/>
          <p:cNvSpPr txBox="1"/>
          <p:nvPr/>
        </p:nvSpPr>
        <p:spPr>
          <a:xfrm>
            <a:off x="8046720" y="5440680"/>
            <a:ext cx="3246120" cy="685800"/>
          </a:xfrm>
          <a:prstGeom prst="rect">
            <a:avLst/>
          </a:prstGeom>
          <a:noFill/>
        </p:spPr>
        <p:txBody>
          <a:bodyPr wrap="square" lIns="0" rIns="0" tIns="0" bIns="0" anchor="t">
            <a:spAutoFit/>
          </a:bodyPr>
          <a:lstStyle/>
          <a:p>
            <a:pPr algn="l">
              <a:lnSpc>
                <a:spcPct val="100000"/>
              </a:lnSpc>
            </a:pPr>
            <a:r>
              <a:rPr sz="1150" b="0" i="0">
                <a:solidFill>
                  <a:srgbClr val="E7D9C2"/>
                </a:solidFill>
                <a:latin typeface="Calibri"/>
              </a:rPr>
              <a:t>unsafe actions blocked by a scripted rogue planner: 0 writes, 0 false VERIFIED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5  ·  THE INNOVATION</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Not a dashboard, not a chatbot, not a cron job</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12</a:t>
            </a:r>
          </a:p>
        </p:txBody>
      </p:sp>
      <p:graphicFrame>
        <p:nvGraphicFramePr>
          <p:cNvPr id="6" name="Table 5"/>
          <p:cNvGraphicFramePr>
            <a:graphicFrameLocks noGrp="1"/>
          </p:cNvGraphicFramePr>
          <p:nvPr/>
        </p:nvGraphicFramePr>
        <p:xfrm>
          <a:off x="548640" y="1554480"/>
          <a:ext cx="11094415" cy="2926080"/>
        </p:xfrm>
        <a:graphic>
          <a:graphicData uri="http://schemas.openxmlformats.org/drawingml/2006/table">
            <a:tbl>
              <a:tblPr firstRow="0" bandRow="0">
                <a:tableStyleId>{2D5ABB26-0587-4C30-8999-92F81FD0307C}</a:tableStyleId>
              </a:tblPr>
              <a:tblGrid>
                <a:gridCol w="3657600"/>
                <a:gridCol w="1783080"/>
                <a:gridCol w="1783080"/>
                <a:gridCol w="1965960"/>
                <a:gridCol w="1904695"/>
              </a:tblGrid>
              <a:tr h="365760">
                <a:tc>
                  <a:txBody>
                    <a:bodyPr wrap="square"/>
                    <a:lstStyle/>
                    <a:p>
                      <a:pPr algn="l"/>
                      <a:r>
                        <a:rPr sz="1200" b="1">
                          <a:solidFill>
                            <a:srgbClr val="FBF8F1"/>
                          </a:solidFill>
                          <a:latin typeface="Calibri"/>
                        </a:rPr>
                        <a:t/>
                      </a:r>
                    </a:p>
                  </a:txBody>
                  <a:tcPr marL="91440" marR="91440" marT="36576" marB="36576" anchor="ctr">
                    <a:lnB w="9525" cap="flat" cmpd="sng" algn="ctr">
                      <a:solidFill>
                        <a:srgbClr val="E2D8C6"/>
                      </a:solidFill>
                      <a:prstDash val="solid"/>
                    </a:lnB>
                    <a:solidFill>
                      <a:srgbClr val="2F2721"/>
                    </a:solidFill>
                  </a:tcPr>
                </a:tc>
                <a:tc>
                  <a:txBody>
                    <a:bodyPr wrap="square"/>
                    <a:lstStyle/>
                    <a:p>
                      <a:pPr algn="l"/>
                      <a:r>
                        <a:rPr sz="1200" b="1">
                          <a:solidFill>
                            <a:srgbClr val="FBF8F1"/>
                          </a:solidFill>
                          <a:latin typeface="Calibri"/>
                        </a:rPr>
                        <a:t>Typical dashboard</a:t>
                      </a:r>
                    </a:p>
                  </a:txBody>
                  <a:tcPr marL="91440" marR="91440" marT="36576" marB="36576" anchor="ctr">
                    <a:lnB w="9525" cap="flat" cmpd="sng" algn="ctr">
                      <a:solidFill>
                        <a:srgbClr val="E2D8C6"/>
                      </a:solidFill>
                      <a:prstDash val="solid"/>
                    </a:lnB>
                    <a:solidFill>
                      <a:srgbClr val="2F2721"/>
                    </a:solidFill>
                  </a:tcPr>
                </a:tc>
                <a:tc>
                  <a:txBody>
                    <a:bodyPr wrap="square"/>
                    <a:lstStyle/>
                    <a:p>
                      <a:pPr algn="l"/>
                      <a:r>
                        <a:rPr sz="1200" b="1">
                          <a:solidFill>
                            <a:srgbClr val="FBF8F1"/>
                          </a:solidFill>
                          <a:latin typeface="Calibri"/>
                        </a:rPr>
                        <a:t>Typical chatbot</a:t>
                      </a:r>
                    </a:p>
                  </a:txBody>
                  <a:tcPr marL="91440" marR="91440" marT="36576" marB="36576" anchor="ctr">
                    <a:lnB w="9525" cap="flat" cmpd="sng" algn="ctr">
                      <a:solidFill>
                        <a:srgbClr val="E2D8C6"/>
                      </a:solidFill>
                      <a:prstDash val="solid"/>
                    </a:lnB>
                    <a:solidFill>
                      <a:srgbClr val="2F2721"/>
                    </a:solidFill>
                  </a:tcPr>
                </a:tc>
                <a:tc>
                  <a:txBody>
                    <a:bodyPr wrap="square"/>
                    <a:lstStyle/>
                    <a:p>
                      <a:pPr algn="l"/>
                      <a:r>
                        <a:rPr sz="1200" b="1">
                          <a:solidFill>
                            <a:srgbClr val="FBF8F1"/>
                          </a:solidFill>
                          <a:latin typeface="Calibri"/>
                        </a:rPr>
                        <a:t>Typical rule-based sync</a:t>
                      </a:r>
                    </a:p>
                  </a:txBody>
                  <a:tcPr marL="91440" marR="91440" marT="36576" marB="36576" anchor="ctr">
                    <a:lnB w="9525" cap="flat" cmpd="sng" algn="ctr">
                      <a:solidFill>
                        <a:srgbClr val="E2D8C6"/>
                      </a:solidFill>
                      <a:prstDash val="solid"/>
                    </a:lnB>
                    <a:solidFill>
                      <a:srgbClr val="2F2721"/>
                    </a:solidFill>
                  </a:tcPr>
                </a:tc>
                <a:tc>
                  <a:txBody>
                    <a:bodyPr wrap="square"/>
                    <a:lstStyle/>
                    <a:p>
                      <a:pPr algn="l"/>
                      <a:r>
                        <a:rPr sz="1200" b="1">
                          <a:solidFill>
                            <a:srgbClr val="FBF8F1"/>
                          </a:solidFill>
                          <a:latin typeface="Calibri"/>
                        </a:rPr>
                        <a:t>Our agent</a:t>
                      </a:r>
                    </a:p>
                  </a:txBody>
                  <a:tcPr marL="91440" marR="91440" marT="36576" marB="36576" anchor="ctr">
                    <a:lnB w="9525" cap="flat" cmpd="sng" algn="ctr">
                      <a:solidFill>
                        <a:srgbClr val="E2D8C6"/>
                      </a:solidFill>
                      <a:prstDash val="solid"/>
                    </a:lnB>
                    <a:solidFill>
                      <a:srgbClr val="2F2721"/>
                    </a:solidFill>
                  </a:tcPr>
                </a:tc>
              </a:tr>
              <a:tr h="365760">
                <a:tc>
                  <a:txBody>
                    <a:bodyPr wrap="square"/>
                    <a:lstStyle/>
                    <a:p>
                      <a:r>
                        <a:rPr sz="1200" b="1">
                          <a:solidFill>
                            <a:srgbClr val="3A312A"/>
                          </a:solidFill>
                          <a:latin typeface="Calibri"/>
                        </a:rPr>
                        <a:t>Compares meaning, not formatting</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B8561F"/>
                          </a:solidFill>
                          <a:latin typeface="Calibri"/>
                        </a:rPr>
                        <a:t>Partly</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F5A2E"/>
                          </a:solidFill>
                          <a:latin typeface="Calibri"/>
                        </a:rPr>
                        <a:t>Yes</a:t>
                      </a:r>
                    </a:p>
                  </a:txBody>
                  <a:tcPr marL="91440" marR="91440" marT="36576" marB="36576" anchor="ctr">
                    <a:lnB w="9525" cap="flat" cmpd="sng" algn="ctr">
                      <a:solidFill>
                        <a:srgbClr val="E2D8C6"/>
                      </a:solidFill>
                      <a:prstDash val="solid"/>
                    </a:lnB>
                    <a:solidFill>
                      <a:srgbClr val="DFEBD2"/>
                    </a:solidFill>
                  </a:tcPr>
                </a:tc>
              </a:tr>
              <a:tr h="365760">
                <a:tc>
                  <a:txBody>
                    <a:bodyPr wrap="square"/>
                    <a:lstStyle/>
                    <a:p>
                      <a:r>
                        <a:rPr sz="1200" b="1">
                          <a:solidFill>
                            <a:srgbClr val="3A312A"/>
                          </a:solidFill>
                          <a:latin typeface="Calibri"/>
                        </a:rPr>
                        <a:t>Knows who owns a listing and refuses to edit it</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B8561F"/>
                          </a:solidFill>
                          <a:latin typeface="Calibri"/>
                        </a:rPr>
                        <a:t>Partly</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3F5A2E"/>
                          </a:solidFill>
                          <a:latin typeface="Calibri"/>
                        </a:rPr>
                        <a:t>Yes</a:t>
                      </a:r>
                    </a:p>
                  </a:txBody>
                  <a:tcPr marL="91440" marR="91440" marT="36576" marB="36576" anchor="ctr">
                    <a:lnB w="9525" cap="flat" cmpd="sng" algn="ctr">
                      <a:solidFill>
                        <a:srgbClr val="E2D8C6"/>
                      </a:solidFill>
                      <a:prstDash val="solid"/>
                    </a:lnB>
                    <a:solidFill>
                      <a:srgbClr val="DFEBD2"/>
                    </a:solidFill>
                  </a:tcPr>
                </a:tc>
              </a:tr>
              <a:tr h="365760">
                <a:tc>
                  <a:txBody>
                    <a:bodyPr wrap="square"/>
                    <a:lstStyle/>
                    <a:p>
                      <a:r>
                        <a:rPr sz="1200" b="1">
                          <a:solidFill>
                            <a:srgbClr val="3A312A"/>
                          </a:solidFill>
                          <a:latin typeface="Calibri"/>
                        </a:rPr>
                        <a:t>Reloads the page to prove the edit went live</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F5A2E"/>
                          </a:solidFill>
                          <a:latin typeface="Calibri"/>
                        </a:rPr>
                        <a:t>Yes</a:t>
                      </a:r>
                    </a:p>
                  </a:txBody>
                  <a:tcPr marL="91440" marR="91440" marT="36576" marB="36576" anchor="ctr">
                    <a:lnB w="9525" cap="flat" cmpd="sng" algn="ctr">
                      <a:solidFill>
                        <a:srgbClr val="E2D8C6"/>
                      </a:solidFill>
                      <a:prstDash val="solid"/>
                    </a:lnB>
                    <a:solidFill>
                      <a:srgbClr val="DFEBD2"/>
                    </a:solidFill>
                  </a:tcPr>
                </a:tc>
              </a:tr>
              <a:tr h="365760">
                <a:tc>
                  <a:txBody>
                    <a:bodyPr wrap="square"/>
                    <a:lstStyle/>
                    <a:p>
                      <a:r>
                        <a:rPr sz="1200" b="1">
                          <a:solidFill>
                            <a:srgbClr val="3A312A"/>
                          </a:solidFill>
                          <a:latin typeface="Calibri"/>
                        </a:rPr>
                        <a:t>Tells "pending moderation" from "done"</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3F5A2E"/>
                          </a:solidFill>
                          <a:latin typeface="Calibri"/>
                        </a:rPr>
                        <a:t>Yes</a:t>
                      </a:r>
                    </a:p>
                  </a:txBody>
                  <a:tcPr marL="91440" marR="91440" marT="36576" marB="36576" anchor="ctr">
                    <a:lnB w="9525" cap="flat" cmpd="sng" algn="ctr">
                      <a:solidFill>
                        <a:srgbClr val="E2D8C6"/>
                      </a:solidFill>
                      <a:prstDash val="solid"/>
                    </a:lnB>
                    <a:solidFill>
                      <a:srgbClr val="DFEBD2"/>
                    </a:solidFill>
                  </a:tcPr>
                </a:tc>
              </a:tr>
              <a:tr h="365760">
                <a:tc>
                  <a:txBody>
                    <a:bodyPr wrap="square"/>
                    <a:lstStyle/>
                    <a:p>
                      <a:r>
                        <a:rPr sz="1200" b="1">
                          <a:solidFill>
                            <a:srgbClr val="3A312A"/>
                          </a:solidFill>
                          <a:latin typeface="Calibri"/>
                        </a:rPr>
                        <a:t>Explains every step it took (trace)</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B8561F"/>
                          </a:solidFill>
                          <a:latin typeface="Calibri"/>
                        </a:rPr>
                        <a:t>Partly</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F5A2E"/>
                          </a:solidFill>
                          <a:latin typeface="Calibri"/>
                        </a:rPr>
                        <a:t>Yes</a:t>
                      </a:r>
                    </a:p>
                  </a:txBody>
                  <a:tcPr marL="91440" marR="91440" marT="36576" marB="36576" anchor="ctr">
                    <a:lnB w="9525" cap="flat" cmpd="sng" algn="ctr">
                      <a:solidFill>
                        <a:srgbClr val="E2D8C6"/>
                      </a:solidFill>
                      <a:prstDash val="solid"/>
                    </a:lnB>
                    <a:solidFill>
                      <a:srgbClr val="DFEBD2"/>
                    </a:solidFill>
                  </a:tcPr>
                </a:tc>
              </a:tr>
              <a:tr h="365760">
                <a:tc>
                  <a:txBody>
                    <a:bodyPr wrap="square"/>
                    <a:lstStyle/>
                    <a:p>
                      <a:r>
                        <a:rPr sz="1200" b="1">
                          <a:solidFill>
                            <a:srgbClr val="3A312A"/>
                          </a:solidFill>
                          <a:latin typeface="Calibri"/>
                        </a:rPr>
                        <a:t>Recovers when a page changes or a site is down</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B8561F"/>
                          </a:solidFill>
                          <a:latin typeface="Calibri"/>
                        </a:rPr>
                        <a:t>Partly</a:t>
                      </a:r>
                    </a:p>
                  </a:txBody>
                  <a:tcPr marL="91440" marR="91440" marT="36576" marB="36576" anchor="ctr">
                    <a:lnB w="9525" cap="flat" cmpd="sng" algn="ctr">
                      <a:solidFill>
                        <a:srgbClr val="E2D8C6"/>
                      </a:solidFill>
                      <a:prstDash val="solid"/>
                    </a:lnB>
                    <a:solidFill>
                      <a:srgbClr val="F6F1E7"/>
                    </a:solidFill>
                  </a:tcPr>
                </a:tc>
                <a:tc>
                  <a:txBody>
                    <a:bodyPr wrap="square"/>
                    <a:lstStyle/>
                    <a:p>
                      <a:r>
                        <a:rPr sz="1200" b="0">
                          <a:solidFill>
                            <a:srgbClr val="3F5A2E"/>
                          </a:solidFill>
                          <a:latin typeface="Calibri"/>
                        </a:rPr>
                        <a:t>Yes</a:t>
                      </a:r>
                    </a:p>
                  </a:txBody>
                  <a:tcPr marL="91440" marR="91440" marT="36576" marB="36576" anchor="ctr">
                    <a:lnB w="9525" cap="flat" cmpd="sng" algn="ctr">
                      <a:solidFill>
                        <a:srgbClr val="E2D8C6"/>
                      </a:solidFill>
                      <a:prstDash val="solid"/>
                    </a:lnB>
                    <a:solidFill>
                      <a:srgbClr val="DFEBD2"/>
                    </a:solidFill>
                  </a:tcPr>
                </a:tc>
              </a:tr>
              <a:tr h="365760">
                <a:tc>
                  <a:txBody>
                    <a:bodyPr wrap="square"/>
                    <a:lstStyle/>
                    <a:p>
                      <a:r>
                        <a:rPr sz="1200" b="1">
                          <a:solidFill>
                            <a:srgbClr val="3A312A"/>
                          </a:solidFill>
                          <a:latin typeface="Calibri"/>
                        </a:rPr>
                        <a:t>Looks ahead (holiday alerts)</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6A5E51"/>
                          </a:solidFill>
                          <a:latin typeface="Calibri"/>
                        </a:rPr>
                        <a:t>No</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B8561F"/>
                          </a:solidFill>
                          <a:latin typeface="Calibri"/>
                        </a:rPr>
                        <a:t>Partly</a:t>
                      </a:r>
                    </a:p>
                  </a:txBody>
                  <a:tcPr marL="91440" marR="91440" marT="36576" marB="36576" anchor="ctr">
                    <a:lnB w="9525" cap="flat" cmpd="sng" algn="ctr">
                      <a:solidFill>
                        <a:srgbClr val="E2D8C6"/>
                      </a:solidFill>
                      <a:prstDash val="solid"/>
                    </a:lnB>
                    <a:solidFill>
                      <a:srgbClr val="FBF8F1"/>
                    </a:solidFill>
                  </a:tcPr>
                </a:tc>
                <a:tc>
                  <a:txBody>
                    <a:bodyPr wrap="square"/>
                    <a:lstStyle/>
                    <a:p>
                      <a:r>
                        <a:rPr sz="1200" b="0">
                          <a:solidFill>
                            <a:srgbClr val="3F5A2E"/>
                          </a:solidFill>
                          <a:latin typeface="Calibri"/>
                        </a:rPr>
                        <a:t>Yes</a:t>
                      </a:r>
                    </a:p>
                  </a:txBody>
                  <a:tcPr marL="91440" marR="91440" marT="36576" marB="36576" anchor="ctr">
                    <a:lnB w="9525" cap="flat" cmpd="sng" algn="ctr">
                      <a:solidFill>
                        <a:srgbClr val="E2D8C6"/>
                      </a:solidFill>
                      <a:prstDash val="solid"/>
                    </a:lnB>
                    <a:solidFill>
                      <a:srgbClr val="DFEBD2"/>
                    </a:solidFill>
                  </a:tcPr>
                </a:tc>
              </a:tr>
            </a:tbl>
          </a:graphicData>
        </a:graphic>
      </p:graphicFrame>
      <p:sp>
        <p:nvSpPr>
          <p:cNvPr id="7" name="TextBox 6"/>
          <p:cNvSpPr txBox="1"/>
          <p:nvPr/>
        </p:nvSpPr>
        <p:spPr>
          <a:xfrm>
            <a:off x="548640" y="4553712"/>
            <a:ext cx="11094415" cy="201168"/>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Compared with typical tools in each category, not with specific products. "Partly" means possible, or only if configured.</a:t>
            </a:r>
          </a:p>
        </p:txBody>
      </p:sp>
      <p:sp>
        <p:nvSpPr>
          <p:cNvPr id="8" name="Rounded Rectangle 7"/>
          <p:cNvSpPr/>
          <p:nvPr/>
        </p:nvSpPr>
        <p:spPr>
          <a:xfrm>
            <a:off x="548640" y="4846320"/>
            <a:ext cx="2651760" cy="1444752"/>
          </a:xfrm>
          <a:prstGeom prst="roundRect">
            <a:avLst>
              <a:gd name="adj" fmla="val 5063"/>
            </a:avLst>
          </a:prstGeom>
          <a:solidFill>
            <a:srgbClr val="EBE2CF"/>
          </a:solidFill>
          <a:ln>
            <a:noFill/>
          </a:ln>
          <a:effectLst/>
        </p:spPr>
        <p:txBody>
          <a:bodyPr rtlCol="0" anchor="ctr"/>
          <a:lstStyle/>
          <a:p>
            <a:pPr algn="ctr"/>
          </a:p>
        </p:txBody>
      </p:sp>
      <p:sp>
        <p:nvSpPr>
          <p:cNvPr id="9" name="TextBox 8"/>
          <p:cNvSpPr txBox="1"/>
          <p:nvPr/>
        </p:nvSpPr>
        <p:spPr>
          <a:xfrm>
            <a:off x="685800" y="4937760"/>
            <a:ext cx="2377440" cy="274320"/>
          </a:xfrm>
          <a:prstGeom prst="rect">
            <a:avLst/>
          </a:prstGeom>
          <a:noFill/>
        </p:spPr>
        <p:txBody>
          <a:bodyPr wrap="square" lIns="0" rIns="0" tIns="0" bIns="0" anchor="t">
            <a:spAutoFit/>
          </a:bodyPr>
          <a:lstStyle/>
          <a:p>
            <a:pPr algn="l">
              <a:lnSpc>
                <a:spcPct val="100000"/>
              </a:lnSpc>
            </a:pPr>
            <a:r>
              <a:rPr sz="1350" b="1" i="0">
                <a:solidFill>
                  <a:srgbClr val="3F5A2E"/>
                </a:solidFill>
                <a:latin typeface="Calibri"/>
              </a:rPr>
              <a:t>Verify-after-write</a:t>
            </a:r>
          </a:p>
        </p:txBody>
      </p:sp>
      <p:sp>
        <p:nvSpPr>
          <p:cNvPr id="10" name="TextBox 9"/>
          <p:cNvSpPr txBox="1"/>
          <p:nvPr/>
        </p:nvSpPr>
        <p:spPr>
          <a:xfrm>
            <a:off x="685800" y="5266944"/>
            <a:ext cx="2377440" cy="1005840"/>
          </a:xfrm>
          <a:prstGeom prst="rect">
            <a:avLst/>
          </a:prstGeom>
          <a:noFill/>
        </p:spPr>
        <p:txBody>
          <a:bodyPr wrap="square" lIns="0" rIns="0" tIns="0" bIns="0" anchor="t">
            <a:spAutoFit/>
          </a:bodyPr>
          <a:lstStyle/>
          <a:p>
            <a:pPr algn="l">
              <a:lnSpc>
                <a:spcPct val="100000"/>
              </a:lnSpc>
            </a:pPr>
            <a:r>
              <a:rPr sz="1200" b="0" i="0">
                <a:solidFill>
                  <a:srgbClr val="3A312A"/>
                </a:solidFill>
                <a:latin typeface="Calibri"/>
              </a:rPr>
              <a:t>A field becomes VERIFIED only when the reloaded public page shows the approved value.</a:t>
            </a:r>
          </a:p>
        </p:txBody>
      </p:sp>
      <p:sp>
        <p:nvSpPr>
          <p:cNvPr id="11" name="Rounded Rectangle 10"/>
          <p:cNvSpPr/>
          <p:nvPr/>
        </p:nvSpPr>
        <p:spPr>
          <a:xfrm>
            <a:off x="3362248" y="4846320"/>
            <a:ext cx="2651760" cy="1444752"/>
          </a:xfrm>
          <a:prstGeom prst="roundRect">
            <a:avLst>
              <a:gd name="adj" fmla="val 5063"/>
            </a:avLst>
          </a:prstGeom>
          <a:solidFill>
            <a:srgbClr val="EBE2CF"/>
          </a:solidFill>
          <a:ln>
            <a:noFill/>
          </a:ln>
          <a:effectLst/>
        </p:spPr>
        <p:txBody>
          <a:bodyPr rtlCol="0" anchor="ctr"/>
          <a:lstStyle/>
          <a:p>
            <a:pPr algn="ctr"/>
          </a:p>
        </p:txBody>
      </p:sp>
      <p:sp>
        <p:nvSpPr>
          <p:cNvPr id="12" name="TextBox 11"/>
          <p:cNvSpPr txBox="1"/>
          <p:nvPr/>
        </p:nvSpPr>
        <p:spPr>
          <a:xfrm>
            <a:off x="3499408" y="4937760"/>
            <a:ext cx="2377440" cy="274320"/>
          </a:xfrm>
          <a:prstGeom prst="rect">
            <a:avLst/>
          </a:prstGeom>
          <a:noFill/>
        </p:spPr>
        <p:txBody>
          <a:bodyPr wrap="square" lIns="0" rIns="0" tIns="0" bIns="0" anchor="t">
            <a:spAutoFit/>
          </a:bodyPr>
          <a:lstStyle/>
          <a:p>
            <a:pPr algn="l">
              <a:lnSpc>
                <a:spcPct val="100000"/>
              </a:lnSpc>
            </a:pPr>
            <a:r>
              <a:rPr sz="1350" b="1" i="0">
                <a:solidFill>
                  <a:srgbClr val="3F5A2E"/>
                </a:solidFill>
                <a:latin typeface="Calibri"/>
              </a:rPr>
              <a:t>Ownership-aware</a:t>
            </a:r>
          </a:p>
        </p:txBody>
      </p:sp>
      <p:sp>
        <p:nvSpPr>
          <p:cNvPr id="13" name="TextBox 12"/>
          <p:cNvSpPr txBox="1"/>
          <p:nvPr/>
        </p:nvSpPr>
        <p:spPr>
          <a:xfrm>
            <a:off x="3499408" y="5266944"/>
            <a:ext cx="2377440" cy="1005840"/>
          </a:xfrm>
          <a:prstGeom prst="rect">
            <a:avLst/>
          </a:prstGeom>
          <a:noFill/>
        </p:spPr>
        <p:txBody>
          <a:bodyPr wrap="square" lIns="0" rIns="0" tIns="0" bIns="0" anchor="t">
            <a:spAutoFit/>
          </a:bodyPr>
          <a:lstStyle/>
          <a:p>
            <a:pPr algn="l">
              <a:lnSpc>
                <a:spcPct val="100000"/>
              </a:lnSpc>
            </a:pPr>
            <a:r>
              <a:rPr sz="1200" b="0" i="0">
                <a:solidFill>
                  <a:srgbClr val="3A312A"/>
                </a:solidFill>
                <a:latin typeface="Calibri"/>
              </a:rPr>
              <a:t>Claimed by someone else? No edit is attempted, and a claim request is drafted for the owner.</a:t>
            </a:r>
          </a:p>
        </p:txBody>
      </p:sp>
      <p:sp>
        <p:nvSpPr>
          <p:cNvPr id="14" name="Rounded Rectangle 13"/>
          <p:cNvSpPr/>
          <p:nvPr/>
        </p:nvSpPr>
        <p:spPr>
          <a:xfrm>
            <a:off x="6175857" y="4846320"/>
            <a:ext cx="2651760" cy="1444752"/>
          </a:xfrm>
          <a:prstGeom prst="roundRect">
            <a:avLst>
              <a:gd name="adj" fmla="val 5063"/>
            </a:avLst>
          </a:prstGeom>
          <a:solidFill>
            <a:srgbClr val="EBE2CF"/>
          </a:solidFill>
          <a:ln>
            <a:noFill/>
          </a:ln>
          <a:effectLst/>
        </p:spPr>
        <p:txBody>
          <a:bodyPr rtlCol="0" anchor="ctr"/>
          <a:lstStyle/>
          <a:p>
            <a:pPr algn="ctr"/>
          </a:p>
        </p:txBody>
      </p:sp>
      <p:sp>
        <p:nvSpPr>
          <p:cNvPr id="15" name="TextBox 14"/>
          <p:cNvSpPr txBox="1"/>
          <p:nvPr/>
        </p:nvSpPr>
        <p:spPr>
          <a:xfrm>
            <a:off x="6313017" y="4937760"/>
            <a:ext cx="2377440" cy="274320"/>
          </a:xfrm>
          <a:prstGeom prst="rect">
            <a:avLst/>
          </a:prstGeom>
          <a:noFill/>
        </p:spPr>
        <p:txBody>
          <a:bodyPr wrap="square" lIns="0" rIns="0" tIns="0" bIns="0" anchor="t">
            <a:spAutoFit/>
          </a:bodyPr>
          <a:lstStyle/>
          <a:p>
            <a:pPr algn="l">
              <a:lnSpc>
                <a:spcPct val="100000"/>
              </a:lnSpc>
            </a:pPr>
            <a:r>
              <a:rPr sz="1350" b="1" i="0">
                <a:solidFill>
                  <a:srgbClr val="3F5A2E"/>
                </a:solidFill>
                <a:latin typeface="Calibri"/>
              </a:rPr>
              <a:t>Finds you among look-alikes</a:t>
            </a:r>
          </a:p>
        </p:txBody>
      </p:sp>
      <p:sp>
        <p:nvSpPr>
          <p:cNvPr id="16" name="TextBox 15"/>
          <p:cNvSpPr txBox="1"/>
          <p:nvPr/>
        </p:nvSpPr>
        <p:spPr>
          <a:xfrm>
            <a:off x="6313017" y="5266944"/>
            <a:ext cx="2377440" cy="1005840"/>
          </a:xfrm>
          <a:prstGeom prst="rect">
            <a:avLst/>
          </a:prstGeom>
          <a:noFill/>
        </p:spPr>
        <p:txBody>
          <a:bodyPr wrap="square" lIns="0" rIns="0" tIns="0" bIns="0" anchor="t">
            <a:spAutoFit/>
          </a:bodyPr>
          <a:lstStyle/>
          <a:p>
            <a:pPr algn="l">
              <a:lnSpc>
                <a:spcPct val="100000"/>
              </a:lnSpc>
            </a:pPr>
            <a:r>
              <a:rPr sz="1200" b="0" i="0">
                <a:solidFill>
                  <a:srgbClr val="3A312A"/>
                </a:solidFill>
                <a:latin typeface="Calibri"/>
              </a:rPr>
              <a:t>Score = phone 40 + address 35 + name 25. The look-alike scores 37.7, the real listing 100.</a:t>
            </a:r>
          </a:p>
        </p:txBody>
      </p:sp>
      <p:sp>
        <p:nvSpPr>
          <p:cNvPr id="17" name="Rounded Rectangle 16"/>
          <p:cNvSpPr/>
          <p:nvPr/>
        </p:nvSpPr>
        <p:spPr>
          <a:xfrm>
            <a:off x="8989466" y="4846320"/>
            <a:ext cx="2651760" cy="1444752"/>
          </a:xfrm>
          <a:prstGeom prst="roundRect">
            <a:avLst>
              <a:gd name="adj" fmla="val 5063"/>
            </a:avLst>
          </a:prstGeom>
          <a:solidFill>
            <a:srgbClr val="EBE2CF"/>
          </a:solidFill>
          <a:ln>
            <a:noFill/>
          </a:ln>
          <a:effectLst/>
        </p:spPr>
        <p:txBody>
          <a:bodyPr rtlCol="0" anchor="ctr"/>
          <a:lstStyle/>
          <a:p>
            <a:pPr algn="ctr"/>
          </a:p>
        </p:txBody>
      </p:sp>
      <p:sp>
        <p:nvSpPr>
          <p:cNvPr id="18" name="TextBox 17"/>
          <p:cNvSpPr txBox="1"/>
          <p:nvPr/>
        </p:nvSpPr>
        <p:spPr>
          <a:xfrm>
            <a:off x="9126626" y="4937760"/>
            <a:ext cx="2377440" cy="274320"/>
          </a:xfrm>
          <a:prstGeom prst="rect">
            <a:avLst/>
          </a:prstGeom>
          <a:noFill/>
        </p:spPr>
        <p:txBody>
          <a:bodyPr wrap="square" lIns="0" rIns="0" tIns="0" bIns="0" anchor="t">
            <a:spAutoFit/>
          </a:bodyPr>
          <a:lstStyle/>
          <a:p>
            <a:pPr algn="l">
              <a:lnSpc>
                <a:spcPct val="100000"/>
              </a:lnSpc>
            </a:pPr>
            <a:r>
              <a:rPr sz="1350" b="1" i="0">
                <a:solidFill>
                  <a:srgbClr val="3F5A2E"/>
                </a:solidFill>
                <a:latin typeface="Calibri"/>
              </a:rPr>
              <a:t>Looks ahead, speaks plainly</a:t>
            </a:r>
          </a:p>
        </p:txBody>
      </p:sp>
      <p:sp>
        <p:nvSpPr>
          <p:cNvPr id="19" name="TextBox 18"/>
          <p:cNvSpPr txBox="1"/>
          <p:nvPr/>
        </p:nvSpPr>
        <p:spPr>
          <a:xfrm>
            <a:off x="9126626" y="5266944"/>
            <a:ext cx="2377440" cy="1005840"/>
          </a:xfrm>
          <a:prstGeom prst="rect">
            <a:avLst/>
          </a:prstGeom>
          <a:noFill/>
        </p:spPr>
        <p:txBody>
          <a:bodyPr wrap="square" lIns="0" rIns="0" tIns="0" bIns="0" anchor="t">
            <a:spAutoFit/>
          </a:bodyPr>
          <a:lstStyle/>
          <a:p>
            <a:pPr algn="l">
              <a:lnSpc>
                <a:spcPct val="100000"/>
              </a:lnSpc>
            </a:pPr>
            <a:r>
              <a:rPr sz="1200" b="0" i="0">
                <a:solidFill>
                  <a:srgbClr val="3A312A"/>
                </a:solidFill>
                <a:latin typeface="Calibri"/>
              </a:rPr>
              <a:t>Holiday alerts at 30, 14 and 7 days. "Closed on 26th December" becomes a previewed, approved change.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6  ·  THE DEMONSTRATION</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End to end: holiday hours fixed, a stranger's listing left alone</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13</a:t>
            </a:r>
          </a:p>
        </p:txBody>
      </p:sp>
      <p:sp>
        <p:nvSpPr>
          <p:cNvPr id="6" name="Rounded Rectangle 5"/>
          <p:cNvSpPr/>
          <p:nvPr/>
        </p:nvSpPr>
        <p:spPr>
          <a:xfrm>
            <a:off x="548640" y="1600200"/>
            <a:ext cx="4526280" cy="658368"/>
          </a:xfrm>
          <a:prstGeom prst="roundRect">
            <a:avLst>
              <a:gd name="adj" fmla="val 8333"/>
            </a:avLst>
          </a:prstGeom>
          <a:solidFill>
            <a:srgbClr val="FBF8F1"/>
          </a:solidFill>
          <a:ln w="9525">
            <a:solidFill>
              <a:srgbClr val="E2D8C6"/>
            </a:solidFill>
          </a:ln>
          <a:effectLst/>
        </p:spPr>
        <p:txBody>
          <a:bodyPr rtlCol="0" anchor="ctr"/>
          <a:lstStyle/>
          <a:p>
            <a:pPr algn="ctr"/>
          </a:p>
        </p:txBody>
      </p:sp>
      <p:sp>
        <p:nvSpPr>
          <p:cNvPr id="7" name="Oval 6"/>
          <p:cNvSpPr/>
          <p:nvPr/>
        </p:nvSpPr>
        <p:spPr>
          <a:xfrm>
            <a:off x="658368" y="1755648"/>
            <a:ext cx="347472" cy="347472"/>
          </a:xfrm>
          <a:prstGeom prst="ellipse">
            <a:avLst/>
          </a:prstGeom>
          <a:solidFill>
            <a:srgbClr val="54733F"/>
          </a:solidFill>
          <a:ln>
            <a:noFill/>
          </a:ln>
          <a:effectLst/>
        </p:spPr>
        <p:txBody>
          <a:bodyPr rtlCol="0" anchor="ctr"/>
          <a:lstStyle/>
          <a:p>
            <a:pPr algn="ctr"/>
          </a:p>
        </p:txBody>
      </p:sp>
      <p:sp>
        <p:nvSpPr>
          <p:cNvPr id="8" name="TextBox 7"/>
          <p:cNvSpPr txBox="1"/>
          <p:nvPr/>
        </p:nvSpPr>
        <p:spPr>
          <a:xfrm>
            <a:off x="658368" y="1755648"/>
            <a:ext cx="347472" cy="347472"/>
          </a:xfrm>
          <a:prstGeom prst="rect">
            <a:avLst/>
          </a:prstGeom>
          <a:noFill/>
        </p:spPr>
        <p:txBody>
          <a:bodyPr wrap="square" lIns="0" rIns="0" tIns="0" bIns="0" anchor="ctr">
            <a:spAutoFit/>
          </a:bodyPr>
          <a:lstStyle/>
          <a:p>
            <a:pPr algn="ctr">
              <a:lnSpc>
                <a:spcPct val="100000"/>
              </a:lnSpc>
            </a:pPr>
            <a:r>
              <a:rPr sz="1300" b="1" i="0">
                <a:solidFill>
                  <a:srgbClr val="FBF8F1"/>
                </a:solidFill>
                <a:latin typeface="Cambria"/>
              </a:rPr>
              <a:t>1</a:t>
            </a:r>
          </a:p>
        </p:txBody>
      </p:sp>
      <p:sp>
        <p:nvSpPr>
          <p:cNvPr id="9" name="TextBox 8"/>
          <p:cNvSpPr txBox="1"/>
          <p:nvPr/>
        </p:nvSpPr>
        <p:spPr>
          <a:xfrm>
            <a:off x="1143000" y="1655064"/>
            <a:ext cx="3840480" cy="566928"/>
          </a:xfrm>
          <a:prstGeom prst="rect">
            <a:avLst/>
          </a:prstGeom>
          <a:noFill/>
        </p:spPr>
        <p:txBody>
          <a:bodyPr wrap="square" lIns="0" rIns="0" tIns="0" bIns="0" anchor="ctr">
            <a:spAutoFit/>
          </a:bodyPr>
          <a:lstStyle/>
          <a:p>
            <a:pPr algn="l">
              <a:lnSpc>
                <a:spcPct val="100000"/>
              </a:lnSpc>
            </a:pPr>
            <a:r>
              <a:rPr sz="1300" b="1" i="0">
                <a:solidFill>
                  <a:srgbClr val="3F5A2E"/>
                </a:solidFill>
                <a:latin typeface="Calibri"/>
              </a:rPr>
              <a:t>Scan  </a:t>
            </a:r>
            <a:r>
              <a:rPr sz="1050" b="0" i="0">
                <a:solidFill>
                  <a:srgbClr val="3A312A"/>
                </a:solidFill>
                <a:latin typeface="Calibri"/>
              </a:rPr>
              <a:t>Five sites read in about 150 ms: 2 fixes proposed, 1 listing claimed by someone else, 2 format-only ignored.</a:t>
            </a:r>
          </a:p>
        </p:txBody>
      </p:sp>
      <p:sp>
        <p:nvSpPr>
          <p:cNvPr id="10" name="Rounded Rectangle 9"/>
          <p:cNvSpPr/>
          <p:nvPr/>
        </p:nvSpPr>
        <p:spPr>
          <a:xfrm>
            <a:off x="548640" y="2313432"/>
            <a:ext cx="4526280" cy="658368"/>
          </a:xfrm>
          <a:prstGeom prst="roundRect">
            <a:avLst>
              <a:gd name="adj" fmla="val 8333"/>
            </a:avLst>
          </a:prstGeom>
          <a:solidFill>
            <a:srgbClr val="FBF8F1"/>
          </a:solidFill>
          <a:ln w="9525">
            <a:solidFill>
              <a:srgbClr val="E2D8C6"/>
            </a:solidFill>
          </a:ln>
          <a:effectLst/>
        </p:spPr>
        <p:txBody>
          <a:bodyPr rtlCol="0" anchor="ctr"/>
          <a:lstStyle/>
          <a:p>
            <a:pPr algn="ctr"/>
          </a:p>
        </p:txBody>
      </p:sp>
      <p:sp>
        <p:nvSpPr>
          <p:cNvPr id="11" name="Oval 10"/>
          <p:cNvSpPr/>
          <p:nvPr/>
        </p:nvSpPr>
        <p:spPr>
          <a:xfrm>
            <a:off x="658368" y="2468880"/>
            <a:ext cx="347472" cy="347472"/>
          </a:xfrm>
          <a:prstGeom prst="ellipse">
            <a:avLst/>
          </a:prstGeom>
          <a:solidFill>
            <a:srgbClr val="54733F"/>
          </a:solidFill>
          <a:ln>
            <a:noFill/>
          </a:ln>
          <a:effectLst/>
        </p:spPr>
        <p:txBody>
          <a:bodyPr rtlCol="0" anchor="ctr"/>
          <a:lstStyle/>
          <a:p>
            <a:pPr algn="ctr"/>
          </a:p>
        </p:txBody>
      </p:sp>
      <p:sp>
        <p:nvSpPr>
          <p:cNvPr id="12" name="TextBox 11"/>
          <p:cNvSpPr txBox="1"/>
          <p:nvPr/>
        </p:nvSpPr>
        <p:spPr>
          <a:xfrm>
            <a:off x="658368" y="2468880"/>
            <a:ext cx="347472" cy="347472"/>
          </a:xfrm>
          <a:prstGeom prst="rect">
            <a:avLst/>
          </a:prstGeom>
          <a:noFill/>
        </p:spPr>
        <p:txBody>
          <a:bodyPr wrap="square" lIns="0" rIns="0" tIns="0" bIns="0" anchor="ctr">
            <a:spAutoFit/>
          </a:bodyPr>
          <a:lstStyle/>
          <a:p>
            <a:pPr algn="ctr">
              <a:lnSpc>
                <a:spcPct val="100000"/>
              </a:lnSpc>
            </a:pPr>
            <a:r>
              <a:rPr sz="1300" b="1" i="0">
                <a:solidFill>
                  <a:srgbClr val="FBF8F1"/>
                </a:solidFill>
                <a:latin typeface="Cambria"/>
              </a:rPr>
              <a:t>2</a:t>
            </a:r>
          </a:p>
        </p:txBody>
      </p:sp>
      <p:sp>
        <p:nvSpPr>
          <p:cNvPr id="13" name="TextBox 12"/>
          <p:cNvSpPr txBox="1"/>
          <p:nvPr/>
        </p:nvSpPr>
        <p:spPr>
          <a:xfrm>
            <a:off x="1143000" y="2368296"/>
            <a:ext cx="3840480" cy="566928"/>
          </a:xfrm>
          <a:prstGeom prst="rect">
            <a:avLst/>
          </a:prstGeom>
          <a:noFill/>
        </p:spPr>
        <p:txBody>
          <a:bodyPr wrap="square" lIns="0" rIns="0" tIns="0" bIns="0" anchor="ctr">
            <a:spAutoFit/>
          </a:bodyPr>
          <a:lstStyle/>
          <a:p>
            <a:pPr algn="l">
              <a:lnSpc>
                <a:spcPct val="100000"/>
              </a:lnSpc>
            </a:pPr>
            <a:r>
              <a:rPr sz="1300" b="1" i="0">
                <a:solidFill>
                  <a:srgbClr val="3F5A2E"/>
                </a:solidFill>
                <a:latin typeface="Calibri"/>
              </a:rPr>
              <a:t>Review  </a:t>
            </a:r>
            <a:r>
              <a:rPr sz="1050" b="0" i="0">
                <a:solidFill>
                  <a:srgbClr val="3A312A"/>
                </a:solidFill>
                <a:latin typeface="Calibri"/>
              </a:rPr>
              <a:t>CityPages lists Diwali as Closed; the record says 10:00-2:00. The card says why, and you decide.</a:t>
            </a:r>
          </a:p>
        </p:txBody>
      </p:sp>
      <p:sp>
        <p:nvSpPr>
          <p:cNvPr id="14" name="Rounded Rectangle 13"/>
          <p:cNvSpPr/>
          <p:nvPr/>
        </p:nvSpPr>
        <p:spPr>
          <a:xfrm>
            <a:off x="548640" y="3026664"/>
            <a:ext cx="4526280" cy="658368"/>
          </a:xfrm>
          <a:prstGeom prst="roundRect">
            <a:avLst>
              <a:gd name="adj" fmla="val 8333"/>
            </a:avLst>
          </a:prstGeom>
          <a:solidFill>
            <a:srgbClr val="FBF8F1"/>
          </a:solidFill>
          <a:ln w="9525">
            <a:solidFill>
              <a:srgbClr val="E2D8C6"/>
            </a:solidFill>
          </a:ln>
          <a:effectLst/>
        </p:spPr>
        <p:txBody>
          <a:bodyPr rtlCol="0" anchor="ctr"/>
          <a:lstStyle/>
          <a:p>
            <a:pPr algn="ctr"/>
          </a:p>
        </p:txBody>
      </p:sp>
      <p:sp>
        <p:nvSpPr>
          <p:cNvPr id="15" name="Oval 14"/>
          <p:cNvSpPr/>
          <p:nvPr/>
        </p:nvSpPr>
        <p:spPr>
          <a:xfrm>
            <a:off x="658368" y="3182112"/>
            <a:ext cx="347472" cy="347472"/>
          </a:xfrm>
          <a:prstGeom prst="ellipse">
            <a:avLst/>
          </a:prstGeom>
          <a:solidFill>
            <a:srgbClr val="54733F"/>
          </a:solidFill>
          <a:ln>
            <a:noFill/>
          </a:ln>
          <a:effectLst/>
        </p:spPr>
        <p:txBody>
          <a:bodyPr rtlCol="0" anchor="ctr"/>
          <a:lstStyle/>
          <a:p>
            <a:pPr algn="ctr"/>
          </a:p>
        </p:txBody>
      </p:sp>
      <p:sp>
        <p:nvSpPr>
          <p:cNvPr id="16" name="TextBox 15"/>
          <p:cNvSpPr txBox="1"/>
          <p:nvPr/>
        </p:nvSpPr>
        <p:spPr>
          <a:xfrm>
            <a:off x="658368" y="3182112"/>
            <a:ext cx="347472" cy="347472"/>
          </a:xfrm>
          <a:prstGeom prst="rect">
            <a:avLst/>
          </a:prstGeom>
          <a:noFill/>
        </p:spPr>
        <p:txBody>
          <a:bodyPr wrap="square" lIns="0" rIns="0" tIns="0" bIns="0" anchor="ctr">
            <a:spAutoFit/>
          </a:bodyPr>
          <a:lstStyle/>
          <a:p>
            <a:pPr algn="ctr">
              <a:lnSpc>
                <a:spcPct val="100000"/>
              </a:lnSpc>
            </a:pPr>
            <a:r>
              <a:rPr sz="1300" b="1" i="0">
                <a:solidFill>
                  <a:srgbClr val="FBF8F1"/>
                </a:solidFill>
                <a:latin typeface="Cambria"/>
              </a:rPr>
              <a:t>3</a:t>
            </a:r>
          </a:p>
        </p:txBody>
      </p:sp>
      <p:sp>
        <p:nvSpPr>
          <p:cNvPr id="17" name="TextBox 16"/>
          <p:cNvSpPr txBox="1"/>
          <p:nvPr/>
        </p:nvSpPr>
        <p:spPr>
          <a:xfrm>
            <a:off x="1143000" y="3081528"/>
            <a:ext cx="3840480" cy="566928"/>
          </a:xfrm>
          <a:prstGeom prst="rect">
            <a:avLst/>
          </a:prstGeom>
          <a:noFill/>
        </p:spPr>
        <p:txBody>
          <a:bodyPr wrap="square" lIns="0" rIns="0" tIns="0" bIns="0" anchor="ctr">
            <a:spAutoFit/>
          </a:bodyPr>
          <a:lstStyle/>
          <a:p>
            <a:pPr algn="l">
              <a:lnSpc>
                <a:spcPct val="100000"/>
              </a:lnSpc>
            </a:pPr>
            <a:r>
              <a:rPr sz="1300" b="1" i="0">
                <a:solidFill>
                  <a:srgbClr val="3F5A2E"/>
                </a:solidFill>
                <a:latin typeface="Calibri"/>
              </a:rPr>
              <a:t>Safety  </a:t>
            </a:r>
            <a:r>
              <a:rPr sz="1050" b="0" i="0">
                <a:solidFill>
                  <a:srgbClr val="3A312A"/>
                </a:solidFill>
                <a:latin typeface="Calibri"/>
              </a:rPr>
              <a:t>NearbyNow is claimed by another account: zero edits, and a claim request is drafted for you.</a:t>
            </a:r>
          </a:p>
        </p:txBody>
      </p:sp>
      <p:sp>
        <p:nvSpPr>
          <p:cNvPr id="18" name="Rounded Rectangle 17"/>
          <p:cNvSpPr/>
          <p:nvPr/>
        </p:nvSpPr>
        <p:spPr>
          <a:xfrm>
            <a:off x="548640" y="3739896"/>
            <a:ext cx="4526280" cy="658368"/>
          </a:xfrm>
          <a:prstGeom prst="roundRect">
            <a:avLst>
              <a:gd name="adj" fmla="val 8333"/>
            </a:avLst>
          </a:prstGeom>
          <a:solidFill>
            <a:srgbClr val="FBF8F1"/>
          </a:solidFill>
          <a:ln w="9525">
            <a:solidFill>
              <a:srgbClr val="E2D8C6"/>
            </a:solidFill>
          </a:ln>
          <a:effectLst/>
        </p:spPr>
        <p:txBody>
          <a:bodyPr rtlCol="0" anchor="ctr"/>
          <a:lstStyle/>
          <a:p>
            <a:pPr algn="ctr"/>
          </a:p>
        </p:txBody>
      </p:sp>
      <p:sp>
        <p:nvSpPr>
          <p:cNvPr id="19" name="Oval 18"/>
          <p:cNvSpPr/>
          <p:nvPr/>
        </p:nvSpPr>
        <p:spPr>
          <a:xfrm>
            <a:off x="658368" y="3895344"/>
            <a:ext cx="347472" cy="347472"/>
          </a:xfrm>
          <a:prstGeom prst="ellipse">
            <a:avLst/>
          </a:prstGeom>
          <a:solidFill>
            <a:srgbClr val="54733F"/>
          </a:solidFill>
          <a:ln>
            <a:noFill/>
          </a:ln>
          <a:effectLst/>
        </p:spPr>
        <p:txBody>
          <a:bodyPr rtlCol="0" anchor="ctr"/>
          <a:lstStyle/>
          <a:p>
            <a:pPr algn="ctr"/>
          </a:p>
        </p:txBody>
      </p:sp>
      <p:sp>
        <p:nvSpPr>
          <p:cNvPr id="20" name="TextBox 19"/>
          <p:cNvSpPr txBox="1"/>
          <p:nvPr/>
        </p:nvSpPr>
        <p:spPr>
          <a:xfrm>
            <a:off x="658368" y="3895344"/>
            <a:ext cx="347472" cy="347472"/>
          </a:xfrm>
          <a:prstGeom prst="rect">
            <a:avLst/>
          </a:prstGeom>
          <a:noFill/>
        </p:spPr>
        <p:txBody>
          <a:bodyPr wrap="square" lIns="0" rIns="0" tIns="0" bIns="0" anchor="ctr">
            <a:spAutoFit/>
          </a:bodyPr>
          <a:lstStyle/>
          <a:p>
            <a:pPr algn="ctr">
              <a:lnSpc>
                <a:spcPct val="100000"/>
              </a:lnSpc>
            </a:pPr>
            <a:r>
              <a:rPr sz="1300" b="1" i="0">
                <a:solidFill>
                  <a:srgbClr val="FBF8F1"/>
                </a:solidFill>
                <a:latin typeface="Cambria"/>
              </a:rPr>
              <a:t>4</a:t>
            </a:r>
          </a:p>
        </p:txBody>
      </p:sp>
      <p:sp>
        <p:nvSpPr>
          <p:cNvPr id="21" name="TextBox 20"/>
          <p:cNvSpPr txBox="1"/>
          <p:nvPr/>
        </p:nvSpPr>
        <p:spPr>
          <a:xfrm>
            <a:off x="1143000" y="3794759"/>
            <a:ext cx="3840480" cy="566928"/>
          </a:xfrm>
          <a:prstGeom prst="rect">
            <a:avLst/>
          </a:prstGeom>
          <a:noFill/>
        </p:spPr>
        <p:txBody>
          <a:bodyPr wrap="square" lIns="0" rIns="0" tIns="0" bIns="0" anchor="ctr">
            <a:spAutoFit/>
          </a:bodyPr>
          <a:lstStyle/>
          <a:p>
            <a:pPr algn="l">
              <a:lnSpc>
                <a:spcPct val="100000"/>
              </a:lnSpc>
            </a:pPr>
            <a:r>
              <a:rPr sz="1300" b="1" i="0">
                <a:solidFill>
                  <a:srgbClr val="3F5A2E"/>
                </a:solidFill>
                <a:latin typeface="Calibri"/>
              </a:rPr>
              <a:t>Apply  </a:t>
            </a:r>
            <a:r>
              <a:rPr sz="1050" b="0" i="0">
                <a:solidFill>
                  <a:srgbClr val="3A312A"/>
                </a:solidFill>
                <a:latin typeface="Calibri"/>
              </a:rPr>
              <a:t>Only approved changes are sent. Every step lands in the trace; each page is reloaded.</a:t>
            </a:r>
          </a:p>
        </p:txBody>
      </p:sp>
      <p:sp>
        <p:nvSpPr>
          <p:cNvPr id="22" name="Rounded Rectangle 21"/>
          <p:cNvSpPr/>
          <p:nvPr/>
        </p:nvSpPr>
        <p:spPr>
          <a:xfrm>
            <a:off x="548640" y="4453128"/>
            <a:ext cx="4526280" cy="658368"/>
          </a:xfrm>
          <a:prstGeom prst="roundRect">
            <a:avLst>
              <a:gd name="adj" fmla="val 8333"/>
            </a:avLst>
          </a:prstGeom>
          <a:solidFill>
            <a:srgbClr val="FBF8F1"/>
          </a:solidFill>
          <a:ln w="9525">
            <a:solidFill>
              <a:srgbClr val="E2D8C6"/>
            </a:solidFill>
          </a:ln>
          <a:effectLst/>
        </p:spPr>
        <p:txBody>
          <a:bodyPr rtlCol="0" anchor="ctr"/>
          <a:lstStyle/>
          <a:p>
            <a:pPr algn="ctr"/>
          </a:p>
        </p:txBody>
      </p:sp>
      <p:sp>
        <p:nvSpPr>
          <p:cNvPr id="23" name="Oval 22"/>
          <p:cNvSpPr/>
          <p:nvPr/>
        </p:nvSpPr>
        <p:spPr>
          <a:xfrm>
            <a:off x="658368" y="4608576"/>
            <a:ext cx="347472" cy="347472"/>
          </a:xfrm>
          <a:prstGeom prst="ellipse">
            <a:avLst/>
          </a:prstGeom>
          <a:solidFill>
            <a:srgbClr val="54733F"/>
          </a:solidFill>
          <a:ln>
            <a:noFill/>
          </a:ln>
          <a:effectLst/>
        </p:spPr>
        <p:txBody>
          <a:bodyPr rtlCol="0" anchor="ctr"/>
          <a:lstStyle/>
          <a:p>
            <a:pPr algn="ctr"/>
          </a:p>
        </p:txBody>
      </p:sp>
      <p:sp>
        <p:nvSpPr>
          <p:cNvPr id="24" name="TextBox 23"/>
          <p:cNvSpPr txBox="1"/>
          <p:nvPr/>
        </p:nvSpPr>
        <p:spPr>
          <a:xfrm>
            <a:off x="658368" y="4608576"/>
            <a:ext cx="347472" cy="347472"/>
          </a:xfrm>
          <a:prstGeom prst="rect">
            <a:avLst/>
          </a:prstGeom>
          <a:noFill/>
        </p:spPr>
        <p:txBody>
          <a:bodyPr wrap="square" lIns="0" rIns="0" tIns="0" bIns="0" anchor="ctr">
            <a:spAutoFit/>
          </a:bodyPr>
          <a:lstStyle/>
          <a:p>
            <a:pPr algn="ctr">
              <a:lnSpc>
                <a:spcPct val="100000"/>
              </a:lnSpc>
            </a:pPr>
            <a:r>
              <a:rPr sz="1300" b="1" i="0">
                <a:solidFill>
                  <a:srgbClr val="FBF8F1"/>
                </a:solidFill>
                <a:latin typeface="Cambria"/>
              </a:rPr>
              <a:t>5</a:t>
            </a:r>
          </a:p>
        </p:txBody>
      </p:sp>
      <p:sp>
        <p:nvSpPr>
          <p:cNvPr id="25" name="TextBox 24"/>
          <p:cNvSpPr txBox="1"/>
          <p:nvPr/>
        </p:nvSpPr>
        <p:spPr>
          <a:xfrm>
            <a:off x="1143000" y="4507992"/>
            <a:ext cx="3840480" cy="566928"/>
          </a:xfrm>
          <a:prstGeom prst="rect">
            <a:avLst/>
          </a:prstGeom>
          <a:noFill/>
        </p:spPr>
        <p:txBody>
          <a:bodyPr wrap="square" lIns="0" rIns="0" tIns="0" bIns="0" anchor="ctr">
            <a:spAutoFit/>
          </a:bodyPr>
          <a:lstStyle/>
          <a:p>
            <a:pPr algn="l">
              <a:lnSpc>
                <a:spcPct val="100000"/>
              </a:lnSpc>
            </a:pPr>
            <a:r>
              <a:rPr sz="1300" b="1" i="0">
                <a:solidFill>
                  <a:srgbClr val="3F5A2E"/>
                </a:solidFill>
                <a:latin typeface="Calibri"/>
              </a:rPr>
              <a:t>Moderate  </a:t>
            </a:r>
            <a:r>
              <a:rPr sz="1050" b="0" i="0">
                <a:solidFill>
                  <a:srgbClr val="3A312A"/>
                </a:solidFill>
                <a:latin typeface="Calibri"/>
              </a:rPr>
              <a:t>ShopFront queues the edit. It stays PENDING until its moderator approves; a re-check then verifies it.</a:t>
            </a:r>
          </a:p>
        </p:txBody>
      </p:sp>
      <p:sp>
        <p:nvSpPr>
          <p:cNvPr id="26" name="Rounded Rectangle 25"/>
          <p:cNvSpPr/>
          <p:nvPr/>
        </p:nvSpPr>
        <p:spPr>
          <a:xfrm>
            <a:off x="548640" y="5166360"/>
            <a:ext cx="4526280" cy="658368"/>
          </a:xfrm>
          <a:prstGeom prst="roundRect">
            <a:avLst>
              <a:gd name="adj" fmla="val 8333"/>
            </a:avLst>
          </a:prstGeom>
          <a:solidFill>
            <a:srgbClr val="FBF8F1"/>
          </a:solidFill>
          <a:ln w="9525">
            <a:solidFill>
              <a:srgbClr val="E2D8C6"/>
            </a:solidFill>
          </a:ln>
          <a:effectLst/>
        </p:spPr>
        <p:txBody>
          <a:bodyPr rtlCol="0" anchor="ctr"/>
          <a:lstStyle/>
          <a:p>
            <a:pPr algn="ctr"/>
          </a:p>
        </p:txBody>
      </p:sp>
      <p:sp>
        <p:nvSpPr>
          <p:cNvPr id="27" name="Oval 26"/>
          <p:cNvSpPr/>
          <p:nvPr/>
        </p:nvSpPr>
        <p:spPr>
          <a:xfrm>
            <a:off x="658368" y="5321808"/>
            <a:ext cx="347472" cy="347472"/>
          </a:xfrm>
          <a:prstGeom prst="ellipse">
            <a:avLst/>
          </a:prstGeom>
          <a:solidFill>
            <a:srgbClr val="54733F"/>
          </a:solidFill>
          <a:ln>
            <a:noFill/>
          </a:ln>
          <a:effectLst/>
        </p:spPr>
        <p:txBody>
          <a:bodyPr rtlCol="0" anchor="ctr"/>
          <a:lstStyle/>
          <a:p>
            <a:pPr algn="ctr"/>
          </a:p>
        </p:txBody>
      </p:sp>
      <p:sp>
        <p:nvSpPr>
          <p:cNvPr id="28" name="TextBox 27"/>
          <p:cNvSpPr txBox="1"/>
          <p:nvPr/>
        </p:nvSpPr>
        <p:spPr>
          <a:xfrm>
            <a:off x="658368" y="5321808"/>
            <a:ext cx="347472" cy="347472"/>
          </a:xfrm>
          <a:prstGeom prst="rect">
            <a:avLst/>
          </a:prstGeom>
          <a:noFill/>
        </p:spPr>
        <p:txBody>
          <a:bodyPr wrap="square" lIns="0" rIns="0" tIns="0" bIns="0" anchor="ctr">
            <a:spAutoFit/>
          </a:bodyPr>
          <a:lstStyle/>
          <a:p>
            <a:pPr algn="ctr">
              <a:lnSpc>
                <a:spcPct val="100000"/>
              </a:lnSpc>
            </a:pPr>
            <a:r>
              <a:rPr sz="1300" b="1" i="0">
                <a:solidFill>
                  <a:srgbClr val="FBF8F1"/>
                </a:solidFill>
                <a:latin typeface="Cambria"/>
              </a:rPr>
              <a:t>6</a:t>
            </a:r>
          </a:p>
        </p:txBody>
      </p:sp>
      <p:sp>
        <p:nvSpPr>
          <p:cNvPr id="29" name="TextBox 28"/>
          <p:cNvSpPr txBox="1"/>
          <p:nvPr/>
        </p:nvSpPr>
        <p:spPr>
          <a:xfrm>
            <a:off x="1143000" y="5221224"/>
            <a:ext cx="3840480" cy="566928"/>
          </a:xfrm>
          <a:prstGeom prst="rect">
            <a:avLst/>
          </a:prstGeom>
          <a:noFill/>
        </p:spPr>
        <p:txBody>
          <a:bodyPr wrap="square" lIns="0" rIns="0" tIns="0" bIns="0" anchor="ctr">
            <a:spAutoFit/>
          </a:bodyPr>
          <a:lstStyle/>
          <a:p>
            <a:pPr algn="l">
              <a:lnSpc>
                <a:spcPct val="100000"/>
              </a:lnSpc>
            </a:pPr>
            <a:r>
              <a:rPr sz="1300" b="1" i="0">
                <a:solidFill>
                  <a:srgbClr val="3F5A2E"/>
                </a:solidFill>
                <a:latin typeface="Calibri"/>
              </a:rPr>
              <a:t>Report  </a:t>
            </a:r>
            <a:r>
              <a:rPr sz="1050" b="0" i="0">
                <a:solidFill>
                  <a:srgbClr val="3A312A"/>
                </a:solidFill>
                <a:latin typeface="Calibri"/>
              </a:rPr>
              <a:t>Before/after table: 2 fixed and verified, 1 needs you, 2 ignored. CSV export.</a:t>
            </a:r>
          </a:p>
        </p:txBody>
      </p:sp>
      <p:pic>
        <p:nvPicPr>
          <p:cNvPr id="30" name="Picture 29" descr="Approval card for the CityPages Diwali hours with Approve and Reject buttons"/>
          <p:cNvPicPr>
            <a:picLocks noChangeAspect="1"/>
          </p:cNvPicPr>
          <p:nvPr/>
        </p:nvPicPr>
        <p:blipFill>
          <a:blip r:embed="rId2"/>
          <a:stretch>
            <a:fillRect/>
          </a:stretch>
        </p:blipFill>
        <p:spPr>
          <a:xfrm>
            <a:off x="5349240" y="1600200"/>
            <a:ext cx="6291072" cy="1768901"/>
          </a:xfrm>
          <a:prstGeom prst="rect">
            <a:avLst/>
          </a:prstGeom>
          <a:ln w="9525">
            <a:solidFill>
              <a:srgbClr val="E2D8C6"/>
            </a:solidFill>
          </a:ln>
        </p:spPr>
      </p:pic>
      <p:sp>
        <p:nvSpPr>
          <p:cNvPr id="31" name="TextBox 30"/>
          <p:cNvSpPr txBox="1"/>
          <p:nvPr/>
        </p:nvSpPr>
        <p:spPr>
          <a:xfrm>
            <a:off x="5349240" y="3423965"/>
            <a:ext cx="6291072" cy="22860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Step 2, Review: the card shows both values and the reason.</a:t>
            </a:r>
          </a:p>
        </p:txBody>
      </p:sp>
      <p:pic>
        <p:nvPicPr>
          <p:cNvPr id="32" name="Picture 31" descr="Flagged card for NearbyNow: listing claimed by another account, no edit attempted"/>
          <p:cNvPicPr>
            <a:picLocks noChangeAspect="1"/>
          </p:cNvPicPr>
          <p:nvPr/>
        </p:nvPicPr>
        <p:blipFill>
          <a:blip r:embed="rId3"/>
          <a:stretch>
            <a:fillRect/>
          </a:stretch>
        </p:blipFill>
        <p:spPr>
          <a:xfrm>
            <a:off x="5349240" y="3826301"/>
            <a:ext cx="6291072" cy="1705990"/>
          </a:xfrm>
          <a:prstGeom prst="rect">
            <a:avLst/>
          </a:prstGeom>
          <a:ln w="9525">
            <a:solidFill>
              <a:srgbClr val="E2D8C6"/>
            </a:solidFill>
          </a:ln>
        </p:spPr>
      </p:pic>
      <p:sp>
        <p:nvSpPr>
          <p:cNvPr id="33" name="TextBox 32"/>
          <p:cNvSpPr txBox="1"/>
          <p:nvPr/>
        </p:nvSpPr>
        <p:spPr>
          <a:xfrm>
            <a:off x="5349240" y="5587156"/>
            <a:ext cx="6291072" cy="22860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Step 3, Safety: not our listing, so no edit is attempted and the manual steps are spelled out.</a:t>
            </a:r>
          </a:p>
        </p:txBody>
      </p:sp>
      <p:sp>
        <p:nvSpPr>
          <p:cNvPr id="34" name="Rounded Rectangle 33"/>
          <p:cNvSpPr/>
          <p:nvPr/>
        </p:nvSpPr>
        <p:spPr>
          <a:xfrm>
            <a:off x="548640" y="5989320"/>
            <a:ext cx="11094415" cy="347472"/>
          </a:xfrm>
          <a:prstGeom prst="roundRect">
            <a:avLst>
              <a:gd name="adj" fmla="val 21052"/>
            </a:avLst>
          </a:prstGeom>
          <a:solidFill>
            <a:srgbClr val="2F2721"/>
          </a:solidFill>
          <a:ln>
            <a:noFill/>
          </a:ln>
          <a:effectLst/>
        </p:spPr>
        <p:txBody>
          <a:bodyPr rtlCol="0" anchor="ctr"/>
          <a:lstStyle/>
          <a:p>
            <a:pPr algn="ctr"/>
          </a:p>
        </p:txBody>
      </p:sp>
      <p:sp>
        <p:nvSpPr>
          <p:cNvPr id="35" name="TextBox 34"/>
          <p:cNvSpPr txBox="1"/>
          <p:nvPr/>
        </p:nvSpPr>
        <p:spPr>
          <a:xfrm>
            <a:off x="731520" y="5989320"/>
            <a:ext cx="10728655" cy="347472"/>
          </a:xfrm>
          <a:prstGeom prst="rect">
            <a:avLst/>
          </a:prstGeom>
          <a:noFill/>
        </p:spPr>
        <p:txBody>
          <a:bodyPr wrap="square" lIns="0" rIns="0" tIns="0" bIns="0" anchor="ctr">
            <a:spAutoFit/>
          </a:bodyPr>
          <a:lstStyle/>
          <a:p>
            <a:pPr algn="l">
              <a:lnSpc>
                <a:spcPct val="100000"/>
              </a:lnSpc>
            </a:pPr>
            <a:r>
              <a:rPr sz="1150" b="1" i="0">
                <a:solidFill>
                  <a:srgbClr val="FBF8F1"/>
                </a:solidFill>
                <a:latin typeface="Calibri"/>
              </a:rPr>
              <a:t>Watch the 2-minute video: docs/demo/demo.mp4   ·   Try it live: zirohacksub.onrender.com   ·   demo PIN 7KQ4X-M9PHT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6  ·  THE DEMONSTRATION</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The result on screen: verified, pending or flagged</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14</a:t>
            </a:r>
          </a:p>
        </p:txBody>
      </p:sp>
      <p:pic>
        <p:nvPicPr>
          <p:cNvPr id="6" name="Picture 5" descr="Consistency table filtered to Verified: CityPages holiday and ShopFront hours verified"/>
          <p:cNvPicPr>
            <a:picLocks noChangeAspect="1"/>
          </p:cNvPicPr>
          <p:nvPr/>
        </p:nvPicPr>
        <p:blipFill>
          <a:blip r:embed="rId2"/>
          <a:stretch>
            <a:fillRect/>
          </a:stretch>
        </p:blipFill>
        <p:spPr>
          <a:xfrm>
            <a:off x="548640" y="1600200"/>
            <a:ext cx="7680960" cy="1707884"/>
          </a:xfrm>
          <a:prstGeom prst="rect">
            <a:avLst/>
          </a:prstGeom>
          <a:ln w="9525">
            <a:solidFill>
              <a:srgbClr val="E2D8C6"/>
            </a:solidFill>
          </a:ln>
        </p:spPr>
      </p:pic>
      <p:sp>
        <p:nvSpPr>
          <p:cNvPr id="7" name="TextBox 6"/>
          <p:cNvSpPr txBox="1"/>
          <p:nvPr/>
        </p:nvSpPr>
        <p:spPr>
          <a:xfrm>
            <a:off x="548640" y="3362948"/>
            <a:ext cx="7680960" cy="22860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Consistency table, filtered to Verified: both fixes were confirmed by reloading the page.</a:t>
            </a:r>
          </a:p>
        </p:txBody>
      </p:sp>
      <p:sp>
        <p:nvSpPr>
          <p:cNvPr id="8" name="Rounded Rectangle 7"/>
          <p:cNvSpPr/>
          <p:nvPr/>
        </p:nvSpPr>
        <p:spPr>
          <a:xfrm>
            <a:off x="8412480" y="1600200"/>
            <a:ext cx="3227832" cy="1991348"/>
          </a:xfrm>
          <a:prstGeom prst="roundRect">
            <a:avLst>
              <a:gd name="adj" fmla="val 2755"/>
            </a:avLst>
          </a:prstGeom>
          <a:solidFill>
            <a:srgbClr val="FBF8F1"/>
          </a:solidFill>
          <a:ln w="9525">
            <a:solidFill>
              <a:srgbClr val="E2D8C6"/>
            </a:solidFill>
          </a:ln>
          <a:effectLst/>
        </p:spPr>
        <p:txBody>
          <a:bodyPr rtlCol="0" anchor="ctr"/>
          <a:lstStyle/>
          <a:p>
            <a:pPr algn="ctr"/>
          </a:p>
        </p:txBody>
      </p:sp>
      <p:sp>
        <p:nvSpPr>
          <p:cNvPr id="9" name="TextBox 8"/>
          <p:cNvSpPr txBox="1"/>
          <p:nvPr/>
        </p:nvSpPr>
        <p:spPr>
          <a:xfrm>
            <a:off x="8577072" y="1764792"/>
            <a:ext cx="2898648" cy="224027"/>
          </a:xfrm>
          <a:prstGeom prst="rect">
            <a:avLst/>
          </a:prstGeom>
          <a:noFill/>
        </p:spPr>
        <p:txBody>
          <a:bodyPr wrap="square" lIns="0" rIns="0" tIns="0" bIns="0" anchor="t">
            <a:spAutoFit/>
          </a:bodyPr>
          <a:lstStyle/>
          <a:p>
            <a:pPr algn="l">
              <a:lnSpc>
                <a:spcPct val="100000"/>
              </a:lnSpc>
            </a:pPr>
            <a:r>
              <a:rPr sz="1350" b="1" i="0">
                <a:solidFill>
                  <a:srgbClr val="3A312A"/>
                </a:solidFill>
                <a:latin typeface="Calibri"/>
              </a:rPr>
              <a:t>How to read it</a:t>
            </a:r>
          </a:p>
        </p:txBody>
      </p:sp>
      <p:sp>
        <p:nvSpPr>
          <p:cNvPr id="10" name="TextBox 9"/>
          <p:cNvSpPr txBox="1"/>
          <p:nvPr/>
        </p:nvSpPr>
        <p:spPr>
          <a:xfrm>
            <a:off x="8577072" y="2034540"/>
            <a:ext cx="2898648" cy="1458252"/>
          </a:xfrm>
          <a:prstGeom prst="rect">
            <a:avLst/>
          </a:prstGeom>
          <a:noFill/>
        </p:spPr>
        <p:txBody>
          <a:bodyPr wrap="square" lIns="0" rIns="0" tIns="0" bIns="0" anchor="t">
            <a:spAutoFit/>
          </a:bodyPr>
          <a:lstStyle/>
          <a:p>
            <a:pPr algn="l" marL="155448" indent="-155448">
              <a:lnSpc>
                <a:spcPct val="100000"/>
              </a:lnSpc>
              <a:spcAft>
                <a:spcPts val="400"/>
              </a:spcAft>
              <a:buChar char="•"/>
            </a:pPr>
            <a:r>
              <a:rPr sz="1150" b="0" i="0">
                <a:solidFill>
                  <a:srgbClr val="6A5E51"/>
                </a:solidFill>
                <a:latin typeface="Calibri"/>
              </a:rPr>
              <a:t>Verified: the reloaded page shows the approved value</a:t>
            </a:r>
          </a:p>
          <a:p>
            <a:pPr algn="l" marL="155448" indent="-155448">
              <a:lnSpc>
                <a:spcPct val="100000"/>
              </a:lnSpc>
              <a:spcAft>
                <a:spcPts val="400"/>
              </a:spcAft>
              <a:buChar char="•"/>
            </a:pPr>
            <a:r>
              <a:rPr sz="1150" b="0" i="0">
                <a:solidFill>
                  <a:srgbClr val="6A5E51"/>
                </a:solidFill>
                <a:latin typeface="Calibri"/>
              </a:rPr>
              <a:t>Pending: the site's moderator has not approved yet</a:t>
            </a:r>
          </a:p>
          <a:p>
            <a:pPr algn="l" marL="155448" indent="-155448">
              <a:lnSpc>
                <a:spcPct val="100000"/>
              </a:lnSpc>
              <a:buChar char="•"/>
            </a:pPr>
            <a:r>
              <a:rPr sz="1150" b="0" i="0">
                <a:solidFill>
                  <a:srgbClr val="6A5E51"/>
                </a:solidFill>
                <a:latin typeface="Calibri"/>
              </a:rPr>
              <a:t>Flagged: not your listing, nothing was sent</a:t>
            </a:r>
          </a:p>
        </p:txBody>
      </p:sp>
      <p:pic>
        <p:nvPicPr>
          <p:cNvPr id="11" name="Picture 10" descr="Agent Trace map: applying, double-checking, all done, with the agent mascot"/>
          <p:cNvPicPr>
            <a:picLocks noChangeAspect="1"/>
          </p:cNvPicPr>
          <p:nvPr/>
        </p:nvPicPr>
        <p:blipFill>
          <a:blip r:embed="rId3"/>
          <a:stretch>
            <a:fillRect/>
          </a:stretch>
        </p:blipFill>
        <p:spPr>
          <a:xfrm>
            <a:off x="548640" y="3902444"/>
            <a:ext cx="6035040" cy="1828262"/>
          </a:xfrm>
          <a:prstGeom prst="rect">
            <a:avLst/>
          </a:prstGeom>
          <a:ln w="9525">
            <a:solidFill>
              <a:srgbClr val="E2D8C6"/>
            </a:solidFill>
          </a:ln>
        </p:spPr>
      </p:pic>
      <p:sp>
        <p:nvSpPr>
          <p:cNvPr id="12" name="TextBox 11"/>
          <p:cNvSpPr txBox="1"/>
          <p:nvPr/>
        </p:nvSpPr>
        <p:spPr>
          <a:xfrm>
            <a:off x="548640" y="5785570"/>
            <a:ext cx="6035040" cy="22860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Agent Trace: the route of the run, step by step.</a:t>
            </a:r>
          </a:p>
        </p:txBody>
      </p:sp>
      <p:sp>
        <p:nvSpPr>
          <p:cNvPr id="13" name="Rounded Rectangle 12"/>
          <p:cNvSpPr/>
          <p:nvPr/>
        </p:nvSpPr>
        <p:spPr>
          <a:xfrm>
            <a:off x="6812280" y="3902444"/>
            <a:ext cx="4828032" cy="2111726"/>
          </a:xfrm>
          <a:prstGeom prst="roundRect">
            <a:avLst>
              <a:gd name="adj" fmla="val 2598"/>
            </a:avLst>
          </a:prstGeom>
          <a:solidFill>
            <a:srgbClr val="FBF8F1"/>
          </a:solidFill>
          <a:ln w="9525">
            <a:solidFill>
              <a:srgbClr val="E2D8C6"/>
            </a:solidFill>
          </a:ln>
          <a:effectLst/>
        </p:spPr>
        <p:txBody>
          <a:bodyPr rtlCol="0" anchor="ctr"/>
          <a:lstStyle/>
          <a:p>
            <a:pPr algn="ctr"/>
          </a:p>
        </p:txBody>
      </p:sp>
      <p:sp>
        <p:nvSpPr>
          <p:cNvPr id="14" name="TextBox 13"/>
          <p:cNvSpPr txBox="1"/>
          <p:nvPr/>
        </p:nvSpPr>
        <p:spPr>
          <a:xfrm>
            <a:off x="6976872" y="4067036"/>
            <a:ext cx="4498848" cy="224027"/>
          </a:xfrm>
          <a:prstGeom prst="rect">
            <a:avLst/>
          </a:prstGeom>
          <a:noFill/>
        </p:spPr>
        <p:txBody>
          <a:bodyPr wrap="square" lIns="0" rIns="0" tIns="0" bIns="0" anchor="t">
            <a:spAutoFit/>
          </a:bodyPr>
          <a:lstStyle/>
          <a:p>
            <a:pPr algn="l">
              <a:lnSpc>
                <a:spcPct val="100000"/>
              </a:lnSpc>
            </a:pPr>
            <a:r>
              <a:rPr sz="1350" b="1" i="0">
                <a:solidFill>
                  <a:srgbClr val="3A312A"/>
                </a:solidFill>
                <a:latin typeface="Calibri"/>
              </a:rPr>
              <a:t>Agent Trace: every step, in order</a:t>
            </a:r>
          </a:p>
        </p:txBody>
      </p:sp>
      <p:sp>
        <p:nvSpPr>
          <p:cNvPr id="15" name="TextBox 14"/>
          <p:cNvSpPr txBox="1"/>
          <p:nvPr/>
        </p:nvSpPr>
        <p:spPr>
          <a:xfrm>
            <a:off x="6976872" y="4336784"/>
            <a:ext cx="4498848" cy="1578630"/>
          </a:xfrm>
          <a:prstGeom prst="rect">
            <a:avLst/>
          </a:prstGeom>
          <a:noFill/>
        </p:spPr>
        <p:txBody>
          <a:bodyPr wrap="square" lIns="0" rIns="0" tIns="0" bIns="0" anchor="t">
            <a:spAutoFit/>
          </a:bodyPr>
          <a:lstStyle/>
          <a:p>
            <a:pPr algn="l" marL="155448" indent="-155448">
              <a:lnSpc>
                <a:spcPct val="100000"/>
              </a:lnSpc>
              <a:spcAft>
                <a:spcPts val="400"/>
              </a:spcAft>
              <a:buChar char="•"/>
            </a:pPr>
            <a:r>
              <a:rPr sz="1150" b="0" i="0">
                <a:solidFill>
                  <a:srgbClr val="6A5E51"/>
                </a:solidFill>
                <a:latin typeface="Calibri"/>
              </a:rPr>
              <a:t>Each row names the tool, who decided (Gemini, Deterministic, Fallback or Blocked), what it found and how long it took</a:t>
            </a:r>
          </a:p>
          <a:p>
            <a:pPr algn="l" marL="155448" indent="-155448">
              <a:lnSpc>
                <a:spcPct val="100000"/>
              </a:lnSpc>
              <a:spcAft>
                <a:spcPts val="400"/>
              </a:spcAft>
              <a:buChar char="•"/>
            </a:pPr>
            <a:r>
              <a:rPr sz="1150" b="0" i="0">
                <a:solidFill>
                  <a:srgbClr val="6A5E51"/>
                </a:solidFill>
                <a:latin typeface="Calibri"/>
              </a:rPr>
              <a:t>Verification is a visible step: Applying, then Double-checking, then All done</a:t>
            </a:r>
          </a:p>
          <a:p>
            <a:pPr algn="l" marL="155448" indent="-155448">
              <a:lnSpc>
                <a:spcPct val="100000"/>
              </a:lnSpc>
              <a:spcAft>
                <a:spcPts val="400"/>
              </a:spcAft>
              <a:buChar char="•"/>
            </a:pPr>
            <a:r>
              <a:rPr sz="1150" b="0" i="0">
                <a:solidFill>
                  <a:srgbClr val="6A5E51"/>
                </a:solidFill>
                <a:latin typeface="Calibri"/>
              </a:rPr>
              <a:t>Blocked actions show in red with the reason</a:t>
            </a:r>
          </a:p>
          <a:p>
            <a:pPr algn="l" marL="155448" indent="-155448">
              <a:lnSpc>
                <a:spcPct val="100000"/>
              </a:lnSpc>
              <a:buChar char="•"/>
            </a:pPr>
            <a:r>
              <a:rPr sz="1150" b="0" i="0">
                <a:solidFill>
                  <a:srgbClr val="6A5E51"/>
                </a:solidFill>
                <a:latin typeface="Calibri"/>
              </a:rPr>
              <a:t>The little agent follows your pointer along the route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6  ·  THE DEMONSTRATION</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What the run proves: TC1 to TC8 pass from a fresh reset</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15</a:t>
            </a:r>
          </a:p>
        </p:txBody>
      </p:sp>
      <p:graphicFrame>
        <p:nvGraphicFramePr>
          <p:cNvPr id="6" name="Table 5"/>
          <p:cNvGraphicFramePr>
            <a:graphicFrameLocks noGrp="1"/>
          </p:cNvGraphicFramePr>
          <p:nvPr/>
        </p:nvGraphicFramePr>
        <p:xfrm>
          <a:off x="548640" y="1600200"/>
          <a:ext cx="6949440" cy="4279392"/>
        </p:xfrm>
        <a:graphic>
          <a:graphicData uri="http://schemas.openxmlformats.org/drawingml/2006/table">
            <a:tbl>
              <a:tblPr firstRow="0" bandRow="0">
                <a:tableStyleId>{2D5ABB26-0587-4C30-8999-92F81FD0307C}</a:tableStyleId>
              </a:tblPr>
              <a:tblGrid>
                <a:gridCol w="2926080"/>
                <a:gridCol w="4023360"/>
              </a:tblGrid>
              <a:tr h="475488">
                <a:tc>
                  <a:txBody>
                    <a:bodyPr wrap="square"/>
                    <a:lstStyle/>
                    <a:p>
                      <a:pPr algn="l"/>
                      <a:r>
                        <a:rPr sz="1100" b="1">
                          <a:solidFill>
                            <a:srgbClr val="FBF8F1"/>
                          </a:solidFill>
                          <a:latin typeface="Calibri"/>
                        </a:rPr>
                        <a:t>Test case</a:t>
                      </a:r>
                    </a:p>
                  </a:txBody>
                  <a:tcPr marL="91440" marR="91440" marT="36576" marB="36576" anchor="ctr">
                    <a:lnB w="9525" cap="flat" cmpd="sng" algn="ctr">
                      <a:solidFill>
                        <a:srgbClr val="E2D8C6"/>
                      </a:solidFill>
                      <a:prstDash val="solid"/>
                    </a:lnB>
                    <a:solidFill>
                      <a:srgbClr val="2F2721"/>
                    </a:solidFill>
                  </a:tcPr>
                </a:tc>
                <a:tc>
                  <a:txBody>
                    <a:bodyPr wrap="square"/>
                    <a:lstStyle/>
                    <a:p>
                      <a:pPr algn="l"/>
                      <a:r>
                        <a:rPr sz="1100" b="1">
                          <a:solidFill>
                            <a:srgbClr val="FBF8F1"/>
                          </a:solidFill>
                          <a:latin typeface="Calibri"/>
                        </a:rPr>
                        <a:t>Actual result</a:t>
                      </a:r>
                    </a:p>
                  </a:txBody>
                  <a:tcPr marL="91440" marR="91440" marT="36576" marB="36576" anchor="ctr">
                    <a:lnB w="9525" cap="flat" cmpd="sng" algn="ctr">
                      <a:solidFill>
                        <a:srgbClr val="E2D8C6"/>
                      </a:solidFill>
                      <a:prstDash val="solid"/>
                    </a:lnB>
                    <a:solidFill>
                      <a:srgbClr val="2F2721"/>
                    </a:solidFill>
                  </a:tcPr>
                </a:tc>
              </a:tr>
              <a:tr h="475488">
                <a:tc>
                  <a:txBody>
                    <a:bodyPr wrap="square"/>
                    <a:lstStyle/>
                    <a:p>
                      <a:r>
                        <a:rPr sz="1100" b="1">
                          <a:solidFill>
                            <a:srgbClr val="3A312A"/>
                          </a:solidFill>
                          <a:latin typeface="Calibri"/>
                        </a:rPr>
                        <a:t>TC1  Holiday hours differ on one site</a:t>
                      </a:r>
                    </a:p>
                  </a:txBody>
                  <a:tcPr marL="91440" marR="91440" marT="36576" marB="36576" anchor="ctr">
                    <a:lnB w="9525" cap="flat" cmpd="sng" algn="ctr">
                      <a:solidFill>
                        <a:srgbClr val="E2D8C6"/>
                      </a:solidFill>
                      <a:prstDash val="solid"/>
                    </a:lnB>
                    <a:solidFill>
                      <a:srgbClr val="FBF8F1"/>
                    </a:solidFill>
                  </a:tcPr>
                </a:tc>
                <a:tc>
                  <a:txBody>
                    <a:bodyPr wrap="square"/>
                    <a:lstStyle/>
                    <a:p>
                      <a:r>
                        <a:rPr sz="1100" b="0">
                          <a:solidFill>
                            <a:srgbClr val="3A312A"/>
                          </a:solidFill>
                          <a:latin typeface="Calibri"/>
                        </a:rPr>
                        <a:t>MISMATCH &gt; PROPOSED &gt; APPROVED &gt; APPLIED &gt; VERIFIED; 1 write</a:t>
                      </a:r>
                    </a:p>
                  </a:txBody>
                  <a:tcPr marL="91440" marR="91440" marT="36576" marB="36576" anchor="ctr">
                    <a:lnB w="9525" cap="flat" cmpd="sng" algn="ctr">
                      <a:solidFill>
                        <a:srgbClr val="E2D8C6"/>
                      </a:solidFill>
                      <a:prstDash val="solid"/>
                    </a:lnB>
                    <a:solidFill>
                      <a:srgbClr val="FBF8F1"/>
                    </a:solidFill>
                  </a:tcPr>
                </a:tc>
              </a:tr>
              <a:tr h="475488">
                <a:tc>
                  <a:txBody>
                    <a:bodyPr wrap="square"/>
                    <a:lstStyle/>
                    <a:p>
                      <a:r>
                        <a:rPr sz="1100" b="1">
                          <a:solidFill>
                            <a:srgbClr val="3A312A"/>
                          </a:solidFill>
                          <a:latin typeface="Calibri"/>
                        </a:rPr>
                        <a:t>TC2  Phone formatted differently</a:t>
                      </a:r>
                    </a:p>
                  </a:txBody>
                  <a:tcPr marL="91440" marR="91440" marT="36576" marB="36576" anchor="ctr">
                    <a:lnB w="9525" cap="flat" cmpd="sng" algn="ctr">
                      <a:solidFill>
                        <a:srgbClr val="E2D8C6"/>
                      </a:solidFill>
                      <a:prstDash val="solid"/>
                    </a:lnB>
                    <a:solidFill>
                      <a:srgbClr val="F6F1E7"/>
                    </a:solidFill>
                  </a:tcPr>
                </a:tc>
                <a:tc>
                  <a:txBody>
                    <a:bodyPr wrap="square"/>
                    <a:lstStyle/>
                    <a:p>
                      <a:r>
                        <a:rPr sz="1100" b="0">
                          <a:solidFill>
                            <a:srgbClr val="3A312A"/>
                          </a:solidFill>
                          <a:latin typeface="Calibri"/>
                        </a:rPr>
                        <a:t>FORMAT_ONLY_EQUIVALENT; 0 proposals, 0 writes</a:t>
                      </a:r>
                    </a:p>
                  </a:txBody>
                  <a:tcPr marL="91440" marR="91440" marT="36576" marB="36576" anchor="ctr">
                    <a:lnB w="9525" cap="flat" cmpd="sng" algn="ctr">
                      <a:solidFill>
                        <a:srgbClr val="E2D8C6"/>
                      </a:solidFill>
                      <a:prstDash val="solid"/>
                    </a:lnB>
                    <a:solidFill>
                      <a:srgbClr val="FBF8F1"/>
                    </a:solidFill>
                  </a:tcPr>
                </a:tc>
              </a:tr>
              <a:tr h="475488">
                <a:tc>
                  <a:txBody>
                    <a:bodyPr wrap="square"/>
                    <a:lstStyle/>
                    <a:p>
                      <a:r>
                        <a:rPr sz="1100" b="1">
                          <a:solidFill>
                            <a:srgbClr val="3A312A"/>
                          </a:solidFill>
                          <a:latin typeface="Calibri"/>
                        </a:rPr>
                        <a:t>TC3  Listing claimed by someone else</a:t>
                      </a:r>
                    </a:p>
                  </a:txBody>
                  <a:tcPr marL="91440" marR="91440" marT="36576" marB="36576" anchor="ctr">
                    <a:lnB w="9525" cap="flat" cmpd="sng" algn="ctr">
                      <a:solidFill>
                        <a:srgbClr val="E2D8C6"/>
                      </a:solidFill>
                      <a:prstDash val="solid"/>
                    </a:lnB>
                    <a:solidFill>
                      <a:srgbClr val="FBF8F1"/>
                    </a:solidFill>
                  </a:tcPr>
                </a:tc>
                <a:tc>
                  <a:txBody>
                    <a:bodyPr wrap="square"/>
                    <a:lstStyle/>
                    <a:p>
                      <a:r>
                        <a:rPr sz="1100" b="0">
                          <a:solidFill>
                            <a:srgbClr val="3A312A"/>
                          </a:solidFill>
                          <a:latin typeface="Calibri"/>
                        </a:rPr>
                        <a:t>FLAGGED_NOT_OWNER; 0 write attempts</a:t>
                      </a:r>
                    </a:p>
                  </a:txBody>
                  <a:tcPr marL="91440" marR="91440" marT="36576" marB="36576" anchor="ctr">
                    <a:lnB w="9525" cap="flat" cmpd="sng" algn="ctr">
                      <a:solidFill>
                        <a:srgbClr val="E2D8C6"/>
                      </a:solidFill>
                      <a:prstDash val="solid"/>
                    </a:lnB>
                    <a:solidFill>
                      <a:srgbClr val="FBF8F1"/>
                    </a:solidFill>
                  </a:tcPr>
                </a:tc>
              </a:tr>
              <a:tr h="475488">
                <a:tc>
                  <a:txBody>
                    <a:bodyPr wrap="square"/>
                    <a:lstStyle/>
                    <a:p>
                      <a:r>
                        <a:rPr sz="1100" b="1">
                          <a:solidFill>
                            <a:srgbClr val="3A312A"/>
                          </a:solidFill>
                          <a:latin typeface="Calibri"/>
                        </a:rPr>
                        <a:t>TC4  Edit pending moderation</a:t>
                      </a:r>
                    </a:p>
                  </a:txBody>
                  <a:tcPr marL="91440" marR="91440" marT="36576" marB="36576" anchor="ctr">
                    <a:lnB w="9525" cap="flat" cmpd="sng" algn="ctr">
                      <a:solidFill>
                        <a:srgbClr val="E2D8C6"/>
                      </a:solidFill>
                      <a:prstDash val="solid"/>
                    </a:lnB>
                    <a:solidFill>
                      <a:srgbClr val="F6F1E7"/>
                    </a:solidFill>
                  </a:tcPr>
                </a:tc>
                <a:tc>
                  <a:txBody>
                    <a:bodyPr wrap="square"/>
                    <a:lstStyle/>
                    <a:p>
                      <a:r>
                        <a:rPr sz="1100" b="0">
                          <a:solidFill>
                            <a:srgbClr val="3A312A"/>
                          </a:solidFill>
                          <a:latin typeface="Calibri"/>
                        </a:rPr>
                        <a:t>... PENDING_MODERATION &gt; VERIFIED after moderator and reload</a:t>
                      </a:r>
                    </a:p>
                  </a:txBody>
                  <a:tcPr marL="91440" marR="91440" marT="36576" marB="36576" anchor="ctr">
                    <a:lnB w="9525" cap="flat" cmpd="sng" algn="ctr">
                      <a:solidFill>
                        <a:srgbClr val="E2D8C6"/>
                      </a:solidFill>
                      <a:prstDash val="solid"/>
                    </a:lnB>
                    <a:solidFill>
                      <a:srgbClr val="FBF8F1"/>
                    </a:solidFill>
                  </a:tcPr>
                </a:tc>
              </a:tr>
              <a:tr h="475488">
                <a:tc>
                  <a:txBody>
                    <a:bodyPr wrap="square"/>
                    <a:lstStyle/>
                    <a:p>
                      <a:r>
                        <a:rPr sz="1100" b="1">
                          <a:solidFill>
                            <a:srgbClr val="3A312A"/>
                          </a:solidFill>
                          <a:latin typeface="Calibri"/>
                        </a:rPr>
                        <a:t>TC5  Plain-language closure</a:t>
                      </a:r>
                    </a:p>
                  </a:txBody>
                  <a:tcPr marL="91440" marR="91440" marT="36576" marB="36576" anchor="ctr">
                    <a:lnB w="9525" cap="flat" cmpd="sng" algn="ctr">
                      <a:solidFill>
                        <a:srgbClr val="E2D8C6"/>
                      </a:solidFill>
                      <a:prstDash val="solid"/>
                    </a:lnB>
                    <a:solidFill>
                      <a:srgbClr val="FBF8F1"/>
                    </a:solidFill>
                  </a:tcPr>
                </a:tc>
                <a:tc>
                  <a:txBody>
                    <a:bodyPr wrap="square"/>
                    <a:lstStyle/>
                    <a:p>
                      <a:r>
                        <a:rPr sz="1100" b="0">
                          <a:solidFill>
                            <a:srgbClr val="3A312A"/>
                          </a:solidFill>
                          <a:latin typeface="Calibri"/>
                        </a:rPr>
                        <a:t>3 VERIFIED, 1 FLAGGED_NOT_OWNER, 1 PENDING_MODERATION</a:t>
                      </a:r>
                    </a:p>
                  </a:txBody>
                  <a:tcPr marL="91440" marR="91440" marT="36576" marB="36576" anchor="ctr">
                    <a:lnB w="9525" cap="flat" cmpd="sng" algn="ctr">
                      <a:solidFill>
                        <a:srgbClr val="E2D8C6"/>
                      </a:solidFill>
                      <a:prstDash val="solid"/>
                    </a:lnB>
                    <a:solidFill>
                      <a:srgbClr val="FBF8F1"/>
                    </a:solidFill>
                  </a:tcPr>
                </a:tc>
              </a:tr>
              <a:tr h="475488">
                <a:tc>
                  <a:txBody>
                    <a:bodyPr wrap="square"/>
                    <a:lstStyle/>
                    <a:p>
                      <a:r>
                        <a:rPr sz="1100" b="1">
                          <a:solidFill>
                            <a:srgbClr val="3A312A"/>
                          </a:solidFill>
                          <a:latin typeface="Calibri"/>
                        </a:rPr>
                        <a:t>TC6  Foresight alert, no exception</a:t>
                      </a:r>
                    </a:p>
                  </a:txBody>
                  <a:tcPr marL="91440" marR="91440" marT="36576" marB="36576" anchor="ctr">
                    <a:lnB w="9525" cap="flat" cmpd="sng" algn="ctr">
                      <a:solidFill>
                        <a:srgbClr val="E2D8C6"/>
                      </a:solidFill>
                      <a:prstDash val="solid"/>
                    </a:lnB>
                    <a:solidFill>
                      <a:srgbClr val="F6F1E7"/>
                    </a:solidFill>
                  </a:tcPr>
                </a:tc>
                <a:tc>
                  <a:txBody>
                    <a:bodyPr wrap="square"/>
                    <a:lstStyle/>
                    <a:p>
                      <a:r>
                        <a:rPr sz="1100" b="0">
                          <a:solidFill>
                            <a:srgbClr val="3A312A"/>
                          </a:solidFill>
                          <a:latin typeface="Calibri"/>
                        </a:rPr>
                        <a:t>"Bhai Dooj (11 Nov 2026) is in 21 days and has no opening-hours exception"</a:t>
                      </a:r>
                    </a:p>
                  </a:txBody>
                  <a:tcPr marL="91440" marR="91440" marT="36576" marB="36576" anchor="ctr">
                    <a:lnB w="9525" cap="flat" cmpd="sng" algn="ctr">
                      <a:solidFill>
                        <a:srgbClr val="E2D8C6"/>
                      </a:solidFill>
                      <a:prstDash val="solid"/>
                    </a:lnB>
                    <a:solidFill>
                      <a:srgbClr val="FBF8F1"/>
                    </a:solidFill>
                  </a:tcPr>
                </a:tc>
              </a:tr>
              <a:tr h="475488">
                <a:tc>
                  <a:txBody>
                    <a:bodyPr wrap="square"/>
                    <a:lstStyle/>
                    <a:p>
                      <a:r>
                        <a:rPr sz="1100" b="1">
                          <a:solidFill>
                            <a:srgbClr val="3A312A"/>
                          </a:solidFill>
                          <a:latin typeface="Calibri"/>
                        </a:rPr>
                        <a:t>TC7  Listing changes after approval</a:t>
                      </a:r>
                    </a:p>
                  </a:txBody>
                  <a:tcPr marL="91440" marR="91440" marT="36576" marB="36576" anchor="ctr">
                    <a:lnB w="9525" cap="flat" cmpd="sng" algn="ctr">
                      <a:solidFill>
                        <a:srgbClr val="E2D8C6"/>
                      </a:solidFill>
                      <a:prstDash val="solid"/>
                    </a:lnB>
                    <a:solidFill>
                      <a:srgbClr val="FBF8F1"/>
                    </a:solidFill>
                  </a:tcPr>
                </a:tc>
                <a:tc>
                  <a:txBody>
                    <a:bodyPr wrap="square"/>
                    <a:lstStyle/>
                    <a:p>
                      <a:r>
                        <a:rPr sz="1100" b="0">
                          <a:solidFill>
                            <a:srgbClr val="3A312A"/>
                          </a:solidFill>
                          <a:latin typeface="Calibri"/>
                        </a:rPr>
                        <a:t>Nothing sent; asked again with the new facts, then VERIFIED</a:t>
                      </a:r>
                    </a:p>
                  </a:txBody>
                  <a:tcPr marL="91440" marR="91440" marT="36576" marB="36576" anchor="ctr">
                    <a:lnB w="9525" cap="flat" cmpd="sng" algn="ctr">
                      <a:solidFill>
                        <a:srgbClr val="E2D8C6"/>
                      </a:solidFill>
                      <a:prstDash val="solid"/>
                    </a:lnB>
                    <a:solidFill>
                      <a:srgbClr val="FBF8F1"/>
                    </a:solidFill>
                  </a:tcPr>
                </a:tc>
              </a:tr>
              <a:tr h="475488">
                <a:tc>
                  <a:txBody>
                    <a:bodyPr wrap="square"/>
                    <a:lstStyle/>
                    <a:p>
                      <a:r>
                        <a:rPr sz="1100" b="1">
                          <a:solidFill>
                            <a:srgbClr val="3A312A"/>
                          </a:solidFill>
                          <a:latin typeface="Calibri"/>
                        </a:rPr>
                        <a:t>TC8  Site down, then drops an edit</a:t>
                      </a:r>
                    </a:p>
                  </a:txBody>
                  <a:tcPr marL="91440" marR="91440" marT="36576" marB="36576" anchor="ctr">
                    <a:lnB w="9525" cap="flat" cmpd="sng" algn="ctr">
                      <a:solidFill>
                        <a:srgbClr val="E2D8C6"/>
                      </a:solidFill>
                      <a:prstDash val="solid"/>
                    </a:lnB>
                    <a:solidFill>
                      <a:srgbClr val="F6F1E7"/>
                    </a:solidFill>
                  </a:tcPr>
                </a:tc>
                <a:tc>
                  <a:txBody>
                    <a:bodyPr wrap="square"/>
                    <a:lstStyle/>
                    <a:p>
                      <a:r>
                        <a:rPr sz="1100" b="0">
                          <a:solidFill>
                            <a:srgbClr val="3A312A"/>
                          </a:solidFill>
                          <a:latin typeface="Calibri"/>
                        </a:rPr>
                        <a:t>Outage retried; lost write re-sent once; VERIFIED</a:t>
                      </a:r>
                    </a:p>
                  </a:txBody>
                  <a:tcPr marL="91440" marR="91440" marT="36576" marB="36576" anchor="ctr">
                    <a:lnB w="9525" cap="flat" cmpd="sng" algn="ctr">
                      <a:solidFill>
                        <a:srgbClr val="E2D8C6"/>
                      </a:solidFill>
                      <a:prstDash val="solid"/>
                    </a:lnB>
                    <a:solidFill>
                      <a:srgbClr val="FBF8F1"/>
                    </a:solidFill>
                  </a:tcPr>
                </a:tc>
              </a:tr>
            </a:tbl>
          </a:graphicData>
        </a:graphic>
      </p:graphicFrame>
      <p:sp>
        <p:nvSpPr>
          <p:cNvPr id="7" name="Rounded Rectangle 6"/>
          <p:cNvSpPr/>
          <p:nvPr/>
        </p:nvSpPr>
        <p:spPr>
          <a:xfrm>
            <a:off x="7772400" y="1600200"/>
            <a:ext cx="3870655" cy="1188720"/>
          </a:xfrm>
          <a:prstGeom prst="roundRect">
            <a:avLst>
              <a:gd name="adj" fmla="val 6153"/>
            </a:avLst>
          </a:prstGeom>
          <a:solidFill>
            <a:srgbClr val="EBE2CF"/>
          </a:solidFill>
          <a:ln>
            <a:noFill/>
          </a:ln>
          <a:effectLst/>
        </p:spPr>
        <p:txBody>
          <a:bodyPr rtlCol="0" anchor="ctr"/>
          <a:lstStyle/>
          <a:p>
            <a:pPr algn="ctr"/>
          </a:p>
        </p:txBody>
      </p:sp>
      <p:sp>
        <p:nvSpPr>
          <p:cNvPr id="8" name="TextBox 7"/>
          <p:cNvSpPr txBox="1"/>
          <p:nvPr/>
        </p:nvSpPr>
        <p:spPr>
          <a:xfrm>
            <a:off x="7955279" y="1673352"/>
            <a:ext cx="3474720" cy="640080"/>
          </a:xfrm>
          <a:prstGeom prst="rect">
            <a:avLst/>
          </a:prstGeom>
          <a:noFill/>
        </p:spPr>
        <p:txBody>
          <a:bodyPr wrap="square" lIns="0" rIns="0" tIns="0" bIns="0" anchor="t">
            <a:spAutoFit/>
          </a:bodyPr>
          <a:lstStyle/>
          <a:p>
            <a:pPr algn="l">
              <a:lnSpc>
                <a:spcPct val="100000"/>
              </a:lnSpc>
            </a:pPr>
            <a:r>
              <a:rPr sz="3400" b="1" i="0">
                <a:solidFill>
                  <a:srgbClr val="3F5A2E"/>
                </a:solidFill>
                <a:latin typeface="Cambria"/>
              </a:rPr>
              <a:t>8 / 8</a:t>
            </a:r>
          </a:p>
        </p:txBody>
      </p:sp>
      <p:sp>
        <p:nvSpPr>
          <p:cNvPr id="9" name="TextBox 8"/>
          <p:cNvSpPr txBox="1"/>
          <p:nvPr/>
        </p:nvSpPr>
        <p:spPr>
          <a:xfrm>
            <a:off x="7955279" y="2331720"/>
            <a:ext cx="3520440" cy="438912"/>
          </a:xfrm>
          <a:prstGeom prst="rect">
            <a:avLst/>
          </a:prstGeom>
          <a:noFill/>
        </p:spPr>
        <p:txBody>
          <a:bodyPr wrap="square" lIns="0" rIns="0" tIns="0" bIns="0" anchor="t">
            <a:spAutoFit/>
          </a:bodyPr>
          <a:lstStyle/>
          <a:p>
            <a:pPr algn="l">
              <a:lnSpc>
                <a:spcPct val="100000"/>
              </a:lnSpc>
            </a:pPr>
            <a:r>
              <a:rPr sz="1200" b="0" i="0">
                <a:solidFill>
                  <a:srgbClr val="3A312A"/>
                </a:solidFill>
                <a:latin typeface="Calibri"/>
              </a:rPr>
              <a:t>official test cases pass from a fresh reset</a:t>
            </a:r>
          </a:p>
        </p:txBody>
      </p:sp>
      <p:sp>
        <p:nvSpPr>
          <p:cNvPr id="10" name="Rounded Rectangle 9"/>
          <p:cNvSpPr/>
          <p:nvPr/>
        </p:nvSpPr>
        <p:spPr>
          <a:xfrm>
            <a:off x="7772400" y="2926080"/>
            <a:ext cx="3870655" cy="1188720"/>
          </a:xfrm>
          <a:prstGeom prst="roundRect">
            <a:avLst>
              <a:gd name="adj" fmla="val 6153"/>
            </a:avLst>
          </a:prstGeom>
          <a:solidFill>
            <a:srgbClr val="EBE2CF"/>
          </a:solidFill>
          <a:ln>
            <a:noFill/>
          </a:ln>
          <a:effectLst/>
        </p:spPr>
        <p:txBody>
          <a:bodyPr rtlCol="0" anchor="ctr"/>
          <a:lstStyle/>
          <a:p>
            <a:pPr algn="ctr"/>
          </a:p>
        </p:txBody>
      </p:sp>
      <p:sp>
        <p:nvSpPr>
          <p:cNvPr id="11" name="TextBox 10"/>
          <p:cNvSpPr txBox="1"/>
          <p:nvPr/>
        </p:nvSpPr>
        <p:spPr>
          <a:xfrm>
            <a:off x="7955279" y="2999232"/>
            <a:ext cx="3474720" cy="640080"/>
          </a:xfrm>
          <a:prstGeom prst="rect">
            <a:avLst/>
          </a:prstGeom>
          <a:noFill/>
        </p:spPr>
        <p:txBody>
          <a:bodyPr wrap="square" lIns="0" rIns="0" tIns="0" bIns="0" anchor="t">
            <a:spAutoFit/>
          </a:bodyPr>
          <a:lstStyle/>
          <a:p>
            <a:pPr algn="l">
              <a:lnSpc>
                <a:spcPct val="100000"/>
              </a:lnSpc>
            </a:pPr>
            <a:r>
              <a:rPr sz="3400" b="1" i="0">
                <a:solidFill>
                  <a:srgbClr val="3F5A2E"/>
                </a:solidFill>
                <a:latin typeface="Cambria"/>
              </a:rPr>
              <a:t>295</a:t>
            </a:r>
          </a:p>
        </p:txBody>
      </p:sp>
      <p:sp>
        <p:nvSpPr>
          <p:cNvPr id="12" name="TextBox 11"/>
          <p:cNvSpPr txBox="1"/>
          <p:nvPr/>
        </p:nvSpPr>
        <p:spPr>
          <a:xfrm>
            <a:off x="7955279" y="3657600"/>
            <a:ext cx="3520440" cy="438912"/>
          </a:xfrm>
          <a:prstGeom prst="rect">
            <a:avLst/>
          </a:prstGeom>
          <a:noFill/>
        </p:spPr>
        <p:txBody>
          <a:bodyPr wrap="square" lIns="0" rIns="0" tIns="0" bIns="0" anchor="t">
            <a:spAutoFit/>
          </a:bodyPr>
          <a:lstStyle/>
          <a:p>
            <a:pPr algn="l">
              <a:lnSpc>
                <a:spcPct val="100000"/>
              </a:lnSpc>
            </a:pPr>
            <a:r>
              <a:rPr sz="1200" b="0" i="0">
                <a:solidFill>
                  <a:srgbClr val="3A312A"/>
                </a:solidFill>
                <a:latin typeface="Calibri"/>
              </a:rPr>
              <a:t>automated tests pass across 24 files</a:t>
            </a:r>
          </a:p>
        </p:txBody>
      </p:sp>
      <p:sp>
        <p:nvSpPr>
          <p:cNvPr id="13" name="Rounded Rectangle 12"/>
          <p:cNvSpPr/>
          <p:nvPr/>
        </p:nvSpPr>
        <p:spPr>
          <a:xfrm>
            <a:off x="7772400" y="4251960"/>
            <a:ext cx="3870655" cy="1188720"/>
          </a:xfrm>
          <a:prstGeom prst="roundRect">
            <a:avLst>
              <a:gd name="adj" fmla="val 6153"/>
            </a:avLst>
          </a:prstGeom>
          <a:solidFill>
            <a:srgbClr val="EBE2CF"/>
          </a:solidFill>
          <a:ln>
            <a:noFill/>
          </a:ln>
          <a:effectLst/>
        </p:spPr>
        <p:txBody>
          <a:bodyPr rtlCol="0" anchor="ctr"/>
          <a:lstStyle/>
          <a:p>
            <a:pPr algn="ctr"/>
          </a:p>
        </p:txBody>
      </p:sp>
      <p:sp>
        <p:nvSpPr>
          <p:cNvPr id="14" name="TextBox 13"/>
          <p:cNvSpPr txBox="1"/>
          <p:nvPr/>
        </p:nvSpPr>
        <p:spPr>
          <a:xfrm>
            <a:off x="7955279" y="4325112"/>
            <a:ext cx="3474720" cy="640080"/>
          </a:xfrm>
          <a:prstGeom prst="rect">
            <a:avLst/>
          </a:prstGeom>
          <a:noFill/>
        </p:spPr>
        <p:txBody>
          <a:bodyPr wrap="square" lIns="0" rIns="0" tIns="0" bIns="0" anchor="t">
            <a:spAutoFit/>
          </a:bodyPr>
          <a:lstStyle/>
          <a:p>
            <a:pPr algn="l">
              <a:lnSpc>
                <a:spcPct val="100000"/>
              </a:lnSpc>
            </a:pPr>
            <a:r>
              <a:rPr sz="3400" b="1" i="0">
                <a:solidFill>
                  <a:srgbClr val="3F5A2E"/>
                </a:solidFill>
                <a:latin typeface="Cambria"/>
              </a:rPr>
              <a:t>6 / 6</a:t>
            </a:r>
          </a:p>
        </p:txBody>
      </p:sp>
      <p:sp>
        <p:nvSpPr>
          <p:cNvPr id="15" name="TextBox 14"/>
          <p:cNvSpPr txBox="1"/>
          <p:nvPr/>
        </p:nvSpPr>
        <p:spPr>
          <a:xfrm>
            <a:off x="7955279" y="4983480"/>
            <a:ext cx="3520440" cy="438912"/>
          </a:xfrm>
          <a:prstGeom prst="rect">
            <a:avLst/>
          </a:prstGeom>
          <a:noFill/>
        </p:spPr>
        <p:txBody>
          <a:bodyPr wrap="square" lIns="0" rIns="0" tIns="0" bIns="0" anchor="t">
            <a:spAutoFit/>
          </a:bodyPr>
          <a:lstStyle/>
          <a:p>
            <a:pPr algn="l">
              <a:lnSpc>
                <a:spcPct val="100000"/>
              </a:lnSpc>
            </a:pPr>
            <a:r>
              <a:rPr sz="1200" b="0" i="0">
                <a:solidFill>
                  <a:srgbClr val="3A312A"/>
                </a:solidFill>
                <a:latin typeface="Calibri"/>
              </a:rPr>
              <a:t>unsafe actions blocked in the rogue-planner test, with 0 writes</a:t>
            </a:r>
          </a:p>
        </p:txBody>
      </p:sp>
      <p:sp>
        <p:nvSpPr>
          <p:cNvPr id="16" name="Rounded Rectangle 15"/>
          <p:cNvSpPr/>
          <p:nvPr/>
        </p:nvSpPr>
        <p:spPr>
          <a:xfrm>
            <a:off x="7772400" y="5577840"/>
            <a:ext cx="3870655" cy="731520"/>
          </a:xfrm>
          <a:prstGeom prst="roundRect">
            <a:avLst>
              <a:gd name="adj" fmla="val 7500"/>
            </a:avLst>
          </a:prstGeom>
          <a:solidFill>
            <a:srgbClr val="FBF8F1"/>
          </a:solidFill>
          <a:ln w="9525">
            <a:solidFill>
              <a:srgbClr val="E2D8C6"/>
            </a:solidFill>
          </a:ln>
          <a:effectLst/>
        </p:spPr>
        <p:txBody>
          <a:bodyPr rtlCol="0" anchor="ctr"/>
          <a:lstStyle/>
          <a:p>
            <a:pPr algn="ctr"/>
          </a:p>
        </p:txBody>
      </p:sp>
      <p:sp>
        <p:nvSpPr>
          <p:cNvPr id="17" name="TextBox 16"/>
          <p:cNvSpPr txBox="1"/>
          <p:nvPr/>
        </p:nvSpPr>
        <p:spPr>
          <a:xfrm>
            <a:off x="7936992" y="5577840"/>
            <a:ext cx="3566160" cy="731520"/>
          </a:xfrm>
          <a:prstGeom prst="rect">
            <a:avLst/>
          </a:prstGeom>
          <a:noFill/>
        </p:spPr>
        <p:txBody>
          <a:bodyPr wrap="square" lIns="0" rIns="0" tIns="0" bIns="0" anchor="ctr">
            <a:spAutoFit/>
          </a:bodyPr>
          <a:lstStyle/>
          <a:p>
            <a:pPr algn="l">
              <a:lnSpc>
                <a:spcPct val="100000"/>
              </a:lnSpc>
            </a:pPr>
            <a:r>
              <a:rPr sz="1150" b="1" i="0">
                <a:solidFill>
                  <a:srgbClr val="3F5A2E"/>
                </a:solidFill>
                <a:latin typeface="Calibri"/>
              </a:rPr>
              <a:t>Re-run it yourself  </a:t>
            </a:r>
            <a:r>
              <a:rPr sz="1150" b="0" i="0">
                <a:solidFill>
                  <a:srgbClr val="3A312A"/>
                </a:solidFill>
                <a:latin typeface="Calibri"/>
              </a:rPr>
              <a:t>open /tests, press Run all</a:t>
            </a:r>
          </a:p>
        </p:txBody>
      </p:sp>
      <p:sp>
        <p:nvSpPr>
          <p:cNvPr id="18" name="TextBox 17"/>
          <p:cNvSpPr txBox="1"/>
          <p:nvPr/>
        </p:nvSpPr>
        <p:spPr>
          <a:xfrm>
            <a:off x="548640" y="5989320"/>
            <a:ext cx="6949440" cy="36576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Deterministic run with the date pinned to 21 Oct 2026; each test starts from a fresh reset. The Gemini run needs an API key and is not part of this evidence.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7  ·  THE IMPACT</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Value we can measure today, and where it scales</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16</a:t>
            </a:r>
          </a:p>
        </p:txBody>
      </p:sp>
      <p:sp>
        <p:nvSpPr>
          <p:cNvPr id="6" name="Rounded Rectangle 5"/>
          <p:cNvSpPr/>
          <p:nvPr/>
        </p:nvSpPr>
        <p:spPr>
          <a:xfrm>
            <a:off x="548640" y="1572768"/>
            <a:ext cx="356616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7" name="TextBox 6"/>
          <p:cNvSpPr txBox="1"/>
          <p:nvPr/>
        </p:nvSpPr>
        <p:spPr>
          <a:xfrm>
            <a:off x="731520" y="1664208"/>
            <a:ext cx="3200400" cy="548640"/>
          </a:xfrm>
          <a:prstGeom prst="rect">
            <a:avLst/>
          </a:prstGeom>
          <a:noFill/>
        </p:spPr>
        <p:txBody>
          <a:bodyPr wrap="square" lIns="0" rIns="0" tIns="0" bIns="0" anchor="t">
            <a:spAutoFit/>
          </a:bodyPr>
          <a:lstStyle/>
          <a:p>
            <a:pPr algn="l">
              <a:lnSpc>
                <a:spcPct val="100000"/>
              </a:lnSpc>
            </a:pPr>
            <a:r>
              <a:rPr sz="2800" b="1" i="0">
                <a:solidFill>
                  <a:srgbClr val="3F5A2E"/>
                </a:solidFill>
                <a:latin typeface="Cambria"/>
              </a:rPr>
              <a:t>about 150 ms</a:t>
            </a:r>
          </a:p>
        </p:txBody>
      </p:sp>
      <p:sp>
        <p:nvSpPr>
          <p:cNvPr id="8" name="TextBox 7"/>
          <p:cNvSpPr txBox="1"/>
          <p:nvPr/>
        </p:nvSpPr>
        <p:spPr>
          <a:xfrm>
            <a:off x="731520" y="2231136"/>
            <a:ext cx="3200400" cy="50292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full scan: 5 sites x 5 fields = 25 checks (local mock sites; three runs: 139-156 ms)</a:t>
            </a:r>
          </a:p>
        </p:txBody>
      </p:sp>
      <p:sp>
        <p:nvSpPr>
          <p:cNvPr id="9" name="Rounded Rectangle 8"/>
          <p:cNvSpPr/>
          <p:nvPr/>
        </p:nvSpPr>
        <p:spPr>
          <a:xfrm>
            <a:off x="4311396" y="1572768"/>
            <a:ext cx="356616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10" name="TextBox 9"/>
          <p:cNvSpPr txBox="1"/>
          <p:nvPr/>
        </p:nvSpPr>
        <p:spPr>
          <a:xfrm>
            <a:off x="4494276" y="1664208"/>
            <a:ext cx="3200400" cy="548640"/>
          </a:xfrm>
          <a:prstGeom prst="rect">
            <a:avLst/>
          </a:prstGeom>
          <a:noFill/>
        </p:spPr>
        <p:txBody>
          <a:bodyPr wrap="square" lIns="0" rIns="0" tIns="0" bIns="0" anchor="t">
            <a:spAutoFit/>
          </a:bodyPr>
          <a:lstStyle/>
          <a:p>
            <a:pPr algn="l">
              <a:lnSpc>
                <a:spcPct val="100000"/>
              </a:lnSpc>
            </a:pPr>
            <a:r>
              <a:rPr sz="2800" b="1" i="0">
                <a:solidFill>
                  <a:srgbClr val="3F5A2E"/>
                </a:solidFill>
                <a:latin typeface="Cambria"/>
              </a:rPr>
              <a:t>3 clicks</a:t>
            </a:r>
          </a:p>
        </p:txBody>
      </p:sp>
      <p:sp>
        <p:nvSpPr>
          <p:cNvPr id="11" name="TextBox 10"/>
          <p:cNvSpPr txBox="1"/>
          <p:nvPr/>
        </p:nvSpPr>
        <p:spPr>
          <a:xfrm>
            <a:off x="4494276" y="2231136"/>
            <a:ext cx="3200400" cy="50292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owner effort in the demo: Scan, Approve all, Apply</a:t>
            </a:r>
          </a:p>
        </p:txBody>
      </p:sp>
      <p:sp>
        <p:nvSpPr>
          <p:cNvPr id="12" name="Rounded Rectangle 11"/>
          <p:cNvSpPr/>
          <p:nvPr/>
        </p:nvSpPr>
        <p:spPr>
          <a:xfrm>
            <a:off x="8074152" y="1572768"/>
            <a:ext cx="356616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13" name="TextBox 12"/>
          <p:cNvSpPr txBox="1"/>
          <p:nvPr/>
        </p:nvSpPr>
        <p:spPr>
          <a:xfrm>
            <a:off x="8257031" y="1664208"/>
            <a:ext cx="3200400" cy="548640"/>
          </a:xfrm>
          <a:prstGeom prst="rect">
            <a:avLst/>
          </a:prstGeom>
          <a:noFill/>
        </p:spPr>
        <p:txBody>
          <a:bodyPr wrap="square" lIns="0" rIns="0" tIns="0" bIns="0" anchor="t">
            <a:spAutoFit/>
          </a:bodyPr>
          <a:lstStyle/>
          <a:p>
            <a:pPr algn="l">
              <a:lnSpc>
                <a:spcPct val="100000"/>
              </a:lnSpc>
            </a:pPr>
            <a:r>
              <a:rPr sz="2800" b="1" i="0">
                <a:solidFill>
                  <a:srgbClr val="3F5A2E"/>
                </a:solidFill>
                <a:latin typeface="Cambria"/>
              </a:rPr>
              <a:t>0</a:t>
            </a:r>
          </a:p>
        </p:txBody>
      </p:sp>
      <p:sp>
        <p:nvSpPr>
          <p:cNvPr id="14" name="TextBox 13"/>
          <p:cNvSpPr txBox="1"/>
          <p:nvPr/>
        </p:nvSpPr>
        <p:spPr>
          <a:xfrm>
            <a:off x="8257031" y="2231136"/>
            <a:ext cx="3200400" cy="50292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unapproved writes, decoy edits or false VERIFIED in the tests</a:t>
            </a:r>
          </a:p>
        </p:txBody>
      </p:sp>
      <p:sp>
        <p:nvSpPr>
          <p:cNvPr id="15" name="Rounded Rectangle 14"/>
          <p:cNvSpPr/>
          <p:nvPr/>
        </p:nvSpPr>
        <p:spPr>
          <a:xfrm>
            <a:off x="548640" y="2852928"/>
            <a:ext cx="356616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16" name="TextBox 15"/>
          <p:cNvSpPr txBox="1"/>
          <p:nvPr/>
        </p:nvSpPr>
        <p:spPr>
          <a:xfrm>
            <a:off x="731520" y="2944368"/>
            <a:ext cx="3200400" cy="548640"/>
          </a:xfrm>
          <a:prstGeom prst="rect">
            <a:avLst/>
          </a:prstGeom>
          <a:noFill/>
        </p:spPr>
        <p:txBody>
          <a:bodyPr wrap="square" lIns="0" rIns="0" tIns="0" bIns="0" anchor="t">
            <a:spAutoFit/>
          </a:bodyPr>
          <a:lstStyle/>
          <a:p>
            <a:pPr algn="l">
              <a:lnSpc>
                <a:spcPct val="100000"/>
              </a:lnSpc>
            </a:pPr>
            <a:r>
              <a:rPr sz="2800" b="1" i="0">
                <a:solidFill>
                  <a:srgbClr val="3F5A2E"/>
                </a:solidFill>
                <a:latin typeface="Cambria"/>
              </a:rPr>
              <a:t>8 / 8</a:t>
            </a:r>
          </a:p>
        </p:txBody>
      </p:sp>
      <p:sp>
        <p:nvSpPr>
          <p:cNvPr id="17" name="TextBox 16"/>
          <p:cNvSpPr txBox="1"/>
          <p:nvPr/>
        </p:nvSpPr>
        <p:spPr>
          <a:xfrm>
            <a:off x="731520" y="3511296"/>
            <a:ext cx="3200400" cy="50292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official test cases pass from a fresh reset</a:t>
            </a:r>
          </a:p>
        </p:txBody>
      </p:sp>
      <p:sp>
        <p:nvSpPr>
          <p:cNvPr id="18" name="Rounded Rectangle 17"/>
          <p:cNvSpPr/>
          <p:nvPr/>
        </p:nvSpPr>
        <p:spPr>
          <a:xfrm>
            <a:off x="4311396" y="2852928"/>
            <a:ext cx="356616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19" name="TextBox 18"/>
          <p:cNvSpPr txBox="1"/>
          <p:nvPr/>
        </p:nvSpPr>
        <p:spPr>
          <a:xfrm>
            <a:off x="4494276" y="2944368"/>
            <a:ext cx="3200400" cy="548640"/>
          </a:xfrm>
          <a:prstGeom prst="rect">
            <a:avLst/>
          </a:prstGeom>
          <a:noFill/>
        </p:spPr>
        <p:txBody>
          <a:bodyPr wrap="square" lIns="0" rIns="0" tIns="0" bIns="0" anchor="t">
            <a:spAutoFit/>
          </a:bodyPr>
          <a:lstStyle/>
          <a:p>
            <a:pPr algn="l">
              <a:lnSpc>
                <a:spcPct val="100000"/>
              </a:lnSpc>
            </a:pPr>
            <a:r>
              <a:rPr sz="2800" b="1" i="0">
                <a:solidFill>
                  <a:srgbClr val="3F5A2E"/>
                </a:solidFill>
                <a:latin typeface="Cambria"/>
              </a:rPr>
              <a:t>6 / 6</a:t>
            </a:r>
          </a:p>
        </p:txBody>
      </p:sp>
      <p:sp>
        <p:nvSpPr>
          <p:cNvPr id="20" name="TextBox 19"/>
          <p:cNvSpPr txBox="1"/>
          <p:nvPr/>
        </p:nvSpPr>
        <p:spPr>
          <a:xfrm>
            <a:off x="4494276" y="3511296"/>
            <a:ext cx="3200400" cy="50292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unsafe actions blocked in the rogue-planner test</a:t>
            </a:r>
          </a:p>
        </p:txBody>
      </p:sp>
      <p:sp>
        <p:nvSpPr>
          <p:cNvPr id="21" name="Rounded Rectangle 20"/>
          <p:cNvSpPr/>
          <p:nvPr/>
        </p:nvSpPr>
        <p:spPr>
          <a:xfrm>
            <a:off x="8074152" y="2852928"/>
            <a:ext cx="3566160" cy="1188720"/>
          </a:xfrm>
          <a:prstGeom prst="roundRect">
            <a:avLst>
              <a:gd name="adj" fmla="val 4615"/>
            </a:avLst>
          </a:prstGeom>
          <a:solidFill>
            <a:srgbClr val="FBF8F1"/>
          </a:solidFill>
          <a:ln w="9525">
            <a:solidFill>
              <a:srgbClr val="E2D8C6"/>
            </a:solidFill>
          </a:ln>
          <a:effectLst/>
        </p:spPr>
        <p:txBody>
          <a:bodyPr rtlCol="0" anchor="ctr"/>
          <a:lstStyle/>
          <a:p>
            <a:pPr algn="ctr"/>
          </a:p>
        </p:txBody>
      </p:sp>
      <p:sp>
        <p:nvSpPr>
          <p:cNvPr id="22" name="TextBox 21"/>
          <p:cNvSpPr txBox="1"/>
          <p:nvPr/>
        </p:nvSpPr>
        <p:spPr>
          <a:xfrm>
            <a:off x="8257031" y="2944368"/>
            <a:ext cx="3200400" cy="548640"/>
          </a:xfrm>
          <a:prstGeom prst="rect">
            <a:avLst/>
          </a:prstGeom>
          <a:noFill/>
        </p:spPr>
        <p:txBody>
          <a:bodyPr wrap="square" lIns="0" rIns="0" tIns="0" bIns="0" anchor="t">
            <a:spAutoFit/>
          </a:bodyPr>
          <a:lstStyle/>
          <a:p>
            <a:pPr algn="l">
              <a:lnSpc>
                <a:spcPct val="100000"/>
              </a:lnSpc>
            </a:pPr>
            <a:r>
              <a:rPr sz="2800" b="1" i="0">
                <a:solidFill>
                  <a:srgbClr val="3F5A2E"/>
                </a:solidFill>
                <a:latin typeface="Cambria"/>
              </a:rPr>
              <a:t>295</a:t>
            </a:r>
          </a:p>
        </p:txBody>
      </p:sp>
      <p:sp>
        <p:nvSpPr>
          <p:cNvPr id="23" name="TextBox 22"/>
          <p:cNvSpPr txBox="1"/>
          <p:nvPr/>
        </p:nvSpPr>
        <p:spPr>
          <a:xfrm>
            <a:off x="8257031" y="3511296"/>
            <a:ext cx="3200400" cy="502920"/>
          </a:xfrm>
          <a:prstGeom prst="rect">
            <a:avLst/>
          </a:prstGeom>
          <a:noFill/>
        </p:spPr>
        <p:txBody>
          <a:bodyPr wrap="square" lIns="0" rIns="0" tIns="0" bIns="0" anchor="t">
            <a:spAutoFit/>
          </a:bodyPr>
          <a:lstStyle/>
          <a:p>
            <a:pPr algn="l">
              <a:lnSpc>
                <a:spcPct val="100000"/>
              </a:lnSpc>
            </a:pPr>
            <a:r>
              <a:rPr sz="1100" b="0" i="0">
                <a:solidFill>
                  <a:srgbClr val="6A5E51"/>
                </a:solidFill>
                <a:latin typeface="Calibri"/>
              </a:rPr>
              <a:t>automated tests pass</a:t>
            </a:r>
          </a:p>
        </p:txBody>
      </p:sp>
      <p:sp>
        <p:nvSpPr>
          <p:cNvPr id="24" name="Rounded Rectangle 23"/>
          <p:cNvSpPr/>
          <p:nvPr/>
        </p:nvSpPr>
        <p:spPr>
          <a:xfrm>
            <a:off x="548640" y="4251960"/>
            <a:ext cx="3566160" cy="2057400"/>
          </a:xfrm>
          <a:prstGeom prst="roundRect">
            <a:avLst>
              <a:gd name="adj" fmla="val 3555"/>
            </a:avLst>
          </a:prstGeom>
          <a:solidFill>
            <a:srgbClr val="EBE2CF"/>
          </a:solidFill>
          <a:ln>
            <a:noFill/>
          </a:ln>
          <a:effectLst/>
        </p:spPr>
        <p:txBody>
          <a:bodyPr rtlCol="0" anchor="ctr"/>
          <a:lstStyle/>
          <a:p>
            <a:pPr algn="ctr"/>
          </a:p>
        </p:txBody>
      </p:sp>
      <p:sp>
        <p:nvSpPr>
          <p:cNvPr id="25" name="TextBox 24"/>
          <p:cNvSpPr txBox="1"/>
          <p:nvPr/>
        </p:nvSpPr>
        <p:spPr>
          <a:xfrm>
            <a:off x="731520" y="4343400"/>
            <a:ext cx="3200400" cy="274320"/>
          </a:xfrm>
          <a:prstGeom prst="rect">
            <a:avLst/>
          </a:prstGeom>
          <a:noFill/>
        </p:spPr>
        <p:txBody>
          <a:bodyPr wrap="square" lIns="0" rIns="0" tIns="0" bIns="0" anchor="t">
            <a:spAutoFit/>
          </a:bodyPr>
          <a:lstStyle/>
          <a:p>
            <a:pPr algn="l">
              <a:lnSpc>
                <a:spcPct val="100000"/>
              </a:lnSpc>
            </a:pPr>
            <a:r>
              <a:rPr sz="1450" b="1" i="0">
                <a:solidFill>
                  <a:srgbClr val="3F5A2E"/>
                </a:solidFill>
                <a:latin typeface="Calibri"/>
              </a:rPr>
              <a:t>Practical value</a:t>
            </a:r>
          </a:p>
        </p:txBody>
      </p:sp>
      <p:sp>
        <p:nvSpPr>
          <p:cNvPr id="26" name="TextBox 25"/>
          <p:cNvSpPr txBox="1"/>
          <p:nvPr/>
        </p:nvSpPr>
        <p:spPr>
          <a:xfrm>
            <a:off x="731520" y="4690872"/>
            <a:ext cx="3246120" cy="1600200"/>
          </a:xfrm>
          <a:prstGeom prst="rect">
            <a:avLst/>
          </a:prstGeom>
          <a:noFill/>
        </p:spPr>
        <p:txBody>
          <a:bodyPr wrap="square" lIns="0" rIns="0" tIns="0" bIns="0" anchor="t">
            <a:spAutoFit/>
          </a:bodyPr>
          <a:lstStyle/>
          <a:p>
            <a:pPr algn="l" marL="155448" indent="-155448">
              <a:lnSpc>
                <a:spcPct val="100000"/>
              </a:lnSpc>
              <a:spcAft>
                <a:spcPts val="400"/>
              </a:spcAft>
              <a:buChar char="•"/>
            </a:pPr>
            <a:r>
              <a:rPr sz="1150" b="0" i="0">
                <a:solidFill>
                  <a:srgbClr val="3A312A"/>
                </a:solidFill>
                <a:latin typeface="Calibri"/>
              </a:rPr>
              <a:t>Hours saved on every holiday change, and no more wrong-hours surprises</a:t>
            </a:r>
          </a:p>
          <a:p>
            <a:pPr algn="l" marL="155448" indent="-155448">
              <a:lnSpc>
                <a:spcPct val="100000"/>
              </a:lnSpc>
              <a:spcAft>
                <a:spcPts val="400"/>
              </a:spcAft>
              <a:buChar char="•"/>
            </a:pPr>
            <a:r>
              <a:rPr sz="1150" b="0" i="0">
                <a:solidFill>
                  <a:srgbClr val="3A312A"/>
                </a:solidFill>
                <a:latin typeface="Calibri"/>
              </a:rPr>
              <a:t>Safe by design: no write without approval, none to listings you do not own</a:t>
            </a:r>
          </a:p>
          <a:p>
            <a:pPr algn="l" marL="155448" indent="-155448">
              <a:lnSpc>
                <a:spcPct val="100000"/>
              </a:lnSpc>
              <a:buChar char="•"/>
            </a:pPr>
            <a:r>
              <a:rPr sz="1150" b="0" i="0">
                <a:solidFill>
                  <a:srgbClr val="3A312A"/>
                </a:solidFill>
                <a:latin typeface="Calibri"/>
              </a:rPr>
              <a:t>Owners get proof (VERIFIED, trace, CSV), not promises</a:t>
            </a:r>
          </a:p>
        </p:txBody>
      </p:sp>
      <p:sp>
        <p:nvSpPr>
          <p:cNvPr id="27" name="Rounded Rectangle 26"/>
          <p:cNvSpPr/>
          <p:nvPr/>
        </p:nvSpPr>
        <p:spPr>
          <a:xfrm>
            <a:off x="4311396" y="4251960"/>
            <a:ext cx="3566160" cy="2057400"/>
          </a:xfrm>
          <a:prstGeom prst="roundRect">
            <a:avLst>
              <a:gd name="adj" fmla="val 3555"/>
            </a:avLst>
          </a:prstGeom>
          <a:solidFill>
            <a:srgbClr val="EBE2CF"/>
          </a:solidFill>
          <a:ln>
            <a:noFill/>
          </a:ln>
          <a:effectLst/>
        </p:spPr>
        <p:txBody>
          <a:bodyPr rtlCol="0" anchor="ctr"/>
          <a:lstStyle/>
          <a:p>
            <a:pPr algn="ctr"/>
          </a:p>
        </p:txBody>
      </p:sp>
      <p:sp>
        <p:nvSpPr>
          <p:cNvPr id="28" name="TextBox 27"/>
          <p:cNvSpPr txBox="1"/>
          <p:nvPr/>
        </p:nvSpPr>
        <p:spPr>
          <a:xfrm>
            <a:off x="4494276" y="4343400"/>
            <a:ext cx="3200400" cy="274320"/>
          </a:xfrm>
          <a:prstGeom prst="rect">
            <a:avLst/>
          </a:prstGeom>
          <a:noFill/>
        </p:spPr>
        <p:txBody>
          <a:bodyPr wrap="square" lIns="0" rIns="0" tIns="0" bIns="0" anchor="t">
            <a:spAutoFit/>
          </a:bodyPr>
          <a:lstStyle/>
          <a:p>
            <a:pPr algn="l">
              <a:lnSpc>
                <a:spcPct val="100000"/>
              </a:lnSpc>
            </a:pPr>
            <a:r>
              <a:rPr sz="1450" b="1" i="0">
                <a:solidFill>
                  <a:srgbClr val="3F5A2E"/>
                </a:solidFill>
                <a:latin typeface="Calibri"/>
              </a:rPr>
              <a:t>Scalability</a:t>
            </a:r>
          </a:p>
        </p:txBody>
      </p:sp>
      <p:sp>
        <p:nvSpPr>
          <p:cNvPr id="29" name="TextBox 28"/>
          <p:cNvSpPr txBox="1"/>
          <p:nvPr/>
        </p:nvSpPr>
        <p:spPr>
          <a:xfrm>
            <a:off x="4494276" y="4690872"/>
            <a:ext cx="3246120" cy="1600200"/>
          </a:xfrm>
          <a:prstGeom prst="rect">
            <a:avLst/>
          </a:prstGeom>
          <a:noFill/>
        </p:spPr>
        <p:txBody>
          <a:bodyPr wrap="square" lIns="0" rIns="0" tIns="0" bIns="0" anchor="t">
            <a:spAutoFit/>
          </a:bodyPr>
          <a:lstStyle/>
          <a:p>
            <a:pPr algn="l" marL="155448" indent="-155448">
              <a:lnSpc>
                <a:spcPct val="100000"/>
              </a:lnSpc>
              <a:spcAft>
                <a:spcPts val="400"/>
              </a:spcAft>
              <a:buChar char="•"/>
            </a:pPr>
            <a:r>
              <a:rPr sz="1150" b="0" i="0">
                <a:solidFill>
                  <a:srgbClr val="3A312A"/>
                </a:solidFill>
                <a:latin typeface="Calibri"/>
              </a:rPr>
              <a:t>Each new platform is one more reader; the mock sites already differ in markup, formats and rules</a:t>
            </a:r>
          </a:p>
          <a:p>
            <a:pPr algn="l" marL="155448" indent="-155448">
              <a:lnSpc>
                <a:spcPct val="100000"/>
              </a:lnSpc>
              <a:spcAft>
                <a:spcPts val="400"/>
              </a:spcAft>
              <a:buChar char="•"/>
            </a:pPr>
            <a:r>
              <a:rPr sz="1150" b="0" i="0">
                <a:solidFill>
                  <a:srgbClr val="3A312A"/>
                </a:solidFill>
                <a:latin typeface="Calibri"/>
              </a:rPr>
              <a:t>Work per scan grows with sites x fields (25 checks today)</a:t>
            </a:r>
          </a:p>
          <a:p>
            <a:pPr algn="l" marL="155448" indent="-155448">
              <a:lnSpc>
                <a:spcPct val="100000"/>
              </a:lnSpc>
              <a:buChar char="•"/>
            </a:pPr>
            <a:r>
              <a:rPr sz="1150" b="0" i="0">
                <a:solidFill>
                  <a:srgbClr val="3A312A"/>
                </a:solidFill>
                <a:latin typeface="Calibri"/>
              </a:rPr>
              <a:t>Every business is isolated by a session-scoped ID; one Docker service on a free host</a:t>
            </a:r>
          </a:p>
        </p:txBody>
      </p:sp>
      <p:sp>
        <p:nvSpPr>
          <p:cNvPr id="30" name="Rounded Rectangle 29"/>
          <p:cNvSpPr/>
          <p:nvPr/>
        </p:nvSpPr>
        <p:spPr>
          <a:xfrm>
            <a:off x="8074152" y="4251960"/>
            <a:ext cx="3566160" cy="2057400"/>
          </a:xfrm>
          <a:prstGeom prst="roundRect">
            <a:avLst>
              <a:gd name="adj" fmla="val 3555"/>
            </a:avLst>
          </a:prstGeom>
          <a:solidFill>
            <a:srgbClr val="EBE2CF"/>
          </a:solidFill>
          <a:ln>
            <a:noFill/>
          </a:ln>
          <a:effectLst/>
        </p:spPr>
        <p:txBody>
          <a:bodyPr rtlCol="0" anchor="ctr"/>
          <a:lstStyle/>
          <a:p>
            <a:pPr algn="ctr"/>
          </a:p>
        </p:txBody>
      </p:sp>
      <p:sp>
        <p:nvSpPr>
          <p:cNvPr id="31" name="TextBox 30"/>
          <p:cNvSpPr txBox="1"/>
          <p:nvPr/>
        </p:nvSpPr>
        <p:spPr>
          <a:xfrm>
            <a:off x="8257031" y="4343400"/>
            <a:ext cx="3200400" cy="274320"/>
          </a:xfrm>
          <a:prstGeom prst="rect">
            <a:avLst/>
          </a:prstGeom>
          <a:noFill/>
        </p:spPr>
        <p:txBody>
          <a:bodyPr wrap="square" lIns="0" rIns="0" tIns="0" bIns="0" anchor="t">
            <a:spAutoFit/>
          </a:bodyPr>
          <a:lstStyle/>
          <a:p>
            <a:pPr algn="l">
              <a:lnSpc>
                <a:spcPct val="100000"/>
              </a:lnSpc>
            </a:pPr>
            <a:r>
              <a:rPr sz="1450" b="1" i="0">
                <a:solidFill>
                  <a:srgbClr val="3F5A2E"/>
                </a:solidFill>
                <a:latin typeface="Calibri"/>
              </a:rPr>
              <a:t>Future potential</a:t>
            </a:r>
          </a:p>
        </p:txBody>
      </p:sp>
      <p:sp>
        <p:nvSpPr>
          <p:cNvPr id="32" name="TextBox 31"/>
          <p:cNvSpPr txBox="1"/>
          <p:nvPr/>
        </p:nvSpPr>
        <p:spPr>
          <a:xfrm>
            <a:off x="8257031" y="4690872"/>
            <a:ext cx="3246120" cy="1600200"/>
          </a:xfrm>
          <a:prstGeom prst="rect">
            <a:avLst/>
          </a:prstGeom>
          <a:noFill/>
        </p:spPr>
        <p:txBody>
          <a:bodyPr wrap="square" lIns="0" rIns="0" tIns="0" bIns="0" anchor="t">
            <a:spAutoFit/>
          </a:bodyPr>
          <a:lstStyle/>
          <a:p>
            <a:pPr algn="l" marL="155448" indent="-155448">
              <a:lnSpc>
                <a:spcPct val="100000"/>
              </a:lnSpc>
              <a:spcAft>
                <a:spcPts val="400"/>
              </a:spcAft>
              <a:buChar char="•"/>
            </a:pPr>
            <a:r>
              <a:rPr sz="1150" b="0" i="0">
                <a:solidFill>
                  <a:srgbClr val="3A312A"/>
                </a:solidFill>
                <a:latin typeface="Calibri"/>
              </a:rPr>
              <a:t>Real platform APIs and consent flows; OTP and phone checks stay with a human</a:t>
            </a:r>
          </a:p>
          <a:p>
            <a:pPr algn="l" marL="155448" indent="-155448">
              <a:lnSpc>
                <a:spcPct val="100000"/>
              </a:lnSpc>
              <a:spcAft>
                <a:spcPts val="400"/>
              </a:spcAft>
              <a:buChar char="•"/>
            </a:pPr>
            <a:r>
              <a:rPr sz="1150" b="0" i="0">
                <a:solidFill>
                  <a:srgbClr val="3A312A"/>
                </a:solidFill>
                <a:latin typeface="Calibri"/>
              </a:rPr>
              <a:t>Scheduled scans and alerts when drift returns</a:t>
            </a:r>
          </a:p>
          <a:p>
            <a:pPr algn="l" marL="155448" indent="-155448">
              <a:lnSpc>
                <a:spcPct val="100000"/>
              </a:lnSpc>
              <a:buChar char="•"/>
            </a:pPr>
            <a:r>
              <a:rPr sz="1150" b="0" i="0">
                <a:solidFill>
                  <a:srgbClr val="3A312A"/>
                </a:solidFill>
                <a:latin typeface="Calibri"/>
              </a:rPr>
              <a:t>More fields (categories, photos, menus) and a multi-location 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EEE3"/>
        </a:solidFill>
        <a:effectLst/>
      </p:bgPr>
    </p:bg>
    <p:spTree>
      <p:nvGrpSpPr>
        <p:cNvPr id="1" name=""/>
        <p:cNvGrpSpPr/>
        <p:nvPr/>
      </p:nvGrpSpPr>
      <p:grpSpPr/>
      <p:sp>
        <p:nvSpPr>
          <p:cNvPr id="2" name="TextBox 1"/>
          <p:cNvSpPr txBox="1"/>
          <p:nvPr/>
        </p:nvSpPr>
        <p:spPr>
          <a:xfrm>
            <a:off x="548640" y="365760"/>
            <a:ext cx="8229600" cy="274320"/>
          </a:xfrm>
          <a:prstGeom prst="rect">
            <a:avLst/>
          </a:prstGeom>
          <a:noFill/>
        </p:spPr>
        <p:txBody>
          <a:bodyPr wrap="square" lIns="0" rIns="0" tIns="0" bIns="0" anchor="t">
            <a:spAutoFit/>
          </a:bodyPr>
          <a:lstStyle/>
          <a:p>
            <a:pPr algn="l">
              <a:lnSpc>
                <a:spcPct val="100000"/>
              </a:lnSpc>
            </a:pPr>
            <a:r>
              <a:rPr sz="1200" b="1" i="0" spc="140">
                <a:solidFill>
                  <a:srgbClr val="B8561F"/>
                </a:solidFill>
                <a:latin typeface="Calibri"/>
              </a:rPr>
              <a:t>7  ·  THE IMPACT</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pPr>
            <a:r>
              <a:rPr sz="2800" b="1" i="0">
                <a:solidFill>
                  <a:srgbClr val="3A312A"/>
                </a:solidFill>
                <a:latin typeface="Cambria"/>
              </a:rPr>
              <a:t>What is real today, and what comes next</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0000"/>
              </a:lnSpc>
            </a:pPr>
            <a:r>
              <a:rPr sz="1000" b="0" i="0">
                <a:solidFill>
                  <a:srgbClr val="6A5E51"/>
                </a:solidFill>
                <a:latin typeface="Calibri"/>
              </a:rPr>
              <a:t>Business Listing Consistency Agent  ·  Agentic AI Hackathon 2026</a:t>
            </a:r>
          </a:p>
        </p:txBody>
      </p:sp>
      <p:sp>
        <p:nvSpPr>
          <p:cNvPr id="5" name="TextBox 4"/>
          <p:cNvSpPr txBox="1"/>
          <p:nvPr/>
        </p:nvSpPr>
        <p:spPr>
          <a:xfrm>
            <a:off x="10728655" y="6473952"/>
            <a:ext cx="914400" cy="228600"/>
          </a:xfrm>
          <a:prstGeom prst="rect">
            <a:avLst/>
          </a:prstGeom>
          <a:noFill/>
        </p:spPr>
        <p:txBody>
          <a:bodyPr wrap="square" lIns="0" rIns="0" tIns="0" bIns="0" anchor="t">
            <a:spAutoFit/>
          </a:bodyPr>
          <a:lstStyle/>
          <a:p>
            <a:pPr algn="r">
              <a:lnSpc>
                <a:spcPct val="100000"/>
              </a:lnSpc>
            </a:pPr>
            <a:r>
              <a:rPr sz="1000" b="0" i="0">
                <a:solidFill>
                  <a:srgbClr val="6A5E51"/>
                </a:solidFill>
                <a:latin typeface="Calibri"/>
              </a:rPr>
              <a:t>17</a:t>
            </a:r>
          </a:p>
        </p:txBody>
      </p:sp>
      <p:sp>
        <p:nvSpPr>
          <p:cNvPr id="6" name="Rounded Rectangle 5"/>
          <p:cNvSpPr/>
          <p:nvPr/>
        </p:nvSpPr>
        <p:spPr>
          <a:xfrm>
            <a:off x="548640" y="1600200"/>
            <a:ext cx="5440680" cy="2697480"/>
          </a:xfrm>
          <a:prstGeom prst="roundRect">
            <a:avLst>
              <a:gd name="adj" fmla="val 2033"/>
            </a:avLst>
          </a:prstGeom>
          <a:solidFill>
            <a:srgbClr val="DFEBD2"/>
          </a:solidFill>
          <a:ln>
            <a:noFill/>
          </a:ln>
          <a:effectLst/>
        </p:spPr>
        <p:txBody>
          <a:bodyPr rtlCol="0" anchor="ctr"/>
          <a:lstStyle/>
          <a:p>
            <a:pPr algn="ctr"/>
          </a:p>
        </p:txBody>
      </p:sp>
      <p:sp>
        <p:nvSpPr>
          <p:cNvPr id="7" name="TextBox 6"/>
          <p:cNvSpPr txBox="1"/>
          <p:nvPr/>
        </p:nvSpPr>
        <p:spPr>
          <a:xfrm>
            <a:off x="713232" y="1764792"/>
            <a:ext cx="5111496" cy="246888"/>
          </a:xfrm>
          <a:prstGeom prst="rect">
            <a:avLst/>
          </a:prstGeom>
          <a:noFill/>
        </p:spPr>
        <p:txBody>
          <a:bodyPr wrap="square" lIns="0" rIns="0" tIns="0" bIns="0" anchor="t">
            <a:spAutoFit/>
          </a:bodyPr>
          <a:lstStyle/>
          <a:p>
            <a:pPr algn="l">
              <a:lnSpc>
                <a:spcPct val="100000"/>
              </a:lnSpc>
            </a:pPr>
            <a:r>
              <a:rPr sz="1500" b="1" i="0">
                <a:solidFill>
                  <a:srgbClr val="3F5A2E"/>
                </a:solidFill>
                <a:latin typeface="Calibri"/>
              </a:rPr>
              <a:t>Real and tested today</a:t>
            </a:r>
          </a:p>
        </p:txBody>
      </p:sp>
      <p:sp>
        <p:nvSpPr>
          <p:cNvPr id="8" name="TextBox 7"/>
          <p:cNvSpPr txBox="1"/>
          <p:nvPr/>
        </p:nvSpPr>
        <p:spPr>
          <a:xfrm>
            <a:off x="713232" y="2057400"/>
            <a:ext cx="5111496" cy="2141524"/>
          </a:xfrm>
          <a:prstGeom prst="rect">
            <a:avLst/>
          </a:prstGeom>
          <a:noFill/>
        </p:spPr>
        <p:txBody>
          <a:bodyPr wrap="square" lIns="0" rIns="0" tIns="0" bIns="0" anchor="t">
            <a:spAutoFit/>
          </a:bodyPr>
          <a:lstStyle/>
          <a:p>
            <a:pPr algn="l" marL="155448" indent="-155448">
              <a:lnSpc>
                <a:spcPct val="100000"/>
              </a:lnSpc>
              <a:spcAft>
                <a:spcPts val="600"/>
              </a:spcAft>
              <a:buChar char="•"/>
            </a:pPr>
            <a:r>
              <a:rPr sz="1300" b="0" i="0">
                <a:solidFill>
                  <a:srgbClr val="3A312A"/>
                </a:solidFill>
                <a:latin typeface="Calibri"/>
              </a:rPr>
              <a:t>Scan, approve, apply, verify across five mock platforms</a:t>
            </a:r>
          </a:p>
          <a:p>
            <a:pPr algn="l" marL="155448" indent="-155448">
              <a:lnSpc>
                <a:spcPct val="100000"/>
              </a:lnSpc>
              <a:spcAft>
                <a:spcPts val="600"/>
              </a:spcAft>
              <a:buChar char="•"/>
            </a:pPr>
            <a:r>
              <a:rPr sz="1300" b="0" i="0">
                <a:solidFill>
                  <a:srgbClr val="3A312A"/>
                </a:solidFill>
                <a:latin typeface="Calibri"/>
              </a:rPr>
              <a:t>Ownership flags, moderation handling, retries and re-planning (TC1-TC8)</a:t>
            </a:r>
          </a:p>
          <a:p>
            <a:pPr algn="l" marL="155448" indent="-155448">
              <a:lnSpc>
                <a:spcPct val="100000"/>
              </a:lnSpc>
              <a:spcAft>
                <a:spcPts val="600"/>
              </a:spcAft>
              <a:buChar char="•"/>
            </a:pPr>
            <a:r>
              <a:rPr sz="1300" b="0" i="0">
                <a:solidFill>
                  <a:srgbClr val="3A312A"/>
                </a:solidFill>
                <a:latin typeface="Calibri"/>
              </a:rPr>
              <a:t>PIN-only login, per-business isolation, score-matched onboarding</a:t>
            </a:r>
          </a:p>
          <a:p>
            <a:pPr algn="l" marL="155448" indent="-155448">
              <a:lnSpc>
                <a:spcPct val="100000"/>
              </a:lnSpc>
              <a:spcAft>
                <a:spcPts val="600"/>
              </a:spcAft>
              <a:buChar char="•"/>
            </a:pPr>
            <a:r>
              <a:rPr sz="1300" b="0" i="0">
                <a:solidFill>
                  <a:srgbClr val="3A312A"/>
                </a:solidFill>
                <a:latin typeface="Calibri"/>
              </a:rPr>
              <a:t>Plain-language edits and questions, holiday foresight</a:t>
            </a:r>
          </a:p>
          <a:p>
            <a:pPr algn="l" marL="155448" indent="-155448">
              <a:lnSpc>
                <a:spcPct val="100000"/>
              </a:lnSpc>
              <a:spcAft>
                <a:spcPts val="600"/>
              </a:spcAft>
              <a:buChar char="•"/>
            </a:pPr>
            <a:r>
              <a:rPr sz="1300" b="0" i="0">
                <a:solidFill>
                  <a:srgbClr val="3A312A"/>
                </a:solidFill>
                <a:latin typeface="Calibri"/>
              </a:rPr>
              <a:t>Trace, change log and CSV evidence; 295 tests</a:t>
            </a:r>
          </a:p>
          <a:p>
            <a:pPr algn="l" marL="155448" indent="-155448">
              <a:lnSpc>
                <a:spcPct val="100000"/>
              </a:lnSpc>
              <a:buChar char="•"/>
            </a:pPr>
            <a:r>
              <a:rPr sz="1300" b="0" i="0">
                <a:solidFill>
                  <a:srgbClr val="3A312A"/>
                </a:solidFill>
                <a:latin typeface="Calibri"/>
              </a:rPr>
              <a:t>Deployed demo on a free host (first load can take 30-60 s)</a:t>
            </a:r>
          </a:p>
        </p:txBody>
      </p:sp>
      <p:sp>
        <p:nvSpPr>
          <p:cNvPr id="9" name="Rounded Rectangle 8"/>
          <p:cNvSpPr/>
          <p:nvPr/>
        </p:nvSpPr>
        <p:spPr>
          <a:xfrm>
            <a:off x="6199632" y="1600200"/>
            <a:ext cx="5443423" cy="2697480"/>
          </a:xfrm>
          <a:prstGeom prst="roundRect">
            <a:avLst>
              <a:gd name="adj" fmla="val 2033"/>
            </a:avLst>
          </a:prstGeom>
          <a:solidFill>
            <a:srgbClr val="F4DCC8"/>
          </a:solidFill>
          <a:ln>
            <a:noFill/>
          </a:ln>
          <a:effectLst/>
        </p:spPr>
        <p:txBody>
          <a:bodyPr rtlCol="0" anchor="ctr"/>
          <a:lstStyle/>
          <a:p>
            <a:pPr algn="ctr"/>
          </a:p>
        </p:txBody>
      </p:sp>
      <p:sp>
        <p:nvSpPr>
          <p:cNvPr id="10" name="TextBox 9"/>
          <p:cNvSpPr txBox="1"/>
          <p:nvPr/>
        </p:nvSpPr>
        <p:spPr>
          <a:xfrm>
            <a:off x="6364224" y="1764792"/>
            <a:ext cx="5114239" cy="246888"/>
          </a:xfrm>
          <a:prstGeom prst="rect">
            <a:avLst/>
          </a:prstGeom>
          <a:noFill/>
        </p:spPr>
        <p:txBody>
          <a:bodyPr wrap="square" lIns="0" rIns="0" tIns="0" bIns="0" anchor="t">
            <a:spAutoFit/>
          </a:bodyPr>
          <a:lstStyle/>
          <a:p>
            <a:pPr algn="l">
              <a:lnSpc>
                <a:spcPct val="100000"/>
              </a:lnSpc>
            </a:pPr>
            <a:r>
              <a:rPr sz="1500" b="1" i="0">
                <a:solidFill>
                  <a:srgbClr val="B8561F"/>
                </a:solidFill>
                <a:latin typeface="Calibri"/>
              </a:rPr>
              <a:t>Mocked or not built yet</a:t>
            </a:r>
          </a:p>
        </p:txBody>
      </p:sp>
      <p:sp>
        <p:nvSpPr>
          <p:cNvPr id="11" name="TextBox 10"/>
          <p:cNvSpPr txBox="1"/>
          <p:nvPr/>
        </p:nvSpPr>
        <p:spPr>
          <a:xfrm>
            <a:off x="6364224" y="2057400"/>
            <a:ext cx="5114239" cy="2141524"/>
          </a:xfrm>
          <a:prstGeom prst="rect">
            <a:avLst/>
          </a:prstGeom>
          <a:noFill/>
        </p:spPr>
        <p:txBody>
          <a:bodyPr wrap="square" lIns="0" rIns="0" tIns="0" bIns="0" anchor="t">
            <a:spAutoFit/>
          </a:bodyPr>
          <a:lstStyle/>
          <a:p>
            <a:pPr algn="l" marL="155448" indent="-155448">
              <a:lnSpc>
                <a:spcPct val="100000"/>
              </a:lnSpc>
              <a:spcAft>
                <a:spcPts val="600"/>
              </a:spcAft>
              <a:buChar char="•"/>
            </a:pPr>
            <a:r>
              <a:rPr sz="1300" b="0" i="0">
                <a:solidFill>
                  <a:srgbClr val="3A312A"/>
                </a:solidFill>
                <a:latin typeface="Calibri"/>
              </a:rPr>
              <a:t>The platforms are mock sites; real ones need their own APIs and consent flows</a:t>
            </a:r>
          </a:p>
          <a:p>
            <a:pPr algn="l" marL="155448" indent="-155448">
              <a:lnSpc>
                <a:spcPct val="100000"/>
              </a:lnSpc>
              <a:spcAft>
                <a:spcPts val="600"/>
              </a:spcAft>
              <a:buChar char="•"/>
            </a:pPr>
            <a:r>
              <a:rPr sz="1300" b="0" i="0">
                <a:solidFill>
                  <a:srgbClr val="3A312A"/>
                </a:solidFill>
                <a:latin typeface="Calibri"/>
              </a:rPr>
              <a:t>Claiming a listing is mocked (no OTP). On real sites that step stays human: the agent never automates OTP or CAPTCHA</a:t>
            </a:r>
          </a:p>
          <a:p>
            <a:pPr algn="l" marL="155448" indent="-155448">
              <a:lnSpc>
                <a:spcPct val="100000"/>
              </a:lnSpc>
              <a:spcAft>
                <a:spcPts val="600"/>
              </a:spcAft>
              <a:buChar char="•"/>
            </a:pPr>
            <a:r>
              <a:rPr sz="1300" b="0" i="0">
                <a:solidFill>
                  <a:srgbClr val="3A312A"/>
                </a:solidFill>
                <a:latin typeface="Calibri"/>
              </a:rPr>
              <a:t>Festival dates must be confirmed by the owner (approximate calendar)</a:t>
            </a:r>
          </a:p>
          <a:p>
            <a:pPr algn="l" marL="155448" indent="-155448">
              <a:lnSpc>
                <a:spcPct val="100000"/>
              </a:lnSpc>
              <a:spcAft>
                <a:spcPts val="600"/>
              </a:spcAft>
              <a:buChar char="•"/>
            </a:pPr>
            <a:r>
              <a:rPr sz="1300" b="0" i="0">
                <a:solidFill>
                  <a:srgbClr val="3A312A"/>
                </a:solidFill>
                <a:latin typeface="Calibri"/>
              </a:rPr>
              <a:t>No live Gemini run in the evidence (no key in the build environment)</a:t>
            </a:r>
          </a:p>
          <a:p>
            <a:pPr algn="l" marL="155448" indent="-155448">
              <a:lnSpc>
                <a:spcPct val="100000"/>
              </a:lnSpc>
              <a:buChar char="•"/>
            </a:pPr>
            <a:r>
              <a:rPr sz="1300" b="0" i="0">
                <a:solidFill>
                  <a:srgbClr val="3A312A"/>
                </a:solidFill>
                <a:latin typeface="Calibri"/>
              </a:rPr>
              <a:t>A lost PIN cannot be recovered; no phone verification yet</a:t>
            </a:r>
          </a:p>
        </p:txBody>
      </p:sp>
      <p:sp>
        <p:nvSpPr>
          <p:cNvPr id="12" name="TextBox 11"/>
          <p:cNvSpPr txBox="1"/>
          <p:nvPr/>
        </p:nvSpPr>
        <p:spPr>
          <a:xfrm>
            <a:off x="548640" y="4526280"/>
            <a:ext cx="11094415" cy="256032"/>
          </a:xfrm>
          <a:prstGeom prst="rect">
            <a:avLst/>
          </a:prstGeom>
          <a:noFill/>
        </p:spPr>
        <p:txBody>
          <a:bodyPr wrap="square" lIns="0" rIns="0" tIns="0" bIns="0" anchor="t">
            <a:spAutoFit/>
          </a:bodyPr>
          <a:lstStyle/>
          <a:p>
            <a:pPr algn="l">
              <a:lnSpc>
                <a:spcPct val="100000"/>
              </a:lnSpc>
            </a:pPr>
            <a:r>
              <a:rPr sz="1100" b="1" i="0" spc="120">
                <a:solidFill>
                  <a:srgbClr val="B8561F"/>
                </a:solidFill>
                <a:latin typeface="Calibri"/>
              </a:rPr>
              <a:t>NEXT STEPS</a:t>
            </a:r>
          </a:p>
        </p:txBody>
      </p:sp>
      <p:sp>
        <p:nvSpPr>
          <p:cNvPr id="13" name="Rounded Rectangle 12"/>
          <p:cNvSpPr/>
          <p:nvPr/>
        </p:nvSpPr>
        <p:spPr>
          <a:xfrm>
            <a:off x="548640" y="4846320"/>
            <a:ext cx="2651760" cy="1417320"/>
          </a:xfrm>
          <a:prstGeom prst="roundRect">
            <a:avLst>
              <a:gd name="adj" fmla="val 3870"/>
            </a:avLst>
          </a:prstGeom>
          <a:solidFill>
            <a:srgbClr val="FBF8F1"/>
          </a:solidFill>
          <a:ln w="9525">
            <a:solidFill>
              <a:srgbClr val="E2D8C6"/>
            </a:solidFill>
          </a:ln>
          <a:effectLst/>
        </p:spPr>
        <p:txBody>
          <a:bodyPr rtlCol="0" anchor="ctr"/>
          <a:lstStyle/>
          <a:p>
            <a:pPr algn="ctr"/>
          </a:p>
        </p:txBody>
      </p:sp>
      <p:sp>
        <p:nvSpPr>
          <p:cNvPr id="14" name="TextBox 13"/>
          <p:cNvSpPr txBox="1"/>
          <p:nvPr/>
        </p:nvSpPr>
        <p:spPr>
          <a:xfrm>
            <a:off x="685800" y="4919472"/>
            <a:ext cx="457200" cy="64008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1</a:t>
            </a:r>
          </a:p>
        </p:txBody>
      </p:sp>
      <p:sp>
        <p:nvSpPr>
          <p:cNvPr id="15" name="TextBox 14"/>
          <p:cNvSpPr txBox="1"/>
          <p:nvPr/>
        </p:nvSpPr>
        <p:spPr>
          <a:xfrm>
            <a:off x="1188719" y="5029200"/>
            <a:ext cx="1920240" cy="1188720"/>
          </a:xfrm>
          <a:prstGeom prst="rect">
            <a:avLst/>
          </a:prstGeom>
          <a:noFill/>
        </p:spPr>
        <p:txBody>
          <a:bodyPr wrap="square" lIns="0" rIns="0" tIns="0" bIns="0" anchor="t">
            <a:spAutoFit/>
          </a:bodyPr>
          <a:lstStyle/>
          <a:p>
            <a:pPr algn="l">
              <a:lnSpc>
                <a:spcPct val="100000"/>
              </a:lnSpc>
            </a:pPr>
            <a:r>
              <a:rPr sz="1400" b="1" i="0">
                <a:solidFill>
                  <a:srgbClr val="3A312A"/>
                </a:solidFill>
                <a:latin typeface="Calibri"/>
              </a:rPr>
              <a:t>A real platform adapter with its consent flow</a:t>
            </a:r>
          </a:p>
        </p:txBody>
      </p:sp>
      <p:sp>
        <p:nvSpPr>
          <p:cNvPr id="16" name="Rounded Rectangle 15"/>
          <p:cNvSpPr/>
          <p:nvPr/>
        </p:nvSpPr>
        <p:spPr>
          <a:xfrm>
            <a:off x="3362248" y="4846320"/>
            <a:ext cx="2651760" cy="1417320"/>
          </a:xfrm>
          <a:prstGeom prst="roundRect">
            <a:avLst>
              <a:gd name="adj" fmla="val 3870"/>
            </a:avLst>
          </a:prstGeom>
          <a:solidFill>
            <a:srgbClr val="FBF8F1"/>
          </a:solidFill>
          <a:ln w="9525">
            <a:solidFill>
              <a:srgbClr val="E2D8C6"/>
            </a:solidFill>
          </a:ln>
          <a:effectLst/>
        </p:spPr>
        <p:txBody>
          <a:bodyPr rtlCol="0" anchor="ctr"/>
          <a:lstStyle/>
          <a:p>
            <a:pPr algn="ctr"/>
          </a:p>
        </p:txBody>
      </p:sp>
      <p:sp>
        <p:nvSpPr>
          <p:cNvPr id="17" name="TextBox 16"/>
          <p:cNvSpPr txBox="1"/>
          <p:nvPr/>
        </p:nvSpPr>
        <p:spPr>
          <a:xfrm>
            <a:off x="3499408" y="4919472"/>
            <a:ext cx="457200" cy="64008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2</a:t>
            </a:r>
          </a:p>
        </p:txBody>
      </p:sp>
      <p:sp>
        <p:nvSpPr>
          <p:cNvPr id="18" name="TextBox 17"/>
          <p:cNvSpPr txBox="1"/>
          <p:nvPr/>
        </p:nvSpPr>
        <p:spPr>
          <a:xfrm>
            <a:off x="4002328" y="5029200"/>
            <a:ext cx="1920240" cy="1188720"/>
          </a:xfrm>
          <a:prstGeom prst="rect">
            <a:avLst/>
          </a:prstGeom>
          <a:noFill/>
        </p:spPr>
        <p:txBody>
          <a:bodyPr wrap="square" lIns="0" rIns="0" tIns="0" bIns="0" anchor="t">
            <a:spAutoFit/>
          </a:bodyPr>
          <a:lstStyle/>
          <a:p>
            <a:pPr algn="l">
              <a:lnSpc>
                <a:spcPct val="100000"/>
              </a:lnSpc>
            </a:pPr>
            <a:r>
              <a:rPr sz="1400" b="1" i="0">
                <a:solidFill>
                  <a:srgbClr val="3A312A"/>
                </a:solidFill>
                <a:latin typeface="Calibri"/>
              </a:rPr>
              <a:t>Scheduled scans and drift alerts</a:t>
            </a:r>
          </a:p>
        </p:txBody>
      </p:sp>
      <p:sp>
        <p:nvSpPr>
          <p:cNvPr id="19" name="Rounded Rectangle 18"/>
          <p:cNvSpPr/>
          <p:nvPr/>
        </p:nvSpPr>
        <p:spPr>
          <a:xfrm>
            <a:off x="6175857" y="4846320"/>
            <a:ext cx="2651760" cy="1417320"/>
          </a:xfrm>
          <a:prstGeom prst="roundRect">
            <a:avLst>
              <a:gd name="adj" fmla="val 3870"/>
            </a:avLst>
          </a:prstGeom>
          <a:solidFill>
            <a:srgbClr val="FBF8F1"/>
          </a:solidFill>
          <a:ln w="9525">
            <a:solidFill>
              <a:srgbClr val="E2D8C6"/>
            </a:solidFill>
          </a:ln>
          <a:effectLst/>
        </p:spPr>
        <p:txBody>
          <a:bodyPr rtlCol="0" anchor="ctr"/>
          <a:lstStyle/>
          <a:p>
            <a:pPr algn="ctr"/>
          </a:p>
        </p:txBody>
      </p:sp>
      <p:sp>
        <p:nvSpPr>
          <p:cNvPr id="20" name="TextBox 19"/>
          <p:cNvSpPr txBox="1"/>
          <p:nvPr/>
        </p:nvSpPr>
        <p:spPr>
          <a:xfrm>
            <a:off x="6313017" y="4919472"/>
            <a:ext cx="457200" cy="64008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3</a:t>
            </a:r>
          </a:p>
        </p:txBody>
      </p:sp>
      <p:sp>
        <p:nvSpPr>
          <p:cNvPr id="21" name="TextBox 20"/>
          <p:cNvSpPr txBox="1"/>
          <p:nvPr/>
        </p:nvSpPr>
        <p:spPr>
          <a:xfrm>
            <a:off x="6815937" y="5029200"/>
            <a:ext cx="1920240" cy="1188720"/>
          </a:xfrm>
          <a:prstGeom prst="rect">
            <a:avLst/>
          </a:prstGeom>
          <a:noFill/>
        </p:spPr>
        <p:txBody>
          <a:bodyPr wrap="square" lIns="0" rIns="0" tIns="0" bIns="0" anchor="t">
            <a:spAutoFit/>
          </a:bodyPr>
          <a:lstStyle/>
          <a:p>
            <a:pPr algn="l">
              <a:lnSpc>
                <a:spcPct val="100000"/>
              </a:lnSpc>
            </a:pPr>
            <a:r>
              <a:rPr sz="1400" b="1" i="0">
                <a:solidFill>
                  <a:srgbClr val="3A312A"/>
                </a:solidFill>
                <a:latin typeface="Calibri"/>
              </a:rPr>
              <a:t>PIN recovery and phone verification as a human step</a:t>
            </a:r>
          </a:p>
        </p:txBody>
      </p:sp>
      <p:sp>
        <p:nvSpPr>
          <p:cNvPr id="22" name="Rounded Rectangle 21"/>
          <p:cNvSpPr/>
          <p:nvPr/>
        </p:nvSpPr>
        <p:spPr>
          <a:xfrm>
            <a:off x="8989466" y="4846320"/>
            <a:ext cx="2651760" cy="1417320"/>
          </a:xfrm>
          <a:prstGeom prst="roundRect">
            <a:avLst>
              <a:gd name="adj" fmla="val 3870"/>
            </a:avLst>
          </a:prstGeom>
          <a:solidFill>
            <a:srgbClr val="FBF8F1"/>
          </a:solidFill>
          <a:ln w="9525">
            <a:solidFill>
              <a:srgbClr val="E2D8C6"/>
            </a:solidFill>
          </a:ln>
          <a:effectLst/>
        </p:spPr>
        <p:txBody>
          <a:bodyPr rtlCol="0" anchor="ctr"/>
          <a:lstStyle/>
          <a:p>
            <a:pPr algn="ctr"/>
          </a:p>
        </p:txBody>
      </p:sp>
      <p:sp>
        <p:nvSpPr>
          <p:cNvPr id="23" name="TextBox 22"/>
          <p:cNvSpPr txBox="1"/>
          <p:nvPr/>
        </p:nvSpPr>
        <p:spPr>
          <a:xfrm>
            <a:off x="9126626" y="4919472"/>
            <a:ext cx="457200" cy="640080"/>
          </a:xfrm>
          <a:prstGeom prst="rect">
            <a:avLst/>
          </a:prstGeom>
          <a:noFill/>
        </p:spPr>
        <p:txBody>
          <a:bodyPr wrap="square" lIns="0" rIns="0" tIns="0" bIns="0" anchor="t">
            <a:spAutoFit/>
          </a:bodyPr>
          <a:lstStyle/>
          <a:p>
            <a:pPr algn="l">
              <a:lnSpc>
                <a:spcPct val="100000"/>
              </a:lnSpc>
            </a:pPr>
            <a:r>
              <a:rPr sz="3400" b="1" i="0">
                <a:solidFill>
                  <a:srgbClr val="B8561F"/>
                </a:solidFill>
                <a:latin typeface="Cambria"/>
              </a:rPr>
              <a:t>4</a:t>
            </a:r>
          </a:p>
        </p:txBody>
      </p:sp>
      <p:sp>
        <p:nvSpPr>
          <p:cNvPr id="24" name="TextBox 23"/>
          <p:cNvSpPr txBox="1"/>
          <p:nvPr/>
        </p:nvSpPr>
        <p:spPr>
          <a:xfrm>
            <a:off x="9629546" y="5029200"/>
            <a:ext cx="1920240" cy="1188720"/>
          </a:xfrm>
          <a:prstGeom prst="rect">
            <a:avLst/>
          </a:prstGeom>
          <a:noFill/>
        </p:spPr>
        <p:txBody>
          <a:bodyPr wrap="square" lIns="0" rIns="0" tIns="0" bIns="0" anchor="t">
            <a:spAutoFit/>
          </a:bodyPr>
          <a:lstStyle/>
          <a:p>
            <a:pPr algn="l">
              <a:lnSpc>
                <a:spcPct val="100000"/>
              </a:lnSpc>
            </a:pPr>
            <a:r>
              <a:rPr sz="1400" b="1" i="0">
                <a:solidFill>
                  <a:srgbClr val="3A312A"/>
                </a:solidFill>
                <a:latin typeface="Calibri"/>
              </a:rPr>
              <a:t>More fields and a multi-location 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F2721"/>
        </a:solidFill>
        <a:effectLst/>
      </p:bgPr>
    </p:bg>
    <p:spTree>
      <p:nvGrpSpPr>
        <p:cNvPr id="1" name=""/>
        <p:cNvGrpSpPr/>
        <p:nvPr/>
      </p:nvGrpSpPr>
      <p:grpSpPr/>
      <p:sp>
        <p:nvSpPr>
          <p:cNvPr id="2" name="TextBox 1"/>
          <p:cNvSpPr txBox="1"/>
          <p:nvPr/>
        </p:nvSpPr>
        <p:spPr>
          <a:xfrm>
            <a:off x="822960" y="1188720"/>
            <a:ext cx="10515600" cy="274320"/>
          </a:xfrm>
          <a:prstGeom prst="rect">
            <a:avLst/>
          </a:prstGeom>
          <a:noFill/>
        </p:spPr>
        <p:txBody>
          <a:bodyPr wrap="square" lIns="0" rIns="0" tIns="0" bIns="0" anchor="t">
            <a:spAutoFit/>
          </a:bodyPr>
          <a:lstStyle/>
          <a:p>
            <a:pPr algn="l">
              <a:lnSpc>
                <a:spcPct val="100000"/>
              </a:lnSpc>
            </a:pPr>
            <a:r>
              <a:rPr sz="1200" b="1" i="0" spc="140">
                <a:solidFill>
                  <a:srgbClr val="E0B98F"/>
                </a:solidFill>
                <a:latin typeface="Calibri"/>
              </a:rPr>
              <a:t>IN ONE SENTENCE</a:t>
            </a:r>
          </a:p>
        </p:txBody>
      </p:sp>
      <p:sp>
        <p:nvSpPr>
          <p:cNvPr id="3" name="TextBox 2"/>
          <p:cNvSpPr txBox="1"/>
          <p:nvPr/>
        </p:nvSpPr>
        <p:spPr>
          <a:xfrm>
            <a:off x="822960" y="1600200"/>
            <a:ext cx="10332720" cy="1737360"/>
          </a:xfrm>
          <a:prstGeom prst="rect">
            <a:avLst/>
          </a:prstGeom>
          <a:noFill/>
        </p:spPr>
        <p:txBody>
          <a:bodyPr wrap="square" lIns="0" rIns="0" tIns="0" bIns="0" anchor="t">
            <a:spAutoFit/>
          </a:bodyPr>
          <a:lstStyle/>
          <a:p>
            <a:pPr algn="l">
              <a:lnSpc>
                <a:spcPct val="98000"/>
              </a:lnSpc>
            </a:pPr>
            <a:r>
              <a:rPr sz="4400" b="1" i="0">
                <a:solidFill>
                  <a:srgbClr val="FBF8F1"/>
                </a:solidFill>
                <a:latin typeface="Cambria"/>
              </a:rPr>
              <a:t>An agent you can trust near your public listings.</a:t>
            </a:r>
          </a:p>
        </p:txBody>
      </p:sp>
      <p:sp>
        <p:nvSpPr>
          <p:cNvPr id="4" name="Rounded Rectangle 3"/>
          <p:cNvSpPr/>
          <p:nvPr/>
        </p:nvSpPr>
        <p:spPr>
          <a:xfrm>
            <a:off x="822960" y="3657600"/>
            <a:ext cx="3383280" cy="1188720"/>
          </a:xfrm>
          <a:prstGeom prst="roundRect">
            <a:avLst>
              <a:gd name="adj" fmla="val 6153"/>
            </a:avLst>
          </a:prstGeom>
          <a:solidFill>
            <a:srgbClr val="3A3029"/>
          </a:solidFill>
          <a:ln>
            <a:noFill/>
          </a:ln>
          <a:effectLst/>
        </p:spPr>
        <p:txBody>
          <a:bodyPr rtlCol="0" anchor="ctr"/>
          <a:lstStyle/>
          <a:p>
            <a:pPr algn="ctr"/>
          </a:p>
        </p:txBody>
      </p:sp>
      <p:sp>
        <p:nvSpPr>
          <p:cNvPr id="5" name="TextBox 4"/>
          <p:cNvSpPr txBox="1"/>
          <p:nvPr/>
        </p:nvSpPr>
        <p:spPr>
          <a:xfrm>
            <a:off x="1005840" y="3749039"/>
            <a:ext cx="3017520" cy="274320"/>
          </a:xfrm>
          <a:prstGeom prst="rect">
            <a:avLst/>
          </a:prstGeom>
          <a:noFill/>
        </p:spPr>
        <p:txBody>
          <a:bodyPr wrap="square" lIns="0" rIns="0" tIns="0" bIns="0" anchor="t">
            <a:spAutoFit/>
          </a:bodyPr>
          <a:lstStyle/>
          <a:p>
            <a:pPr algn="l">
              <a:lnSpc>
                <a:spcPct val="100000"/>
              </a:lnSpc>
            </a:pPr>
            <a:r>
              <a:rPr sz="1500" b="1" i="0">
                <a:solidFill>
                  <a:srgbClr val="E0B98F"/>
                </a:solidFill>
                <a:latin typeface="Calibri"/>
              </a:rPr>
              <a:t>Safe by construction</a:t>
            </a:r>
          </a:p>
        </p:txBody>
      </p:sp>
      <p:sp>
        <p:nvSpPr>
          <p:cNvPr id="6" name="TextBox 5"/>
          <p:cNvSpPr txBox="1"/>
          <p:nvPr/>
        </p:nvSpPr>
        <p:spPr>
          <a:xfrm>
            <a:off x="1005840" y="4114800"/>
            <a:ext cx="3017520" cy="685800"/>
          </a:xfrm>
          <a:prstGeom prst="rect">
            <a:avLst/>
          </a:prstGeom>
          <a:noFill/>
        </p:spPr>
        <p:txBody>
          <a:bodyPr wrap="square" lIns="0" rIns="0" tIns="0" bIns="0" anchor="t">
            <a:spAutoFit/>
          </a:bodyPr>
          <a:lstStyle/>
          <a:p>
            <a:pPr algn="l">
              <a:lnSpc>
                <a:spcPct val="100000"/>
              </a:lnSpc>
            </a:pPr>
            <a:r>
              <a:rPr sz="1250" b="0" i="0">
                <a:solidFill>
                  <a:srgbClr val="E7D9C2"/>
                </a:solidFill>
                <a:latin typeface="Calibri"/>
              </a:rPr>
              <a:t>No write without approval, none to listings you do not own.</a:t>
            </a:r>
          </a:p>
        </p:txBody>
      </p:sp>
      <p:sp>
        <p:nvSpPr>
          <p:cNvPr id="7" name="Rounded Rectangle 6"/>
          <p:cNvSpPr/>
          <p:nvPr/>
        </p:nvSpPr>
        <p:spPr>
          <a:xfrm>
            <a:off x="4434840" y="3657600"/>
            <a:ext cx="3383280" cy="1188720"/>
          </a:xfrm>
          <a:prstGeom prst="roundRect">
            <a:avLst>
              <a:gd name="adj" fmla="val 6153"/>
            </a:avLst>
          </a:prstGeom>
          <a:solidFill>
            <a:srgbClr val="3A3029"/>
          </a:solidFill>
          <a:ln>
            <a:noFill/>
          </a:ln>
          <a:effectLst/>
        </p:spPr>
        <p:txBody>
          <a:bodyPr rtlCol="0" anchor="ctr"/>
          <a:lstStyle/>
          <a:p>
            <a:pPr algn="ctr"/>
          </a:p>
        </p:txBody>
      </p:sp>
      <p:sp>
        <p:nvSpPr>
          <p:cNvPr id="8" name="TextBox 7"/>
          <p:cNvSpPr txBox="1"/>
          <p:nvPr/>
        </p:nvSpPr>
        <p:spPr>
          <a:xfrm>
            <a:off x="4617720" y="3749039"/>
            <a:ext cx="3017520" cy="274320"/>
          </a:xfrm>
          <a:prstGeom prst="rect">
            <a:avLst/>
          </a:prstGeom>
          <a:noFill/>
        </p:spPr>
        <p:txBody>
          <a:bodyPr wrap="square" lIns="0" rIns="0" tIns="0" bIns="0" anchor="t">
            <a:spAutoFit/>
          </a:bodyPr>
          <a:lstStyle/>
          <a:p>
            <a:pPr algn="l">
              <a:lnSpc>
                <a:spcPct val="100000"/>
              </a:lnSpc>
            </a:pPr>
            <a:r>
              <a:rPr sz="1500" b="1" i="0">
                <a:solidFill>
                  <a:srgbClr val="E0B98F"/>
                </a:solidFill>
                <a:latin typeface="Calibri"/>
              </a:rPr>
              <a:t>Proven</a:t>
            </a:r>
          </a:p>
        </p:txBody>
      </p:sp>
      <p:sp>
        <p:nvSpPr>
          <p:cNvPr id="9" name="TextBox 8"/>
          <p:cNvSpPr txBox="1"/>
          <p:nvPr/>
        </p:nvSpPr>
        <p:spPr>
          <a:xfrm>
            <a:off x="4617720" y="4114800"/>
            <a:ext cx="3017520" cy="685800"/>
          </a:xfrm>
          <a:prstGeom prst="rect">
            <a:avLst/>
          </a:prstGeom>
          <a:noFill/>
        </p:spPr>
        <p:txBody>
          <a:bodyPr wrap="square" lIns="0" rIns="0" tIns="0" bIns="0" anchor="t">
            <a:spAutoFit/>
          </a:bodyPr>
          <a:lstStyle/>
          <a:p>
            <a:pPr algn="l">
              <a:lnSpc>
                <a:spcPct val="100000"/>
              </a:lnSpc>
            </a:pPr>
            <a:r>
              <a:rPr sz="1250" b="0" i="0">
                <a:solidFill>
                  <a:srgbClr val="E7D9C2"/>
                </a:solidFill>
                <a:latin typeface="Calibri"/>
              </a:rPr>
              <a:t>TC1-TC8, 295 tests, plus trace and CSV evidence.</a:t>
            </a:r>
          </a:p>
        </p:txBody>
      </p:sp>
      <p:sp>
        <p:nvSpPr>
          <p:cNvPr id="10" name="Rounded Rectangle 9"/>
          <p:cNvSpPr/>
          <p:nvPr/>
        </p:nvSpPr>
        <p:spPr>
          <a:xfrm>
            <a:off x="8046720" y="3657600"/>
            <a:ext cx="3383280" cy="1188720"/>
          </a:xfrm>
          <a:prstGeom prst="roundRect">
            <a:avLst>
              <a:gd name="adj" fmla="val 6153"/>
            </a:avLst>
          </a:prstGeom>
          <a:solidFill>
            <a:srgbClr val="3A3029"/>
          </a:solidFill>
          <a:ln>
            <a:noFill/>
          </a:ln>
          <a:effectLst/>
        </p:spPr>
        <p:txBody>
          <a:bodyPr rtlCol="0" anchor="ctr"/>
          <a:lstStyle/>
          <a:p>
            <a:pPr algn="ctr"/>
          </a:p>
        </p:txBody>
      </p:sp>
      <p:sp>
        <p:nvSpPr>
          <p:cNvPr id="11" name="TextBox 10"/>
          <p:cNvSpPr txBox="1"/>
          <p:nvPr/>
        </p:nvSpPr>
        <p:spPr>
          <a:xfrm>
            <a:off x="8229600" y="3749039"/>
            <a:ext cx="3017520" cy="274320"/>
          </a:xfrm>
          <a:prstGeom prst="rect">
            <a:avLst/>
          </a:prstGeom>
          <a:noFill/>
        </p:spPr>
        <p:txBody>
          <a:bodyPr wrap="square" lIns="0" rIns="0" tIns="0" bIns="0" anchor="t">
            <a:spAutoFit/>
          </a:bodyPr>
          <a:lstStyle/>
          <a:p>
            <a:pPr algn="l">
              <a:lnSpc>
                <a:spcPct val="100000"/>
              </a:lnSpc>
            </a:pPr>
            <a:r>
              <a:rPr sz="1500" b="1" i="0">
                <a:solidFill>
                  <a:srgbClr val="E0B98F"/>
                </a:solidFill>
                <a:latin typeface="Calibri"/>
              </a:rPr>
              <a:t>Ready to try</a:t>
            </a:r>
          </a:p>
        </p:txBody>
      </p:sp>
      <p:sp>
        <p:nvSpPr>
          <p:cNvPr id="12" name="TextBox 11"/>
          <p:cNvSpPr txBox="1"/>
          <p:nvPr/>
        </p:nvSpPr>
        <p:spPr>
          <a:xfrm>
            <a:off x="8229600" y="4114800"/>
            <a:ext cx="3017520" cy="685800"/>
          </a:xfrm>
          <a:prstGeom prst="rect">
            <a:avLst/>
          </a:prstGeom>
          <a:noFill/>
        </p:spPr>
        <p:txBody>
          <a:bodyPr wrap="square" lIns="0" rIns="0" tIns="0" bIns="0" anchor="t">
            <a:spAutoFit/>
          </a:bodyPr>
          <a:lstStyle/>
          <a:p>
            <a:pPr algn="l">
              <a:lnSpc>
                <a:spcPct val="100000"/>
              </a:lnSpc>
            </a:pPr>
            <a:r>
              <a:rPr sz="1250" b="0" i="0">
                <a:solidFill>
                  <a:srgbClr val="E7D9C2"/>
                </a:solidFill>
                <a:latin typeface="Calibri"/>
              </a:rPr>
              <a:t>Live demo, a 2-minute video and the open repo.</a:t>
            </a:r>
          </a:p>
        </p:txBody>
      </p:sp>
      <p:sp>
        <p:nvSpPr>
          <p:cNvPr id="13" name="TextBox 12"/>
          <p:cNvSpPr txBox="1"/>
          <p:nvPr/>
        </p:nvSpPr>
        <p:spPr>
          <a:xfrm>
            <a:off x="822960" y="5257800"/>
            <a:ext cx="10789920" cy="822960"/>
          </a:xfrm>
          <a:prstGeom prst="rect">
            <a:avLst/>
          </a:prstGeom>
          <a:noFill/>
        </p:spPr>
        <p:txBody>
          <a:bodyPr wrap="square" lIns="0" rIns="0" tIns="0" bIns="0" anchor="t">
            <a:spAutoFit/>
          </a:bodyPr>
          <a:lstStyle/>
          <a:p>
            <a:pPr algn="l">
              <a:lnSpc>
                <a:spcPct val="100000"/>
              </a:lnSpc>
              <a:spcAft>
                <a:spcPts val="600"/>
              </a:spcAft>
            </a:pPr>
            <a:r>
              <a:rPr sz="1400" b="1" i="0">
                <a:solidFill>
                  <a:srgbClr val="E0B98F"/>
                </a:solidFill>
                <a:latin typeface="Calibri"/>
              </a:rPr>
              <a:t>Live demo  </a:t>
            </a:r>
            <a:r>
              <a:rPr sz="1400" b="0" i="0">
                <a:solidFill>
                  <a:srgbClr val="E7D9C2"/>
                </a:solidFill>
                <a:latin typeface="Calibri"/>
              </a:rPr>
              <a:t>zirohacksub.onrender.com    </a:t>
            </a:r>
            <a:r>
              <a:rPr sz="1400" b="1" i="0">
                <a:solidFill>
                  <a:srgbClr val="E0B98F"/>
                </a:solidFill>
                <a:latin typeface="Calibri"/>
              </a:rPr>
              <a:t>demo PIN  </a:t>
            </a:r>
            <a:r>
              <a:rPr sz="1400" b="0" i="0">
                <a:solidFill>
                  <a:srgbClr val="E7D9C2"/>
                </a:solidFill>
                <a:latin typeface="Calibri"/>
              </a:rPr>
              <a:t>7KQ4X-M9PHT (synthetic)</a:t>
            </a:r>
          </a:p>
          <a:p>
            <a:pPr algn="l">
              <a:lnSpc>
                <a:spcPct val="100000"/>
              </a:lnSpc>
            </a:pPr>
            <a:r>
              <a:rPr sz="1400" b="1" i="0">
                <a:solidFill>
                  <a:srgbClr val="E0B98F"/>
                </a:solidFill>
                <a:latin typeface="Calibri"/>
              </a:rPr>
              <a:t>Video  </a:t>
            </a:r>
            <a:r>
              <a:rPr sz="1400" b="0" i="0">
                <a:solidFill>
                  <a:srgbClr val="E7D9C2"/>
                </a:solidFill>
                <a:latin typeface="Calibri"/>
              </a:rPr>
              <a:t>docs/demo/demo.mp4    </a:t>
            </a:r>
            <a:r>
              <a:rPr sz="1400" b="1" i="0">
                <a:solidFill>
                  <a:srgbClr val="E0B98F"/>
                </a:solidFill>
                <a:latin typeface="Calibri"/>
              </a:rPr>
              <a:t>Repo  </a:t>
            </a:r>
            <a:r>
              <a:rPr sz="1400" b="0" i="0">
                <a:solidFill>
                  <a:srgbClr val="E7D9C2"/>
                </a:solidFill>
                <a:latin typeface="Calibri"/>
              </a:rPr>
              <a:t>github.com/yourgrok/zirohacksub</a:t>
            </a:r>
          </a:p>
        </p:txBody>
      </p:sp>
      <p:sp>
        <p:nvSpPr>
          <p:cNvPr id="14" name="TextBox 13"/>
          <p:cNvSpPr txBox="1"/>
          <p:nvPr/>
        </p:nvSpPr>
        <p:spPr>
          <a:xfrm>
            <a:off x="822960" y="6126480"/>
            <a:ext cx="5486400" cy="365760"/>
          </a:xfrm>
          <a:prstGeom prst="rect">
            <a:avLst/>
          </a:prstGeom>
          <a:noFill/>
        </p:spPr>
        <p:txBody>
          <a:bodyPr wrap="square" lIns="0" rIns="0" tIns="0" bIns="0" anchor="t">
            <a:spAutoFit/>
          </a:bodyPr>
          <a:lstStyle/>
          <a:p>
            <a:pPr algn="l">
              <a:lnSpc>
                <a:spcPct val="100000"/>
              </a:lnSpc>
            </a:pPr>
            <a:r>
              <a:rPr sz="2000" b="1" i="0">
                <a:solidFill>
                  <a:srgbClr val="FBF8F1"/>
                </a:solidFill>
                <a:latin typeface="Cambria"/>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
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(20 s): Every local business lives on many listing sites, and the details drift apart. We built an agent that keeps them consistent, but only changes something after the owner approves it, and only reports success after it has reloaded the page and seen the value. Everything you will see is a real run of the deployed app on a fictional bakery with mock listing sites. We will cover: the problem, our solution, the agentic AI, the technical implementation, the innovation, a demonstration and the impact.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public pages for the same bakery, captured from the running app before anything is fixed. A matches. B says Diwali is closed. C writes the phone and address differently but means the same thing, so a smart tool must not 'fix' it. D shows a different phone and is claimed by someone else, so we are not even allowed to edit it. E says Sunday is closed. Why it matters: customers are turned away and calls go to the wrong number. Why owners struggle: every site has its own formats and logins, some listings belong to others, some edits sit in moderation, look-alike businesses exist, and nobody re-checks afterwards. A bot that edits freely would be dangerous, so the real problem is trust.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in one line: you tell us the truth once, and the agent keeps every site honest. Four steps. Scan reads every site and compares by meaning. Review shows a card per fix with a plain reason, as in the screenshot. Apply sends only what you approved. Verify reloads the page and only then says verified. Who it helps: busy owners of local shops, owners with several businesses (each has a separate PIN and data), and new owners, where the agent finds existing listings and adds the business where it is missing after approval. In our demo the owner does three clicks: Scan, Approve all, Apply. A full scan of five sites and twenty-five field checks took about 150 milliseconds on the local mock sites.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makes it agentic: it has a goal, not a script. Each step it looks at the current state of every site, chooses one of eight tools, acts, checks the result, and loops until nothing is left to do. Perceive, decide, act, verify, recover. The decision-maker is pluggable: a rules planner by default, or Gemini if a key is configured. Both use the same tool registry and the same guardrails, and every step is written to a trace with a badge saying who decided.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the judges asked about. How it interprets requests: the Edit and Ask box turns text into an intent, resolves dates, asks exactly one clarifying question when unclear, and saves nothing until Confirm. How it selects tools: every step it looks at the state and picks a tool, and code blocks unsafe picks. How it runs multi-step workflows: scan then execute, fanning one request out to every site. How it verifies and recovers: reload and compare, wait on moderation, re-ask if the page changed after approval, retry outages and re-send a dropped edit once. Be upfront: the default planner is rules-based; Gemini is optional and tested with a mocked client, with 12 tests; there is no live Gemini run in our evidence because the build environment had no key.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architecture. One deployable Node service. The React console talks to an Express API over HTTPS. Behind it: auth, the agent core with its loop, planner, guardrail, eight tools and verifier, the owner-facing intelligence such as the intent parser, holiday foresight and score matching, and SQLite for field states, audit, trace and change log. Readers fetch pages with Playwright or a plain HTTP fallback, from five mock listing platforms that deliberately differ in markup, hours format, ownership and moderation. Every read asserts the listing ID so look-alikes are never touched; writes go through each site's dashboard API with permission handling. Gemini is an optional side connection. The data flow line at the top is one run from the owner's record to the report. We do not claim real platform integrations: those need their own APIs and consent flows.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safety story is code, not prompt engineering. Each field moves through a state machine. Only the owner can approve, only the verifier can mark verified, and a listing we do not own can only be flagged. A moderated site stays pending until a reload proves the change. We tested the guardrails with a scripted rogue planner that tried six unsafe things: apply without approval, apply unapproved fields, verify without applying, touch the look-alike, flag an editable listing. All six were blocked and zero writes reached any site. Business isolation and PIN handling are enforced and tested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is different. A dashboard shows values and leaves all the work to you. A chatbot can talk about listings but has no tools, no ownership checks and no proof. A rule-based sync pushes data and assumes it worked. Our agent compares by meaning, knows when a listing is not ours, reloads the page to prove the edit is live, tells pending moderation from done, and recovers when the world changes. The three callouts: verify-after-write; score-matched onboarding that finds you among look-alikes, with the look-alike at 37.7 against 100 for the real listing; and holiday foresight with plain-language edits. The comparison is against typical tools in each category, not specific products.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scenario, ideally live. Press Scan: the agent reads five sites and tells you what it found, two fixes, one listing claimed by someone else, two formatting-only differences it ignores. Review: CityPages lists Diwali as closed, and the card explains why that matters. NearbyNow belongs to another account, so the agent makes no edit and drafts a claim request instead. Approve and Apply: only approved changes are sent and the pages are reloaded. ShopFront has a moderation queue, so the edit stays pending until the moderator approves, then a re-check verifies it. The report shows the before and after table with a CSV export. The strip at the bottom is the proof: the eight official test cases TC1 to TC8 pass from a fresh reset, including TC3 with zero write attempts on a listing we do not own and TC4 where pending moderation is never reported as fixed, alongside 295 automated tests. There is a two-minute video of exactly this flow, and anyone can press Run all on the test page in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with numbers we actually measured. A full scan of five sites and twenty-five field checks takes about 150 milliseconds on the local mock sites (three runs: 139 to 156), so this excludes real-world network latency. In the demo the owner does three clicks. Eight of eight test cases and 295 automated tests pass; the rogue planner could not get a single write through. Practical value: no wrong-hours surprises, and proof for the owner. Scalability: each platform is another reader, work per scan grows with sites times fields, each business is isolated by its own ID. Next: real platform APIs with consent flows, scheduled scans, PIN recovery and phone verification, more fields. We would rather be honest than impressive: the platforms are mock sites, OTP stays a human step because the agent never automates OTP or CAPTCHA, and the Gemini path is tested with a mocked client only. We do not claim production traffic numbers; we have none. Close by inviting the judges to open the live demo, log in with the synthetic PIN and press Scan.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2721"/>
        </a:solidFill>
        <a:effectLst/>
      </p:bgPr>
    </p:bg>
    <p:spTree>
      <p:nvGrpSpPr>
        <p:cNvPr id="1" name=""/>
        <p:cNvGrpSpPr/>
        <p:nvPr/>
      </p:nvGrpSpPr>
      <p:grpSpPr/>
      <p:sp>
        <p:nvSpPr>
          <p:cNvPr id="2" name="TextBox 1"/>
          <p:cNvSpPr txBox="1"/>
          <p:nvPr/>
        </p:nvSpPr>
        <p:spPr>
          <a:xfrm>
            <a:off x="822960" y="1051560"/>
            <a:ext cx="7315200" cy="274320"/>
          </a:xfrm>
          <a:prstGeom prst="rect">
            <a:avLst/>
          </a:prstGeom>
          <a:noFill/>
        </p:spPr>
        <p:txBody>
          <a:bodyPr wrap="square" lIns="0" rIns="0" tIns="0" bIns="0" anchor="t">
            <a:spAutoFit/>
          </a:bodyPr>
          <a:lstStyle/>
          <a:p>
            <a:pPr algn="l">
              <a:lnSpc>
                <a:spcPct val="100000"/>
              </a:lnSpc>
            </a:pPr>
            <a:r>
              <a:rPr sz="1300" b="1" i="0" spc="140">
                <a:solidFill>
                  <a:srgbClr val="E0B98F"/>
                </a:solidFill>
                <a:latin typeface="Calibri"/>
              </a:rPr>
              <a:t>AGENTIC AI HACKATHON 2026  ·  BUSINESS &amp; PRODUCTIVITY AI</a:t>
            </a:r>
          </a:p>
        </p:txBody>
      </p:sp>
      <p:sp>
        <p:nvSpPr>
          <p:cNvPr id="3" name="TextBox 2"/>
          <p:cNvSpPr txBox="1"/>
          <p:nvPr/>
        </p:nvSpPr>
        <p:spPr>
          <a:xfrm>
            <a:off x="822960" y="1463040"/>
            <a:ext cx="7498079" cy="1920240"/>
          </a:xfrm>
          <a:prstGeom prst="rect">
            <a:avLst/>
          </a:prstGeom>
          <a:noFill/>
        </p:spPr>
        <p:txBody>
          <a:bodyPr wrap="square" lIns="0" rIns="0" tIns="0" bIns="0" anchor="t">
            <a:spAutoFit/>
          </a:bodyPr>
          <a:lstStyle/>
          <a:p>
            <a:pPr algn="l">
              <a:lnSpc>
                <a:spcPct val="95000"/>
              </a:lnSpc>
            </a:pPr>
            <a:r>
              <a:rPr sz="5600" b="1" i="0">
                <a:solidFill>
                  <a:srgbClr val="FBF8F1"/>
                </a:solidFill>
                <a:latin typeface="Cambria"/>
              </a:rPr>
              <a:t>Business Listing
Consistency Agent</a:t>
            </a:r>
          </a:p>
        </p:txBody>
      </p:sp>
      <p:sp>
        <p:nvSpPr>
          <p:cNvPr id="4" name="TextBox 3"/>
          <p:cNvSpPr txBox="1"/>
          <p:nvPr/>
        </p:nvSpPr>
        <p:spPr>
          <a:xfrm>
            <a:off x="822960" y="3611880"/>
            <a:ext cx="7040880" cy="1371600"/>
          </a:xfrm>
          <a:prstGeom prst="rect">
            <a:avLst/>
          </a:prstGeom>
          <a:noFill/>
        </p:spPr>
        <p:txBody>
          <a:bodyPr wrap="square" lIns="0" rIns="0" tIns="0" bIns="0" anchor="t">
            <a:spAutoFit/>
          </a:bodyPr>
          <a:lstStyle/>
          <a:p>
            <a:pPr algn="l">
              <a:lnSpc>
                <a:spcPct val="105000"/>
              </a:lnSpc>
            </a:pPr>
            <a:r>
              <a:rPr sz="2200" b="0" i="0">
                <a:solidFill>
                  <a:srgbClr val="E7D9C2"/>
                </a:solidFill>
                <a:latin typeface="Calibri"/>
              </a:rPr>
              <a:t>One true record. Five listing sites. An agent that finds every mismatch, fixes only what you approve, and proves the fix went live.</a:t>
            </a:r>
          </a:p>
        </p:txBody>
      </p:sp>
      <p:sp>
        <p:nvSpPr>
          <p:cNvPr id="5" name="Rounded Rectangle 4"/>
          <p:cNvSpPr/>
          <p:nvPr/>
        </p:nvSpPr>
        <p:spPr>
          <a:xfrm>
            <a:off x="8412480" y="1280160"/>
            <a:ext cx="3246120" cy="676656"/>
          </a:xfrm>
          <a:prstGeom prst="roundRect">
            <a:avLst>
              <a:gd name="adj" fmla="val 16216"/>
            </a:avLst>
          </a:prstGeom>
          <a:solidFill>
            <a:srgbClr val="DFEBD2"/>
          </a:solidFill>
          <a:ln>
            <a:noFill/>
          </a:ln>
          <a:effectLst/>
        </p:spPr>
        <p:txBody>
          <a:bodyPr rtlCol="0" anchor="ctr"/>
          <a:lstStyle/>
          <a:p>
            <a:pPr algn="ctr"/>
          </a:p>
        </p:txBody>
      </p:sp>
      <p:sp>
        <p:nvSpPr>
          <p:cNvPr id="6" name="TextBox 5"/>
          <p:cNvSpPr txBox="1"/>
          <p:nvPr/>
        </p:nvSpPr>
        <p:spPr>
          <a:xfrm>
            <a:off x="8577072" y="1353312"/>
            <a:ext cx="2926080" cy="256032"/>
          </a:xfrm>
          <a:prstGeom prst="rect">
            <a:avLst/>
          </a:prstGeom>
          <a:noFill/>
        </p:spPr>
        <p:txBody>
          <a:bodyPr wrap="square" lIns="0" rIns="0" tIns="0" bIns="0" anchor="t">
            <a:spAutoFit/>
          </a:bodyPr>
          <a:lstStyle/>
          <a:p>
            <a:pPr algn="l">
              <a:lnSpc>
                <a:spcPct val="100000"/>
              </a:lnSpc>
            </a:pPr>
            <a:r>
              <a:rPr sz="1300" b="1" i="0">
                <a:solidFill>
                  <a:srgbClr val="3A312A"/>
                </a:solidFill>
                <a:latin typeface="Calibri"/>
              </a:rPr>
              <a:t>Listify</a:t>
            </a:r>
          </a:p>
        </p:txBody>
      </p:sp>
      <p:sp>
        <p:nvSpPr>
          <p:cNvPr id="7" name="TextBox 6"/>
          <p:cNvSpPr txBox="1"/>
          <p:nvPr/>
        </p:nvSpPr>
        <p:spPr>
          <a:xfrm>
            <a:off x="8577072" y="1627631"/>
            <a:ext cx="2926080" cy="274320"/>
          </a:xfrm>
          <a:prstGeom prst="rect">
            <a:avLst/>
          </a:prstGeom>
          <a:noFill/>
        </p:spPr>
        <p:txBody>
          <a:bodyPr wrap="square" lIns="0" rIns="0" tIns="0" bIns="0" anchor="t">
            <a:spAutoFit/>
          </a:bodyPr>
          <a:lstStyle/>
          <a:p>
            <a:pPr algn="l">
              <a:lnSpc>
                <a:spcPct val="100000"/>
              </a:lnSpc>
            </a:pPr>
            <a:r>
              <a:rPr sz="1300" b="1" i="0">
                <a:solidFill>
                  <a:srgbClr val="3F5A2E"/>
                </a:solidFill>
                <a:latin typeface="Calibri"/>
              </a:rPr>
              <a:t>Matches</a:t>
            </a:r>
          </a:p>
        </p:txBody>
      </p:sp>
      <p:sp>
        <p:nvSpPr>
          <p:cNvPr id="8" name="Rounded Rectangle 7"/>
          <p:cNvSpPr/>
          <p:nvPr/>
        </p:nvSpPr>
        <p:spPr>
          <a:xfrm>
            <a:off x="8412480" y="2103120"/>
            <a:ext cx="3246120" cy="676656"/>
          </a:xfrm>
          <a:prstGeom prst="roundRect">
            <a:avLst>
              <a:gd name="adj" fmla="val 16216"/>
            </a:avLst>
          </a:prstGeom>
          <a:solidFill>
            <a:srgbClr val="F7DADD"/>
          </a:solidFill>
          <a:ln>
            <a:noFill/>
          </a:ln>
          <a:effectLst/>
        </p:spPr>
        <p:txBody>
          <a:bodyPr rtlCol="0" anchor="ctr"/>
          <a:lstStyle/>
          <a:p>
            <a:pPr algn="ctr"/>
          </a:p>
        </p:txBody>
      </p:sp>
      <p:sp>
        <p:nvSpPr>
          <p:cNvPr id="9" name="TextBox 8"/>
          <p:cNvSpPr txBox="1"/>
          <p:nvPr/>
        </p:nvSpPr>
        <p:spPr>
          <a:xfrm>
            <a:off x="8577072" y="2176272"/>
            <a:ext cx="2926080" cy="256032"/>
          </a:xfrm>
          <a:prstGeom prst="rect">
            <a:avLst/>
          </a:prstGeom>
          <a:noFill/>
        </p:spPr>
        <p:txBody>
          <a:bodyPr wrap="square" lIns="0" rIns="0" tIns="0" bIns="0" anchor="t">
            <a:spAutoFit/>
          </a:bodyPr>
          <a:lstStyle/>
          <a:p>
            <a:pPr algn="l">
              <a:lnSpc>
                <a:spcPct val="100000"/>
              </a:lnSpc>
            </a:pPr>
            <a:r>
              <a:rPr sz="1300" b="1" i="0">
                <a:solidFill>
                  <a:srgbClr val="3A312A"/>
                </a:solidFill>
                <a:latin typeface="Calibri"/>
              </a:rPr>
              <a:t>CityPages</a:t>
            </a:r>
          </a:p>
        </p:txBody>
      </p:sp>
      <p:sp>
        <p:nvSpPr>
          <p:cNvPr id="10" name="TextBox 9"/>
          <p:cNvSpPr txBox="1"/>
          <p:nvPr/>
        </p:nvSpPr>
        <p:spPr>
          <a:xfrm>
            <a:off x="8577072" y="2450591"/>
            <a:ext cx="2926080" cy="274320"/>
          </a:xfrm>
          <a:prstGeom prst="rect">
            <a:avLst/>
          </a:prstGeom>
          <a:noFill/>
        </p:spPr>
        <p:txBody>
          <a:bodyPr wrap="square" lIns="0" rIns="0" tIns="0" bIns="0" anchor="t">
            <a:spAutoFit/>
          </a:bodyPr>
          <a:lstStyle/>
          <a:p>
            <a:pPr algn="l">
              <a:lnSpc>
                <a:spcPct val="100000"/>
              </a:lnSpc>
            </a:pPr>
            <a:r>
              <a:rPr sz="1300" b="1" i="0">
                <a:solidFill>
                  <a:srgbClr val="9B2A38"/>
                </a:solidFill>
                <a:latin typeface="Calibri"/>
              </a:rPr>
              <a:t>Diwali shown as Closed</a:t>
            </a:r>
          </a:p>
        </p:txBody>
      </p:sp>
      <p:sp>
        <p:nvSpPr>
          <p:cNvPr id="11" name="Rounded Rectangle 10"/>
          <p:cNvSpPr/>
          <p:nvPr/>
        </p:nvSpPr>
        <p:spPr>
          <a:xfrm>
            <a:off x="8412480" y="2926080"/>
            <a:ext cx="3246120" cy="676656"/>
          </a:xfrm>
          <a:prstGeom prst="roundRect">
            <a:avLst>
              <a:gd name="adj" fmla="val 16216"/>
            </a:avLst>
          </a:prstGeom>
          <a:solidFill>
            <a:srgbClr val="EBE2CF"/>
          </a:solidFill>
          <a:ln>
            <a:noFill/>
          </a:ln>
          <a:effectLst/>
        </p:spPr>
        <p:txBody>
          <a:bodyPr rtlCol="0" anchor="ctr"/>
          <a:lstStyle/>
          <a:p>
            <a:pPr algn="ctr"/>
          </a:p>
        </p:txBody>
      </p:sp>
      <p:sp>
        <p:nvSpPr>
          <p:cNvPr id="12" name="TextBox 11"/>
          <p:cNvSpPr txBox="1"/>
          <p:nvPr/>
        </p:nvSpPr>
        <p:spPr>
          <a:xfrm>
            <a:off x="8577072" y="2999232"/>
            <a:ext cx="2926080" cy="256032"/>
          </a:xfrm>
          <a:prstGeom prst="rect">
            <a:avLst/>
          </a:prstGeom>
          <a:noFill/>
        </p:spPr>
        <p:txBody>
          <a:bodyPr wrap="square" lIns="0" rIns="0" tIns="0" bIns="0" anchor="t">
            <a:spAutoFit/>
          </a:bodyPr>
          <a:lstStyle/>
          <a:p>
            <a:pPr algn="l">
              <a:lnSpc>
                <a:spcPct val="100000"/>
              </a:lnSpc>
            </a:pPr>
            <a:r>
              <a:rPr sz="1300" b="1" i="0">
                <a:solidFill>
                  <a:srgbClr val="3A312A"/>
                </a:solidFill>
                <a:latin typeface="Calibri"/>
              </a:rPr>
              <a:t>LocalLoop</a:t>
            </a:r>
          </a:p>
        </p:txBody>
      </p:sp>
      <p:sp>
        <p:nvSpPr>
          <p:cNvPr id="13" name="TextBox 12"/>
          <p:cNvSpPr txBox="1"/>
          <p:nvPr/>
        </p:nvSpPr>
        <p:spPr>
          <a:xfrm>
            <a:off x="8577072" y="3273552"/>
            <a:ext cx="2926080" cy="274320"/>
          </a:xfrm>
          <a:prstGeom prst="rect">
            <a:avLst/>
          </a:prstGeom>
          <a:noFill/>
        </p:spPr>
        <p:txBody>
          <a:bodyPr wrap="square" lIns="0" rIns="0" tIns="0" bIns="0" anchor="t">
            <a:spAutoFit/>
          </a:bodyPr>
          <a:lstStyle/>
          <a:p>
            <a:pPr algn="l">
              <a:lnSpc>
                <a:spcPct val="100000"/>
              </a:lnSpc>
            </a:pPr>
            <a:r>
              <a:rPr sz="1300" b="1" i="0">
                <a:solidFill>
                  <a:srgbClr val="3A312A"/>
                </a:solidFill>
                <a:latin typeface="Calibri"/>
              </a:rPr>
              <a:t>Same facts, different format</a:t>
            </a:r>
          </a:p>
        </p:txBody>
      </p:sp>
      <p:sp>
        <p:nvSpPr>
          <p:cNvPr id="14" name="Rounded Rectangle 13"/>
          <p:cNvSpPr/>
          <p:nvPr/>
        </p:nvSpPr>
        <p:spPr>
          <a:xfrm>
            <a:off x="8412480" y="3749039"/>
            <a:ext cx="3246120" cy="676656"/>
          </a:xfrm>
          <a:prstGeom prst="roundRect">
            <a:avLst>
              <a:gd name="adj" fmla="val 16216"/>
            </a:avLst>
          </a:prstGeom>
          <a:solidFill>
            <a:srgbClr val="F4DCC8"/>
          </a:solidFill>
          <a:ln>
            <a:noFill/>
          </a:ln>
          <a:effectLst/>
        </p:spPr>
        <p:txBody>
          <a:bodyPr rtlCol="0" anchor="ctr"/>
          <a:lstStyle/>
          <a:p>
            <a:pPr algn="ctr"/>
          </a:p>
        </p:txBody>
      </p:sp>
      <p:sp>
        <p:nvSpPr>
          <p:cNvPr id="15" name="TextBox 14"/>
          <p:cNvSpPr txBox="1"/>
          <p:nvPr/>
        </p:nvSpPr>
        <p:spPr>
          <a:xfrm>
            <a:off x="8577072" y="3822191"/>
            <a:ext cx="2926080" cy="256032"/>
          </a:xfrm>
          <a:prstGeom prst="rect">
            <a:avLst/>
          </a:prstGeom>
          <a:noFill/>
        </p:spPr>
        <p:txBody>
          <a:bodyPr wrap="square" lIns="0" rIns="0" tIns="0" bIns="0" anchor="t">
            <a:spAutoFit/>
          </a:bodyPr>
          <a:lstStyle/>
          <a:p>
            <a:pPr algn="l">
              <a:lnSpc>
                <a:spcPct val="100000"/>
              </a:lnSpc>
            </a:pPr>
            <a:r>
              <a:rPr sz="1300" b="1" i="0">
                <a:solidFill>
                  <a:srgbClr val="3A312A"/>
                </a:solidFill>
                <a:latin typeface="Calibri"/>
              </a:rPr>
              <a:t>NearbyNow</a:t>
            </a:r>
          </a:p>
        </p:txBody>
      </p:sp>
      <p:sp>
        <p:nvSpPr>
          <p:cNvPr id="16" name="TextBox 15"/>
          <p:cNvSpPr txBox="1"/>
          <p:nvPr/>
        </p:nvSpPr>
        <p:spPr>
          <a:xfrm>
            <a:off x="8577072" y="4096511"/>
            <a:ext cx="2926080" cy="274320"/>
          </a:xfrm>
          <a:prstGeom prst="rect">
            <a:avLst/>
          </a:prstGeom>
          <a:noFill/>
        </p:spPr>
        <p:txBody>
          <a:bodyPr wrap="square" lIns="0" rIns="0" tIns="0" bIns="0" anchor="t">
            <a:spAutoFit/>
          </a:bodyPr>
          <a:lstStyle/>
          <a:p>
            <a:pPr algn="l">
              <a:lnSpc>
                <a:spcPct val="100000"/>
              </a:lnSpc>
            </a:pPr>
            <a:r>
              <a:rPr sz="1300" b="1" i="0">
                <a:solidFill>
                  <a:srgbClr val="B8561F"/>
                </a:solidFill>
                <a:latin typeface="Calibri"/>
              </a:rPr>
              <a:t>Someone else's listing</a:t>
            </a:r>
          </a:p>
        </p:txBody>
      </p:sp>
      <p:sp>
        <p:nvSpPr>
          <p:cNvPr id="17" name="Rounded Rectangle 16"/>
          <p:cNvSpPr/>
          <p:nvPr/>
        </p:nvSpPr>
        <p:spPr>
          <a:xfrm>
            <a:off x="8412480" y="4572000"/>
            <a:ext cx="3246120" cy="676656"/>
          </a:xfrm>
          <a:prstGeom prst="roundRect">
            <a:avLst>
              <a:gd name="adj" fmla="val 16216"/>
            </a:avLst>
          </a:prstGeom>
          <a:solidFill>
            <a:srgbClr val="F7DADD"/>
          </a:solidFill>
          <a:ln>
            <a:noFill/>
          </a:ln>
          <a:effectLst/>
        </p:spPr>
        <p:txBody>
          <a:bodyPr rtlCol="0" anchor="ctr"/>
          <a:lstStyle/>
          <a:p>
            <a:pPr algn="ctr"/>
          </a:p>
        </p:txBody>
      </p:sp>
      <p:sp>
        <p:nvSpPr>
          <p:cNvPr id="18" name="TextBox 17"/>
          <p:cNvSpPr txBox="1"/>
          <p:nvPr/>
        </p:nvSpPr>
        <p:spPr>
          <a:xfrm>
            <a:off x="8577072" y="4645152"/>
            <a:ext cx="2926080" cy="256032"/>
          </a:xfrm>
          <a:prstGeom prst="rect">
            <a:avLst/>
          </a:prstGeom>
          <a:noFill/>
        </p:spPr>
        <p:txBody>
          <a:bodyPr wrap="square" lIns="0" rIns="0" tIns="0" bIns="0" anchor="t">
            <a:spAutoFit/>
          </a:bodyPr>
          <a:lstStyle/>
          <a:p>
            <a:pPr algn="l">
              <a:lnSpc>
                <a:spcPct val="100000"/>
              </a:lnSpc>
            </a:pPr>
            <a:r>
              <a:rPr sz="1300" b="1" i="0">
                <a:solidFill>
                  <a:srgbClr val="3A312A"/>
                </a:solidFill>
                <a:latin typeface="Calibri"/>
              </a:rPr>
              <a:t>ShopFront</a:t>
            </a:r>
          </a:p>
        </p:txBody>
      </p:sp>
      <p:sp>
        <p:nvSpPr>
          <p:cNvPr id="19" name="TextBox 18"/>
          <p:cNvSpPr txBox="1"/>
          <p:nvPr/>
        </p:nvSpPr>
        <p:spPr>
          <a:xfrm>
            <a:off x="8577072" y="4919472"/>
            <a:ext cx="2926080" cy="274320"/>
          </a:xfrm>
          <a:prstGeom prst="rect">
            <a:avLst/>
          </a:prstGeom>
          <a:noFill/>
        </p:spPr>
        <p:txBody>
          <a:bodyPr wrap="square" lIns="0" rIns="0" tIns="0" bIns="0" anchor="t">
            <a:spAutoFit/>
          </a:bodyPr>
          <a:lstStyle/>
          <a:p>
            <a:pPr algn="l">
              <a:lnSpc>
                <a:spcPct val="100000"/>
              </a:lnSpc>
            </a:pPr>
            <a:r>
              <a:rPr sz="1300" b="1" i="0">
                <a:solidFill>
                  <a:srgbClr val="9B2A38"/>
                </a:solidFill>
                <a:latin typeface="Calibri"/>
              </a:rPr>
              <a:t>Sunday shown as Closed</a:t>
            </a:r>
          </a:p>
        </p:txBody>
      </p:sp>
      <p:sp>
        <p:nvSpPr>
          <p:cNvPr id="20" name="TextBox 19"/>
          <p:cNvSpPr txBox="1"/>
          <p:nvPr/>
        </p:nvSpPr>
        <p:spPr>
          <a:xfrm>
            <a:off x="822960" y="5532120"/>
            <a:ext cx="10789920" cy="320040"/>
          </a:xfrm>
          <a:prstGeom prst="rect">
            <a:avLst/>
          </a:prstGeom>
          <a:noFill/>
        </p:spPr>
        <p:txBody>
          <a:bodyPr wrap="square" lIns="0" rIns="0" tIns="0" bIns="0" anchor="t">
            <a:spAutoFit/>
          </a:bodyPr>
          <a:lstStyle/>
          <a:p>
            <a:pPr algn="l">
              <a:lnSpc>
                <a:spcPct val="100000"/>
              </a:lnSpc>
            </a:pPr>
            <a:r>
              <a:rPr sz="1400" b="1" i="0">
                <a:solidFill>
                  <a:srgbClr val="E0B98F"/>
                </a:solidFill>
                <a:latin typeface="Calibri"/>
              </a:rPr>
              <a:t>Live demo  </a:t>
            </a:r>
            <a:r>
              <a:rPr sz="1400" b="0" i="0">
                <a:solidFill>
                  <a:srgbClr val="E7D9C2"/>
                </a:solidFill>
                <a:latin typeface="Calibri"/>
              </a:rPr>
              <a:t>zirohacksub.onrender.com    </a:t>
            </a:r>
            <a:r>
              <a:rPr sz="1400" b="1" i="0">
                <a:solidFill>
                  <a:srgbClr val="E0B98F"/>
                </a:solidFill>
                <a:latin typeface="Calibri"/>
              </a:rPr>
              <a:t>demo PIN  </a:t>
            </a:r>
            <a:r>
              <a:rPr sz="1400" b="0" i="0">
                <a:solidFill>
                  <a:srgbClr val="E7D9C2"/>
                </a:solidFill>
                <a:latin typeface="Calibri"/>
              </a:rPr>
              <a:t>7KQ4X-M9PHT    </a:t>
            </a:r>
            <a:r>
              <a:rPr sz="1400" b="1" i="0">
                <a:solidFill>
                  <a:srgbClr val="E0B98F"/>
                </a:solidFill>
                <a:latin typeface="Calibri"/>
              </a:rPr>
              <a:t>Repo  </a:t>
            </a:r>
            <a:r>
              <a:rPr sz="1400" b="0" i="0">
                <a:solidFill>
                  <a:srgbClr val="E7D9C2"/>
                </a:solidFill>
                <a:latin typeface="Calibri"/>
              </a:rPr>
              <a:t>github.com/yourgrok/zirohacksub</a:t>
            </a:r>
          </a:p>
        </p:txBody>
      </p:sp>
      <p:sp>
        <p:nvSpPr>
          <p:cNvPr id="21" name="TextBox 20"/>
          <p:cNvSpPr txBox="1"/>
          <p:nvPr/>
        </p:nvSpPr>
        <p:spPr>
          <a:xfrm>
            <a:off x="822960" y="5943600"/>
            <a:ext cx="10789920" cy="274320"/>
          </a:xfrm>
          <a:prstGeom prst="rect">
            <a:avLst/>
          </a:prstGeom>
          <a:noFill/>
        </p:spPr>
        <p:txBody>
          <a:bodyPr wrap="square" lIns="0" rIns="0" tIns="0" bIns="0" anchor="t">
            <a:spAutoFit/>
          </a:bodyPr>
          <a:lstStyle/>
          <a:p>
            <a:pPr algn="l">
              <a:lnSpc>
                <a:spcPct val="100000"/>
              </a:lnSpc>
            </a:pPr>
            <a:r>
              <a:rPr sz="1200" b="0" i="0">
                <a:solidFill>
                  <a:srgbClr val="B8A88F"/>
                </a:solidFill>
                <a:latin typeface="Calibri"/>
              </a:rPr>
              <a:t>Fictional business (Sunrise Sweets &amp; Bakery, Pune), mock listing sites, synthetic data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EE3"/>
        </a:solidFill>
        <a:effectLst/>
      </p:bgPr>
    </p:bg>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pPr>
            <a:r>
              <a:rPr sz="1300" b="1" i="0" spc="140">
                <a:solidFill>
                  <a:srgbClr val="B8561F"/>
                </a:solidFill>
                <a:latin typeface="Calibri"/>
              </a:rPr>
              <a:t>1  ·  THE PROBLEM</a:t>
            </a:r>
          </a:p>
        </p:txBody>
      </p:sp>
      <p:sp>
        <p:nvSpPr>
          <p:cNvPr id="3" name="TextBox 2"/>
          <p:cNvSpPr txBox="1"/>
          <p:nvPr/>
        </p:nvSpPr>
        <p:spPr>
          <a:xfrm>
            <a:off x="548640" y="621792"/>
            <a:ext cx="11094415" cy="640080"/>
          </a:xfrm>
          <a:prstGeom prst="rect">
            <a:avLst/>
          </a:prstGeom>
          <a:noFill/>
        </p:spPr>
        <p:txBody>
          <a:bodyPr wrap="square" lIns="0" rIns="0" tIns="0" bIns="0" anchor="t">
            <a:spAutoFit/>
          </a:bodyPr>
          <a:lstStyle/>
          <a:p>
            <a:pPr algn="l">
              <a:lnSpc>
                <a:spcPct val="100000"/>
              </a:lnSpc>
            </a:pPr>
            <a:r>
              <a:rPr sz="3000" b="1" i="0">
                <a:solidFill>
                  <a:srgbClr val="3A312A"/>
                </a:solidFill>
                <a:latin typeface="Cambria"/>
              </a:rPr>
              <a:t>One bakery, five listing sites, five different stories</a:t>
            </a:r>
          </a:p>
        </p:txBody>
      </p:sp>
      <p:sp>
        <p:nvSpPr>
          <p:cNvPr id="4" name="TextBox 3"/>
          <p:cNvSpPr txBox="1"/>
          <p:nvPr/>
        </p:nvSpPr>
        <p:spPr>
          <a:xfrm>
            <a:off x="548640" y="6473952"/>
            <a:ext cx="7315200" cy="22860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Business Listing Consistency Agent  ·  Agentic AI Hackathon 2026</a:t>
            </a:r>
          </a:p>
        </p:txBody>
      </p:sp>
      <p:sp>
        <p:nvSpPr>
          <p:cNvPr id="5" name="TextBox 4"/>
          <p:cNvSpPr txBox="1"/>
          <p:nvPr/>
        </p:nvSpPr>
        <p:spPr>
          <a:xfrm>
            <a:off x="10728655" y="6473952"/>
            <a:ext cx="914400" cy="228600"/>
          </a:xfrm>
          <a:prstGeom prst="rect">
            <a:avLst/>
          </a:prstGeom>
          <a:noFill/>
        </p:spPr>
        <p:txBody>
          <a:bodyPr wrap="square" lIns="0" rIns="0" tIns="0" bIns="0" anchor="t">
            <a:spAutoFit/>
          </a:bodyPr>
          <a:lstStyle/>
          <a:p>
            <a:pPr algn="r">
              <a:lnSpc>
                <a:spcPct val="100000"/>
              </a:lnSpc>
            </a:pPr>
            <a:r>
              <a:rPr sz="1100" b="0" i="0">
                <a:solidFill>
                  <a:srgbClr val="6A5E51"/>
                </a:solidFill>
                <a:latin typeface="Calibri"/>
              </a:rPr>
              <a:t>2</a:t>
            </a:r>
          </a:p>
        </p:txBody>
      </p:sp>
      <p:sp>
        <p:nvSpPr>
          <p:cNvPr id="6" name="TextBox 5"/>
          <p:cNvSpPr txBox="1"/>
          <p:nvPr/>
        </p:nvSpPr>
        <p:spPr>
          <a:xfrm>
            <a:off x="548640" y="1243584"/>
            <a:ext cx="11094415" cy="365760"/>
          </a:xfrm>
          <a:prstGeom prst="rect">
            <a:avLst/>
          </a:prstGeom>
          <a:noFill/>
        </p:spPr>
        <p:txBody>
          <a:bodyPr wrap="square" lIns="0" rIns="0" tIns="0" bIns="0" anchor="t">
            <a:spAutoFit/>
          </a:bodyPr>
          <a:lstStyle/>
          <a:p>
            <a:pPr algn="l">
              <a:lnSpc>
                <a:spcPct val="100000"/>
              </a:lnSpc>
            </a:pPr>
            <a:r>
              <a:rPr sz="1500" b="0" i="0">
                <a:solidFill>
                  <a:srgbClr val="6A5E51"/>
                </a:solidFill>
                <a:latin typeface="Calibri"/>
              </a:rPr>
              <a:t>A listing inconsistency is any difference between what the owner means and what a site shows: name, address, phone or hours.</a:t>
            </a:r>
          </a:p>
        </p:txBody>
      </p:sp>
      <p:sp>
        <p:nvSpPr>
          <p:cNvPr id="7" name="TextBox 6"/>
          <p:cNvSpPr txBox="1"/>
          <p:nvPr/>
        </p:nvSpPr>
        <p:spPr>
          <a:xfrm>
            <a:off x="548640" y="1737360"/>
            <a:ext cx="2103120" cy="256032"/>
          </a:xfrm>
          <a:prstGeom prst="rect">
            <a:avLst/>
          </a:prstGeom>
          <a:noFill/>
        </p:spPr>
        <p:txBody>
          <a:bodyPr wrap="square" lIns="0" rIns="0" tIns="0" bIns="0" anchor="t">
            <a:spAutoFit/>
          </a:bodyPr>
          <a:lstStyle/>
          <a:p>
            <a:pPr algn="l">
              <a:lnSpc>
                <a:spcPct val="100000"/>
              </a:lnSpc>
            </a:pPr>
            <a:r>
              <a:rPr sz="1400" b="1" i="0">
                <a:solidFill>
                  <a:srgbClr val="3A312A"/>
                </a:solidFill>
                <a:latin typeface="Calibri"/>
              </a:rPr>
              <a:t>A · Listify</a:t>
            </a:r>
          </a:p>
        </p:txBody>
      </p:sp>
      <p:pic>
        <p:nvPicPr>
          <p:cNvPr id="8" name="Picture 7" descr="Public listing page of site A (Listify), details match"/>
          <p:cNvPicPr>
            <a:picLocks noChangeAspect="1"/>
          </p:cNvPicPr>
          <p:nvPr/>
        </p:nvPicPr>
        <p:blipFill>
          <a:blip r:embed="rId2"/>
          <a:stretch>
            <a:fillRect/>
          </a:stretch>
        </p:blipFill>
        <p:spPr>
          <a:xfrm>
            <a:off x="548640" y="2011680"/>
            <a:ext cx="2103120" cy="1538868"/>
          </a:xfrm>
          <a:prstGeom prst="rect">
            <a:avLst/>
          </a:prstGeom>
          <a:ln w="9525">
            <a:solidFill>
              <a:srgbClr val="E2D8C6"/>
            </a:solidFill>
          </a:ln>
        </p:spPr>
      </p:pic>
      <p:sp>
        <p:nvSpPr>
          <p:cNvPr id="9" name="Rounded Rectangle 8"/>
          <p:cNvSpPr/>
          <p:nvPr/>
        </p:nvSpPr>
        <p:spPr>
          <a:xfrm>
            <a:off x="548640" y="3623700"/>
            <a:ext cx="2103120" cy="676656"/>
          </a:xfrm>
          <a:prstGeom prst="roundRect">
            <a:avLst>
              <a:gd name="adj" fmla="val 10810"/>
            </a:avLst>
          </a:prstGeom>
          <a:solidFill>
            <a:srgbClr val="DFEBD2"/>
          </a:solidFill>
          <a:ln>
            <a:noFill/>
          </a:ln>
          <a:effectLst/>
        </p:spPr>
        <p:txBody>
          <a:bodyPr rtlCol="0" anchor="ctr"/>
          <a:lstStyle/>
          <a:p>
            <a:pPr algn="ctr"/>
          </a:p>
        </p:txBody>
      </p:sp>
      <p:sp>
        <p:nvSpPr>
          <p:cNvPr id="10" name="TextBox 9"/>
          <p:cNvSpPr txBox="1"/>
          <p:nvPr/>
        </p:nvSpPr>
        <p:spPr>
          <a:xfrm>
            <a:off x="640080" y="3678564"/>
            <a:ext cx="1920239" cy="585216"/>
          </a:xfrm>
          <a:prstGeom prst="rect">
            <a:avLst/>
          </a:prstGeom>
          <a:noFill/>
        </p:spPr>
        <p:txBody>
          <a:bodyPr wrap="square" lIns="0" rIns="0" tIns="0" bIns="0" anchor="t">
            <a:spAutoFit/>
          </a:bodyPr>
          <a:lstStyle/>
          <a:p>
            <a:pPr algn="l">
              <a:lnSpc>
                <a:spcPct val="100000"/>
              </a:lnSpc>
            </a:pPr>
            <a:r>
              <a:rPr sz="1250" b="1" i="0">
                <a:solidFill>
                  <a:srgbClr val="3F5A2E"/>
                </a:solidFill>
                <a:latin typeface="Calibri"/>
              </a:rPr>
              <a:t>Matches the record</a:t>
            </a:r>
          </a:p>
        </p:txBody>
      </p:sp>
      <p:sp>
        <p:nvSpPr>
          <p:cNvPr id="11" name="TextBox 10"/>
          <p:cNvSpPr txBox="1"/>
          <p:nvPr/>
        </p:nvSpPr>
        <p:spPr>
          <a:xfrm>
            <a:off x="2796235" y="1737360"/>
            <a:ext cx="2103120" cy="256032"/>
          </a:xfrm>
          <a:prstGeom prst="rect">
            <a:avLst/>
          </a:prstGeom>
          <a:noFill/>
        </p:spPr>
        <p:txBody>
          <a:bodyPr wrap="square" lIns="0" rIns="0" tIns="0" bIns="0" anchor="t">
            <a:spAutoFit/>
          </a:bodyPr>
          <a:lstStyle/>
          <a:p>
            <a:pPr algn="l">
              <a:lnSpc>
                <a:spcPct val="100000"/>
              </a:lnSpc>
            </a:pPr>
            <a:r>
              <a:rPr sz="1400" b="1" i="0">
                <a:solidFill>
                  <a:srgbClr val="3A312A"/>
                </a:solidFill>
                <a:latin typeface="Calibri"/>
              </a:rPr>
              <a:t>B · CityPages</a:t>
            </a:r>
          </a:p>
        </p:txBody>
      </p:sp>
      <p:pic>
        <p:nvPicPr>
          <p:cNvPr id="12" name="Picture 11" descr="Public page of CityPages showing Diwali as Closed"/>
          <p:cNvPicPr>
            <a:picLocks noChangeAspect="1"/>
          </p:cNvPicPr>
          <p:nvPr/>
        </p:nvPicPr>
        <p:blipFill>
          <a:blip r:embed="rId3"/>
          <a:stretch>
            <a:fillRect/>
          </a:stretch>
        </p:blipFill>
        <p:spPr>
          <a:xfrm>
            <a:off x="2796235" y="2011680"/>
            <a:ext cx="2103120" cy="1538868"/>
          </a:xfrm>
          <a:prstGeom prst="rect">
            <a:avLst/>
          </a:prstGeom>
          <a:ln w="9525">
            <a:solidFill>
              <a:srgbClr val="E2D8C6"/>
            </a:solidFill>
          </a:ln>
        </p:spPr>
      </p:pic>
      <p:sp>
        <p:nvSpPr>
          <p:cNvPr id="13" name="Rounded Rectangle 12"/>
          <p:cNvSpPr/>
          <p:nvPr/>
        </p:nvSpPr>
        <p:spPr>
          <a:xfrm>
            <a:off x="2796235" y="3623700"/>
            <a:ext cx="2103120" cy="676656"/>
          </a:xfrm>
          <a:prstGeom prst="roundRect">
            <a:avLst>
              <a:gd name="adj" fmla="val 10810"/>
            </a:avLst>
          </a:prstGeom>
          <a:solidFill>
            <a:srgbClr val="F7DADD"/>
          </a:solidFill>
          <a:ln>
            <a:noFill/>
          </a:ln>
          <a:effectLst/>
        </p:spPr>
        <p:txBody>
          <a:bodyPr rtlCol="0" anchor="ctr"/>
          <a:lstStyle/>
          <a:p>
            <a:pPr algn="ctr"/>
          </a:p>
        </p:txBody>
      </p:sp>
      <p:sp>
        <p:nvSpPr>
          <p:cNvPr id="14" name="TextBox 13"/>
          <p:cNvSpPr txBox="1"/>
          <p:nvPr/>
        </p:nvSpPr>
        <p:spPr>
          <a:xfrm>
            <a:off x="2887675" y="3678564"/>
            <a:ext cx="1920239" cy="585216"/>
          </a:xfrm>
          <a:prstGeom prst="rect">
            <a:avLst/>
          </a:prstGeom>
          <a:noFill/>
        </p:spPr>
        <p:txBody>
          <a:bodyPr wrap="square" lIns="0" rIns="0" tIns="0" bIns="0" anchor="t">
            <a:spAutoFit/>
          </a:bodyPr>
          <a:lstStyle/>
          <a:p>
            <a:pPr algn="l">
              <a:lnSpc>
                <a:spcPct val="100000"/>
              </a:lnSpc>
            </a:pPr>
            <a:r>
              <a:rPr sz="1250" b="1" i="0">
                <a:solidFill>
                  <a:srgbClr val="9B2A38"/>
                </a:solidFill>
                <a:latin typeface="Calibri"/>
              </a:rPr>
              <a:t>Diwali shown as Closed (record: 10:00-2:00)</a:t>
            </a:r>
          </a:p>
        </p:txBody>
      </p:sp>
      <p:sp>
        <p:nvSpPr>
          <p:cNvPr id="15" name="TextBox 14"/>
          <p:cNvSpPr txBox="1"/>
          <p:nvPr/>
        </p:nvSpPr>
        <p:spPr>
          <a:xfrm>
            <a:off x="5043830" y="1737360"/>
            <a:ext cx="2103120" cy="256032"/>
          </a:xfrm>
          <a:prstGeom prst="rect">
            <a:avLst/>
          </a:prstGeom>
          <a:noFill/>
        </p:spPr>
        <p:txBody>
          <a:bodyPr wrap="square" lIns="0" rIns="0" tIns="0" bIns="0" anchor="t">
            <a:spAutoFit/>
          </a:bodyPr>
          <a:lstStyle/>
          <a:p>
            <a:pPr algn="l">
              <a:lnSpc>
                <a:spcPct val="100000"/>
              </a:lnSpc>
            </a:pPr>
            <a:r>
              <a:rPr sz="1400" b="1" i="0">
                <a:solidFill>
                  <a:srgbClr val="3A312A"/>
                </a:solidFill>
                <a:latin typeface="Calibri"/>
              </a:rPr>
              <a:t>C · LocalLoop</a:t>
            </a:r>
          </a:p>
        </p:txBody>
      </p:sp>
      <p:pic>
        <p:nvPicPr>
          <p:cNvPr id="16" name="Picture 15" descr="Public page of LocalLoop with phone and address written in a different format"/>
          <p:cNvPicPr>
            <a:picLocks noChangeAspect="1"/>
          </p:cNvPicPr>
          <p:nvPr/>
        </p:nvPicPr>
        <p:blipFill>
          <a:blip r:embed="rId4"/>
          <a:stretch>
            <a:fillRect/>
          </a:stretch>
        </p:blipFill>
        <p:spPr>
          <a:xfrm>
            <a:off x="5043830" y="2011680"/>
            <a:ext cx="2103120" cy="1538868"/>
          </a:xfrm>
          <a:prstGeom prst="rect">
            <a:avLst/>
          </a:prstGeom>
          <a:ln w="9525">
            <a:solidFill>
              <a:srgbClr val="E2D8C6"/>
            </a:solidFill>
          </a:ln>
        </p:spPr>
      </p:pic>
      <p:sp>
        <p:nvSpPr>
          <p:cNvPr id="17" name="Rounded Rectangle 16"/>
          <p:cNvSpPr/>
          <p:nvPr/>
        </p:nvSpPr>
        <p:spPr>
          <a:xfrm>
            <a:off x="5043830" y="3623700"/>
            <a:ext cx="2103120" cy="676656"/>
          </a:xfrm>
          <a:prstGeom prst="roundRect">
            <a:avLst>
              <a:gd name="adj" fmla="val 10810"/>
            </a:avLst>
          </a:prstGeom>
          <a:solidFill>
            <a:srgbClr val="EBE2CF"/>
          </a:solidFill>
          <a:ln>
            <a:noFill/>
          </a:ln>
          <a:effectLst/>
        </p:spPr>
        <p:txBody>
          <a:bodyPr rtlCol="0" anchor="ctr"/>
          <a:lstStyle/>
          <a:p>
            <a:pPr algn="ctr"/>
          </a:p>
        </p:txBody>
      </p:sp>
      <p:sp>
        <p:nvSpPr>
          <p:cNvPr id="18" name="TextBox 17"/>
          <p:cNvSpPr txBox="1"/>
          <p:nvPr/>
        </p:nvSpPr>
        <p:spPr>
          <a:xfrm>
            <a:off x="5135270" y="3678564"/>
            <a:ext cx="1920239" cy="585216"/>
          </a:xfrm>
          <a:prstGeom prst="rect">
            <a:avLst/>
          </a:prstGeom>
          <a:noFill/>
        </p:spPr>
        <p:txBody>
          <a:bodyPr wrap="square" lIns="0" rIns="0" tIns="0" bIns="0" anchor="t">
            <a:spAutoFit/>
          </a:bodyPr>
          <a:lstStyle/>
          <a:p>
            <a:pPr algn="l">
              <a:lnSpc>
                <a:spcPct val="100000"/>
              </a:lnSpc>
            </a:pPr>
            <a:r>
              <a:rPr sz="1250" b="1" i="0">
                <a:solidFill>
                  <a:srgbClr val="3A312A"/>
                </a:solidFill>
                <a:latin typeface="Calibri"/>
              </a:rPr>
              <a:t>Phone and address written differently, same meaning</a:t>
            </a:r>
          </a:p>
        </p:txBody>
      </p:sp>
      <p:sp>
        <p:nvSpPr>
          <p:cNvPr id="19" name="TextBox 18"/>
          <p:cNvSpPr txBox="1"/>
          <p:nvPr/>
        </p:nvSpPr>
        <p:spPr>
          <a:xfrm>
            <a:off x="7291425" y="1737360"/>
            <a:ext cx="2103120" cy="256032"/>
          </a:xfrm>
          <a:prstGeom prst="rect">
            <a:avLst/>
          </a:prstGeom>
          <a:noFill/>
        </p:spPr>
        <p:txBody>
          <a:bodyPr wrap="square" lIns="0" rIns="0" tIns="0" bIns="0" anchor="t">
            <a:spAutoFit/>
          </a:bodyPr>
          <a:lstStyle/>
          <a:p>
            <a:pPr algn="l">
              <a:lnSpc>
                <a:spcPct val="100000"/>
              </a:lnSpc>
            </a:pPr>
            <a:r>
              <a:rPr sz="1400" b="1" i="0">
                <a:solidFill>
                  <a:srgbClr val="3A312A"/>
                </a:solidFill>
                <a:latin typeface="Calibri"/>
              </a:rPr>
              <a:t>D · NearbyNow</a:t>
            </a:r>
          </a:p>
        </p:txBody>
      </p:sp>
      <p:pic>
        <p:nvPicPr>
          <p:cNvPr id="20" name="Picture 19" descr="Public page of NearbyNow with a different phone number"/>
          <p:cNvPicPr>
            <a:picLocks noChangeAspect="1"/>
          </p:cNvPicPr>
          <p:nvPr/>
        </p:nvPicPr>
        <p:blipFill>
          <a:blip r:embed="rId5"/>
          <a:stretch>
            <a:fillRect/>
          </a:stretch>
        </p:blipFill>
        <p:spPr>
          <a:xfrm>
            <a:off x="7291425" y="2011680"/>
            <a:ext cx="2103120" cy="1538868"/>
          </a:xfrm>
          <a:prstGeom prst="rect">
            <a:avLst/>
          </a:prstGeom>
          <a:ln w="9525">
            <a:solidFill>
              <a:srgbClr val="E2D8C6"/>
            </a:solidFill>
          </a:ln>
        </p:spPr>
      </p:pic>
      <p:sp>
        <p:nvSpPr>
          <p:cNvPr id="21" name="Rounded Rectangle 20"/>
          <p:cNvSpPr/>
          <p:nvPr/>
        </p:nvSpPr>
        <p:spPr>
          <a:xfrm>
            <a:off x="7291425" y="3623700"/>
            <a:ext cx="2103120" cy="676656"/>
          </a:xfrm>
          <a:prstGeom prst="roundRect">
            <a:avLst>
              <a:gd name="adj" fmla="val 10810"/>
            </a:avLst>
          </a:prstGeom>
          <a:solidFill>
            <a:srgbClr val="F7DADD"/>
          </a:solidFill>
          <a:ln>
            <a:noFill/>
          </a:ln>
          <a:effectLst/>
        </p:spPr>
        <p:txBody>
          <a:bodyPr rtlCol="0" anchor="ctr"/>
          <a:lstStyle/>
          <a:p>
            <a:pPr algn="ctr"/>
          </a:p>
        </p:txBody>
      </p:sp>
      <p:sp>
        <p:nvSpPr>
          <p:cNvPr id="22" name="TextBox 21"/>
          <p:cNvSpPr txBox="1"/>
          <p:nvPr/>
        </p:nvSpPr>
        <p:spPr>
          <a:xfrm>
            <a:off x="7382865" y="3678564"/>
            <a:ext cx="1920239" cy="585216"/>
          </a:xfrm>
          <a:prstGeom prst="rect">
            <a:avLst/>
          </a:prstGeom>
          <a:noFill/>
        </p:spPr>
        <p:txBody>
          <a:bodyPr wrap="square" lIns="0" rIns="0" tIns="0" bIns="0" anchor="t">
            <a:spAutoFit/>
          </a:bodyPr>
          <a:lstStyle/>
          <a:p>
            <a:pPr algn="l">
              <a:lnSpc>
                <a:spcPct val="100000"/>
              </a:lnSpc>
            </a:pPr>
            <a:r>
              <a:rPr sz="1250" b="1" i="0">
                <a:solidFill>
                  <a:srgbClr val="9B2A38"/>
                </a:solidFill>
                <a:latin typeface="Calibri"/>
              </a:rPr>
              <a:t>Other phone number; claimed by another account</a:t>
            </a:r>
          </a:p>
        </p:txBody>
      </p:sp>
      <p:sp>
        <p:nvSpPr>
          <p:cNvPr id="23" name="TextBox 22"/>
          <p:cNvSpPr txBox="1"/>
          <p:nvPr/>
        </p:nvSpPr>
        <p:spPr>
          <a:xfrm>
            <a:off x="9539020" y="1737360"/>
            <a:ext cx="2103120" cy="256032"/>
          </a:xfrm>
          <a:prstGeom prst="rect">
            <a:avLst/>
          </a:prstGeom>
          <a:noFill/>
        </p:spPr>
        <p:txBody>
          <a:bodyPr wrap="square" lIns="0" rIns="0" tIns="0" bIns="0" anchor="t">
            <a:spAutoFit/>
          </a:bodyPr>
          <a:lstStyle/>
          <a:p>
            <a:pPr algn="l">
              <a:lnSpc>
                <a:spcPct val="100000"/>
              </a:lnSpc>
            </a:pPr>
            <a:r>
              <a:rPr sz="1400" b="1" i="0">
                <a:solidFill>
                  <a:srgbClr val="3A312A"/>
                </a:solidFill>
                <a:latin typeface="Calibri"/>
              </a:rPr>
              <a:t>E · ShopFront</a:t>
            </a:r>
          </a:p>
        </p:txBody>
      </p:sp>
      <p:pic>
        <p:nvPicPr>
          <p:cNvPr id="24" name="Picture 23" descr="Public page of ShopFront showing Sunday as Closed"/>
          <p:cNvPicPr>
            <a:picLocks noChangeAspect="1"/>
          </p:cNvPicPr>
          <p:nvPr/>
        </p:nvPicPr>
        <p:blipFill>
          <a:blip r:embed="rId6"/>
          <a:stretch>
            <a:fillRect/>
          </a:stretch>
        </p:blipFill>
        <p:spPr>
          <a:xfrm>
            <a:off x="9539020" y="2011680"/>
            <a:ext cx="2103120" cy="1538868"/>
          </a:xfrm>
          <a:prstGeom prst="rect">
            <a:avLst/>
          </a:prstGeom>
          <a:ln w="9525">
            <a:solidFill>
              <a:srgbClr val="E2D8C6"/>
            </a:solidFill>
          </a:ln>
        </p:spPr>
      </p:pic>
      <p:sp>
        <p:nvSpPr>
          <p:cNvPr id="25" name="Rounded Rectangle 24"/>
          <p:cNvSpPr/>
          <p:nvPr/>
        </p:nvSpPr>
        <p:spPr>
          <a:xfrm>
            <a:off x="9539020" y="3623700"/>
            <a:ext cx="2103120" cy="676656"/>
          </a:xfrm>
          <a:prstGeom prst="roundRect">
            <a:avLst>
              <a:gd name="adj" fmla="val 10810"/>
            </a:avLst>
          </a:prstGeom>
          <a:solidFill>
            <a:srgbClr val="F7DADD"/>
          </a:solidFill>
          <a:ln>
            <a:noFill/>
          </a:ln>
          <a:effectLst/>
        </p:spPr>
        <p:txBody>
          <a:bodyPr rtlCol="0" anchor="ctr"/>
          <a:lstStyle/>
          <a:p>
            <a:pPr algn="ctr"/>
          </a:p>
        </p:txBody>
      </p:sp>
      <p:sp>
        <p:nvSpPr>
          <p:cNvPr id="26" name="TextBox 25"/>
          <p:cNvSpPr txBox="1"/>
          <p:nvPr/>
        </p:nvSpPr>
        <p:spPr>
          <a:xfrm>
            <a:off x="9630460" y="3678564"/>
            <a:ext cx="1920239" cy="585216"/>
          </a:xfrm>
          <a:prstGeom prst="rect">
            <a:avLst/>
          </a:prstGeom>
          <a:noFill/>
        </p:spPr>
        <p:txBody>
          <a:bodyPr wrap="square" lIns="0" rIns="0" tIns="0" bIns="0" anchor="t">
            <a:spAutoFit/>
          </a:bodyPr>
          <a:lstStyle/>
          <a:p>
            <a:pPr algn="l">
              <a:lnSpc>
                <a:spcPct val="100000"/>
              </a:lnSpc>
            </a:pPr>
            <a:r>
              <a:rPr sz="1250" b="1" i="0">
                <a:solidFill>
                  <a:srgbClr val="9B2A38"/>
                </a:solidFill>
                <a:latin typeface="Calibri"/>
              </a:rPr>
              <a:t>Sunday shown as Closed (record: 10:00-2:00)</a:t>
            </a:r>
          </a:p>
        </p:txBody>
      </p:sp>
      <p:sp>
        <p:nvSpPr>
          <p:cNvPr id="27" name="Rounded Rectangle 26"/>
          <p:cNvSpPr/>
          <p:nvPr/>
        </p:nvSpPr>
        <p:spPr>
          <a:xfrm>
            <a:off x="548640" y="4526280"/>
            <a:ext cx="3593592" cy="1737360"/>
          </a:xfrm>
          <a:prstGeom prst="roundRect">
            <a:avLst>
              <a:gd name="adj" fmla="val 3157"/>
            </a:avLst>
          </a:prstGeom>
          <a:solidFill>
            <a:srgbClr val="FBF8F1"/>
          </a:solidFill>
          <a:ln w="9525">
            <a:solidFill>
              <a:srgbClr val="E2D8C6"/>
            </a:solidFill>
          </a:ln>
          <a:effectLst/>
        </p:spPr>
        <p:txBody>
          <a:bodyPr rtlCol="0" anchor="ctr"/>
          <a:lstStyle/>
          <a:p>
            <a:pPr algn="ctr"/>
          </a:p>
        </p:txBody>
      </p:sp>
      <p:sp>
        <p:nvSpPr>
          <p:cNvPr id="28" name="TextBox 27"/>
          <p:cNvSpPr txBox="1"/>
          <p:nvPr/>
        </p:nvSpPr>
        <p:spPr>
          <a:xfrm>
            <a:off x="713232" y="4690872"/>
            <a:ext cx="3264408" cy="292608"/>
          </a:xfrm>
          <a:prstGeom prst="rect">
            <a:avLst/>
          </a:prstGeom>
          <a:noFill/>
        </p:spPr>
        <p:txBody>
          <a:bodyPr wrap="square" lIns="0" rIns="0" tIns="0" bIns="0" anchor="t">
            <a:spAutoFit/>
          </a:bodyPr>
          <a:lstStyle/>
          <a:p>
            <a:pPr algn="l">
              <a:lnSpc>
                <a:spcPct val="100000"/>
              </a:lnSpc>
            </a:pPr>
            <a:r>
              <a:rPr sz="1800" b="1" i="0">
                <a:solidFill>
                  <a:srgbClr val="3A312A"/>
                </a:solidFill>
                <a:latin typeface="Calibri"/>
              </a:rPr>
              <a:t>Customers are turned away</a:t>
            </a:r>
          </a:p>
        </p:txBody>
      </p:sp>
      <p:sp>
        <p:nvSpPr>
          <p:cNvPr id="29" name="TextBox 28"/>
          <p:cNvSpPr txBox="1"/>
          <p:nvPr/>
        </p:nvSpPr>
        <p:spPr>
          <a:xfrm>
            <a:off x="713232" y="5029200"/>
            <a:ext cx="3264408" cy="1135684"/>
          </a:xfrm>
          <a:prstGeom prst="rect">
            <a:avLst/>
          </a:prstGeom>
          <a:noFill/>
        </p:spPr>
        <p:txBody>
          <a:bodyPr wrap="square" lIns="0" rIns="0" tIns="0" bIns="0" anchor="t">
            <a:spAutoFit/>
          </a:bodyPr>
          <a:lstStyle/>
          <a:p>
            <a:pPr algn="l">
              <a:lnSpc>
                <a:spcPct val="100000"/>
              </a:lnSpc>
            </a:pPr>
            <a:r>
              <a:rPr sz="1600" b="0" i="0">
                <a:solidFill>
                  <a:srgbClr val="6A5E51"/>
                </a:solidFill>
                <a:latin typeface="Calibri"/>
              </a:rPr>
              <a:t>Wrong hours or a stale phone number cost real orders.</a:t>
            </a:r>
          </a:p>
        </p:txBody>
      </p:sp>
      <p:sp>
        <p:nvSpPr>
          <p:cNvPr id="30" name="Rounded Rectangle 29"/>
          <p:cNvSpPr/>
          <p:nvPr/>
        </p:nvSpPr>
        <p:spPr>
          <a:xfrm>
            <a:off x="4297679" y="4526280"/>
            <a:ext cx="3593592" cy="1737360"/>
          </a:xfrm>
          <a:prstGeom prst="roundRect">
            <a:avLst>
              <a:gd name="adj" fmla="val 3157"/>
            </a:avLst>
          </a:prstGeom>
          <a:solidFill>
            <a:srgbClr val="FBF8F1"/>
          </a:solidFill>
          <a:ln w="9525">
            <a:solidFill>
              <a:srgbClr val="E2D8C6"/>
            </a:solidFill>
          </a:ln>
          <a:effectLst/>
        </p:spPr>
        <p:txBody>
          <a:bodyPr rtlCol="0" anchor="ctr"/>
          <a:lstStyle/>
          <a:p>
            <a:pPr algn="ctr"/>
          </a:p>
        </p:txBody>
      </p:sp>
      <p:sp>
        <p:nvSpPr>
          <p:cNvPr id="31" name="TextBox 30"/>
          <p:cNvSpPr txBox="1"/>
          <p:nvPr/>
        </p:nvSpPr>
        <p:spPr>
          <a:xfrm>
            <a:off x="4462271" y="4690872"/>
            <a:ext cx="3264408" cy="292608"/>
          </a:xfrm>
          <a:prstGeom prst="rect">
            <a:avLst/>
          </a:prstGeom>
          <a:noFill/>
        </p:spPr>
        <p:txBody>
          <a:bodyPr wrap="square" lIns="0" rIns="0" tIns="0" bIns="0" anchor="t">
            <a:spAutoFit/>
          </a:bodyPr>
          <a:lstStyle/>
          <a:p>
            <a:pPr algn="l">
              <a:lnSpc>
                <a:spcPct val="100000"/>
              </a:lnSpc>
            </a:pPr>
            <a:r>
              <a:rPr sz="1800" b="1" i="0">
                <a:solidFill>
                  <a:srgbClr val="3A312A"/>
                </a:solidFill>
                <a:latin typeface="Calibri"/>
              </a:rPr>
              <a:t>Every site is different</a:t>
            </a:r>
          </a:p>
        </p:txBody>
      </p:sp>
      <p:sp>
        <p:nvSpPr>
          <p:cNvPr id="32" name="TextBox 31"/>
          <p:cNvSpPr txBox="1"/>
          <p:nvPr/>
        </p:nvSpPr>
        <p:spPr>
          <a:xfrm>
            <a:off x="4462271" y="5029200"/>
            <a:ext cx="3264408" cy="1135684"/>
          </a:xfrm>
          <a:prstGeom prst="rect">
            <a:avLst/>
          </a:prstGeom>
          <a:noFill/>
        </p:spPr>
        <p:txBody>
          <a:bodyPr wrap="square" lIns="0" rIns="0" tIns="0" bIns="0" anchor="t">
            <a:spAutoFit/>
          </a:bodyPr>
          <a:lstStyle/>
          <a:p>
            <a:pPr algn="l">
              <a:lnSpc>
                <a:spcPct val="100000"/>
              </a:lnSpc>
            </a:pPr>
            <a:r>
              <a:rPr sz="1600" b="0" i="0">
                <a:solidFill>
                  <a:srgbClr val="6A5E51"/>
                </a:solidFill>
                <a:latin typeface="Calibri"/>
              </a:rPr>
              <a:t>Own formats and logins. Some listings are claimed by others, and some edits wait for a moderator.</a:t>
            </a:r>
          </a:p>
        </p:txBody>
      </p:sp>
      <p:sp>
        <p:nvSpPr>
          <p:cNvPr id="33" name="Rounded Rectangle 32"/>
          <p:cNvSpPr/>
          <p:nvPr/>
        </p:nvSpPr>
        <p:spPr>
          <a:xfrm>
            <a:off x="8046719" y="4526280"/>
            <a:ext cx="3593592" cy="1737360"/>
          </a:xfrm>
          <a:prstGeom prst="roundRect">
            <a:avLst>
              <a:gd name="adj" fmla="val 3157"/>
            </a:avLst>
          </a:prstGeom>
          <a:solidFill>
            <a:srgbClr val="FBF8F1"/>
          </a:solidFill>
          <a:ln w="9525">
            <a:solidFill>
              <a:srgbClr val="E2D8C6"/>
            </a:solidFill>
          </a:ln>
          <a:effectLst/>
        </p:spPr>
        <p:txBody>
          <a:bodyPr rtlCol="0" anchor="ctr"/>
          <a:lstStyle/>
          <a:p>
            <a:pPr algn="ctr"/>
          </a:p>
        </p:txBody>
      </p:sp>
      <p:sp>
        <p:nvSpPr>
          <p:cNvPr id="34" name="TextBox 33"/>
          <p:cNvSpPr txBox="1"/>
          <p:nvPr/>
        </p:nvSpPr>
        <p:spPr>
          <a:xfrm>
            <a:off x="8211311" y="4690872"/>
            <a:ext cx="3264408" cy="292608"/>
          </a:xfrm>
          <a:prstGeom prst="rect">
            <a:avLst/>
          </a:prstGeom>
          <a:noFill/>
        </p:spPr>
        <p:txBody>
          <a:bodyPr wrap="square" lIns="0" rIns="0" tIns="0" bIns="0" anchor="t">
            <a:spAutoFit/>
          </a:bodyPr>
          <a:lstStyle/>
          <a:p>
            <a:pPr algn="l">
              <a:lnSpc>
                <a:spcPct val="100000"/>
              </a:lnSpc>
            </a:pPr>
            <a:r>
              <a:rPr sz="1800" b="1" i="0">
                <a:solidFill>
                  <a:srgbClr val="3A312A"/>
                </a:solidFill>
                <a:latin typeface="Calibri"/>
              </a:rPr>
              <a:t>Nobody checks afterwards</a:t>
            </a:r>
          </a:p>
        </p:txBody>
      </p:sp>
      <p:sp>
        <p:nvSpPr>
          <p:cNvPr id="35" name="TextBox 34"/>
          <p:cNvSpPr txBox="1"/>
          <p:nvPr/>
        </p:nvSpPr>
        <p:spPr>
          <a:xfrm>
            <a:off x="8211311" y="5029200"/>
            <a:ext cx="3264408" cy="1135684"/>
          </a:xfrm>
          <a:prstGeom prst="rect">
            <a:avLst/>
          </a:prstGeom>
          <a:noFill/>
        </p:spPr>
        <p:txBody>
          <a:bodyPr wrap="square" lIns="0" rIns="0" tIns="0" bIns="0" anchor="t">
            <a:spAutoFit/>
          </a:bodyPr>
          <a:lstStyle/>
          <a:p>
            <a:pPr algn="l">
              <a:lnSpc>
                <a:spcPct val="100000"/>
              </a:lnSpc>
            </a:pPr>
            <a:r>
              <a:rPr sz="1600" b="0" i="0">
                <a:solidFill>
                  <a:srgbClr val="6A5E51"/>
                </a:solidFill>
                <a:latin typeface="Calibri"/>
              </a:rPr>
              <a:t>Drift returns silently. And a bot that edits freely is worse than no bot.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EE3"/>
        </a:solidFill>
        <a:effectLst/>
      </p:bgPr>
    </p:bg>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pPr>
            <a:r>
              <a:rPr sz="1300" b="1" i="0" spc="140">
                <a:solidFill>
                  <a:srgbClr val="B8561F"/>
                </a:solidFill>
                <a:latin typeface="Calibri"/>
              </a:rPr>
              <a:t>2  ·  OUR SOLUTION</a:t>
            </a:r>
          </a:p>
        </p:txBody>
      </p:sp>
      <p:sp>
        <p:nvSpPr>
          <p:cNvPr id="3" name="TextBox 2"/>
          <p:cNvSpPr txBox="1"/>
          <p:nvPr/>
        </p:nvSpPr>
        <p:spPr>
          <a:xfrm>
            <a:off x="548640" y="621792"/>
            <a:ext cx="11094415" cy="640080"/>
          </a:xfrm>
          <a:prstGeom prst="rect">
            <a:avLst/>
          </a:prstGeom>
          <a:noFill/>
        </p:spPr>
        <p:txBody>
          <a:bodyPr wrap="square" lIns="0" rIns="0" tIns="0" bIns="0" anchor="t">
            <a:spAutoFit/>
          </a:bodyPr>
          <a:lstStyle/>
          <a:p>
            <a:pPr algn="l">
              <a:lnSpc>
                <a:spcPct val="100000"/>
              </a:lnSpc>
            </a:pPr>
            <a:r>
              <a:rPr sz="3000" b="1" i="0">
                <a:solidFill>
                  <a:srgbClr val="3A312A"/>
                </a:solidFill>
                <a:latin typeface="Cambria"/>
              </a:rPr>
              <a:t>Tell us the truth once. The agent keeps every site honest.</a:t>
            </a:r>
          </a:p>
        </p:txBody>
      </p:sp>
      <p:sp>
        <p:nvSpPr>
          <p:cNvPr id="4" name="TextBox 3"/>
          <p:cNvSpPr txBox="1"/>
          <p:nvPr/>
        </p:nvSpPr>
        <p:spPr>
          <a:xfrm>
            <a:off x="548640" y="6473952"/>
            <a:ext cx="7315200" cy="22860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Business Listing Consistency Agent  ·  Agentic AI Hackathon 2026</a:t>
            </a:r>
          </a:p>
        </p:txBody>
      </p:sp>
      <p:sp>
        <p:nvSpPr>
          <p:cNvPr id="5" name="TextBox 4"/>
          <p:cNvSpPr txBox="1"/>
          <p:nvPr/>
        </p:nvSpPr>
        <p:spPr>
          <a:xfrm>
            <a:off x="10728655" y="6473952"/>
            <a:ext cx="914400" cy="228600"/>
          </a:xfrm>
          <a:prstGeom prst="rect">
            <a:avLst/>
          </a:prstGeom>
          <a:noFill/>
        </p:spPr>
        <p:txBody>
          <a:bodyPr wrap="square" lIns="0" rIns="0" tIns="0" bIns="0" anchor="t">
            <a:spAutoFit/>
          </a:bodyPr>
          <a:lstStyle/>
          <a:p>
            <a:pPr algn="r">
              <a:lnSpc>
                <a:spcPct val="100000"/>
              </a:lnSpc>
            </a:pPr>
            <a:r>
              <a:rPr sz="1100" b="0" i="0">
                <a:solidFill>
                  <a:srgbClr val="6A5E51"/>
                </a:solidFill>
                <a:latin typeface="Calibri"/>
              </a:rPr>
              <a:t>3</a:t>
            </a:r>
          </a:p>
        </p:txBody>
      </p:sp>
      <p:sp>
        <p:nvSpPr>
          <p:cNvPr id="6" name="Rounded Rectangle 5"/>
          <p:cNvSpPr/>
          <p:nvPr/>
        </p:nvSpPr>
        <p:spPr>
          <a:xfrm>
            <a:off x="548640" y="1554480"/>
            <a:ext cx="5212080" cy="1078992"/>
          </a:xfrm>
          <a:prstGeom prst="roundRect">
            <a:avLst>
              <a:gd name="adj" fmla="val 5084"/>
            </a:avLst>
          </a:prstGeom>
          <a:solidFill>
            <a:srgbClr val="FBF8F1"/>
          </a:solidFill>
          <a:ln w="9525">
            <a:solidFill>
              <a:srgbClr val="E2D8C6"/>
            </a:solidFill>
          </a:ln>
          <a:effectLst/>
        </p:spPr>
        <p:txBody>
          <a:bodyPr rtlCol="0" anchor="ctr"/>
          <a:lstStyle/>
          <a:p>
            <a:pPr algn="ctr"/>
          </a:p>
        </p:txBody>
      </p:sp>
      <p:sp>
        <p:nvSpPr>
          <p:cNvPr id="7" name="Oval 6"/>
          <p:cNvSpPr/>
          <p:nvPr/>
        </p:nvSpPr>
        <p:spPr>
          <a:xfrm>
            <a:off x="731520" y="1819656"/>
            <a:ext cx="548640" cy="548640"/>
          </a:xfrm>
          <a:prstGeom prst="ellipse">
            <a:avLst/>
          </a:prstGeom>
          <a:solidFill>
            <a:srgbClr val="54733F"/>
          </a:solidFill>
          <a:ln>
            <a:noFill/>
          </a:ln>
          <a:effectLst/>
        </p:spPr>
        <p:txBody>
          <a:bodyPr rtlCol="0" anchor="ctr"/>
          <a:lstStyle/>
          <a:p>
            <a:pPr algn="ctr"/>
          </a:p>
        </p:txBody>
      </p:sp>
      <p:sp>
        <p:nvSpPr>
          <p:cNvPr id="8" name="TextBox 7"/>
          <p:cNvSpPr txBox="1"/>
          <p:nvPr/>
        </p:nvSpPr>
        <p:spPr>
          <a:xfrm>
            <a:off x="731520" y="1819656"/>
            <a:ext cx="548640" cy="548640"/>
          </a:xfrm>
          <a:prstGeom prst="rect">
            <a:avLst/>
          </a:prstGeom>
          <a:noFill/>
        </p:spPr>
        <p:txBody>
          <a:bodyPr wrap="square" lIns="0" rIns="0" tIns="0" bIns="0" anchor="ctr">
            <a:spAutoFit/>
          </a:bodyPr>
          <a:lstStyle/>
          <a:p>
            <a:pPr algn="ctr">
              <a:lnSpc>
                <a:spcPct val="100000"/>
              </a:lnSpc>
            </a:pPr>
            <a:r>
              <a:rPr sz="2200" b="1" i="0">
                <a:solidFill>
                  <a:srgbClr val="FBF8F1"/>
                </a:solidFill>
                <a:latin typeface="Cambria"/>
              </a:rPr>
              <a:t>1</a:t>
            </a:r>
          </a:p>
        </p:txBody>
      </p:sp>
      <p:sp>
        <p:nvSpPr>
          <p:cNvPr id="9" name="TextBox 8"/>
          <p:cNvSpPr txBox="1"/>
          <p:nvPr/>
        </p:nvSpPr>
        <p:spPr>
          <a:xfrm>
            <a:off x="1508760" y="1673352"/>
            <a:ext cx="4114800" cy="310896"/>
          </a:xfrm>
          <a:prstGeom prst="rect">
            <a:avLst/>
          </a:prstGeom>
          <a:noFill/>
        </p:spPr>
        <p:txBody>
          <a:bodyPr wrap="square" lIns="0" rIns="0" tIns="0" bIns="0" anchor="t">
            <a:spAutoFit/>
          </a:bodyPr>
          <a:lstStyle/>
          <a:p>
            <a:pPr algn="l">
              <a:lnSpc>
                <a:spcPct val="100000"/>
              </a:lnSpc>
            </a:pPr>
            <a:r>
              <a:rPr sz="1800" b="1" i="0">
                <a:solidFill>
                  <a:srgbClr val="3A312A"/>
                </a:solidFill>
                <a:latin typeface="Calibri"/>
              </a:rPr>
              <a:t>Scan</a:t>
            </a:r>
          </a:p>
        </p:txBody>
      </p:sp>
      <p:sp>
        <p:nvSpPr>
          <p:cNvPr id="10" name="TextBox 9"/>
          <p:cNvSpPr txBox="1"/>
          <p:nvPr/>
        </p:nvSpPr>
        <p:spPr>
          <a:xfrm>
            <a:off x="1508760" y="2029967"/>
            <a:ext cx="4114800" cy="566928"/>
          </a:xfrm>
          <a:prstGeom prst="rect">
            <a:avLst/>
          </a:prstGeom>
          <a:noFill/>
        </p:spPr>
        <p:txBody>
          <a:bodyPr wrap="square" lIns="0" rIns="0" tIns="0" bIns="0" anchor="t">
            <a:spAutoFit/>
          </a:bodyPr>
          <a:lstStyle/>
          <a:p>
            <a:pPr algn="l">
              <a:lnSpc>
                <a:spcPct val="100000"/>
              </a:lnSpc>
            </a:pPr>
            <a:r>
              <a:rPr sz="1450" b="0" i="0">
                <a:solidFill>
                  <a:srgbClr val="6A5E51"/>
                </a:solidFill>
                <a:latin typeface="Calibri"/>
              </a:rPr>
              <a:t>Reads every site and compares meaning, not formatting.</a:t>
            </a:r>
          </a:p>
        </p:txBody>
      </p:sp>
      <p:sp>
        <p:nvSpPr>
          <p:cNvPr id="11" name="Rounded Rectangle 10"/>
          <p:cNvSpPr/>
          <p:nvPr/>
        </p:nvSpPr>
        <p:spPr>
          <a:xfrm>
            <a:off x="548640" y="2743200"/>
            <a:ext cx="5212080" cy="1078992"/>
          </a:xfrm>
          <a:prstGeom prst="roundRect">
            <a:avLst>
              <a:gd name="adj" fmla="val 5084"/>
            </a:avLst>
          </a:prstGeom>
          <a:solidFill>
            <a:srgbClr val="FBF8F1"/>
          </a:solidFill>
          <a:ln w="9525">
            <a:solidFill>
              <a:srgbClr val="E2D8C6"/>
            </a:solidFill>
          </a:ln>
          <a:effectLst/>
        </p:spPr>
        <p:txBody>
          <a:bodyPr rtlCol="0" anchor="ctr"/>
          <a:lstStyle/>
          <a:p>
            <a:pPr algn="ctr"/>
          </a:p>
        </p:txBody>
      </p:sp>
      <p:sp>
        <p:nvSpPr>
          <p:cNvPr id="12" name="Oval 11"/>
          <p:cNvSpPr/>
          <p:nvPr/>
        </p:nvSpPr>
        <p:spPr>
          <a:xfrm>
            <a:off x="731520" y="3008376"/>
            <a:ext cx="548640" cy="548640"/>
          </a:xfrm>
          <a:prstGeom prst="ellipse">
            <a:avLst/>
          </a:prstGeom>
          <a:solidFill>
            <a:srgbClr val="54733F"/>
          </a:solidFill>
          <a:ln>
            <a:noFill/>
          </a:ln>
          <a:effectLst/>
        </p:spPr>
        <p:txBody>
          <a:bodyPr rtlCol="0" anchor="ctr"/>
          <a:lstStyle/>
          <a:p>
            <a:pPr algn="ctr"/>
          </a:p>
        </p:txBody>
      </p:sp>
      <p:sp>
        <p:nvSpPr>
          <p:cNvPr id="13" name="TextBox 12"/>
          <p:cNvSpPr txBox="1"/>
          <p:nvPr/>
        </p:nvSpPr>
        <p:spPr>
          <a:xfrm>
            <a:off x="731520" y="3008376"/>
            <a:ext cx="548640" cy="548640"/>
          </a:xfrm>
          <a:prstGeom prst="rect">
            <a:avLst/>
          </a:prstGeom>
          <a:noFill/>
        </p:spPr>
        <p:txBody>
          <a:bodyPr wrap="square" lIns="0" rIns="0" tIns="0" bIns="0" anchor="ctr">
            <a:spAutoFit/>
          </a:bodyPr>
          <a:lstStyle/>
          <a:p>
            <a:pPr algn="ctr">
              <a:lnSpc>
                <a:spcPct val="100000"/>
              </a:lnSpc>
            </a:pPr>
            <a:r>
              <a:rPr sz="2200" b="1" i="0">
                <a:solidFill>
                  <a:srgbClr val="FBF8F1"/>
                </a:solidFill>
                <a:latin typeface="Cambria"/>
              </a:rPr>
              <a:t>2</a:t>
            </a:r>
          </a:p>
        </p:txBody>
      </p:sp>
      <p:sp>
        <p:nvSpPr>
          <p:cNvPr id="14" name="TextBox 13"/>
          <p:cNvSpPr txBox="1"/>
          <p:nvPr/>
        </p:nvSpPr>
        <p:spPr>
          <a:xfrm>
            <a:off x="1508760" y="2862072"/>
            <a:ext cx="4114800" cy="310896"/>
          </a:xfrm>
          <a:prstGeom prst="rect">
            <a:avLst/>
          </a:prstGeom>
          <a:noFill/>
        </p:spPr>
        <p:txBody>
          <a:bodyPr wrap="square" lIns="0" rIns="0" tIns="0" bIns="0" anchor="t">
            <a:spAutoFit/>
          </a:bodyPr>
          <a:lstStyle/>
          <a:p>
            <a:pPr algn="l">
              <a:lnSpc>
                <a:spcPct val="100000"/>
              </a:lnSpc>
            </a:pPr>
            <a:r>
              <a:rPr sz="1800" b="1" i="0">
                <a:solidFill>
                  <a:srgbClr val="3A312A"/>
                </a:solidFill>
                <a:latin typeface="Calibri"/>
              </a:rPr>
              <a:t>Review</a:t>
            </a:r>
          </a:p>
        </p:txBody>
      </p:sp>
      <p:sp>
        <p:nvSpPr>
          <p:cNvPr id="15" name="TextBox 14"/>
          <p:cNvSpPr txBox="1"/>
          <p:nvPr/>
        </p:nvSpPr>
        <p:spPr>
          <a:xfrm>
            <a:off x="1508760" y="3218688"/>
            <a:ext cx="4114800" cy="566928"/>
          </a:xfrm>
          <a:prstGeom prst="rect">
            <a:avLst/>
          </a:prstGeom>
          <a:noFill/>
        </p:spPr>
        <p:txBody>
          <a:bodyPr wrap="square" lIns="0" rIns="0" tIns="0" bIns="0" anchor="t">
            <a:spAutoFit/>
          </a:bodyPr>
          <a:lstStyle/>
          <a:p>
            <a:pPr algn="l">
              <a:lnSpc>
                <a:spcPct val="100000"/>
              </a:lnSpc>
            </a:pPr>
            <a:r>
              <a:rPr sz="1450" b="0" i="0">
                <a:solidFill>
                  <a:srgbClr val="6A5E51"/>
                </a:solidFill>
                <a:latin typeface="Calibri"/>
              </a:rPr>
              <a:t>You approve or reject each fix. The reason is shown.</a:t>
            </a:r>
          </a:p>
        </p:txBody>
      </p:sp>
      <p:sp>
        <p:nvSpPr>
          <p:cNvPr id="16" name="Rounded Rectangle 15"/>
          <p:cNvSpPr/>
          <p:nvPr/>
        </p:nvSpPr>
        <p:spPr>
          <a:xfrm>
            <a:off x="548640" y="3931920"/>
            <a:ext cx="5212080" cy="1078992"/>
          </a:xfrm>
          <a:prstGeom prst="roundRect">
            <a:avLst>
              <a:gd name="adj" fmla="val 5084"/>
            </a:avLst>
          </a:prstGeom>
          <a:solidFill>
            <a:srgbClr val="FBF8F1"/>
          </a:solidFill>
          <a:ln w="9525">
            <a:solidFill>
              <a:srgbClr val="E2D8C6"/>
            </a:solidFill>
          </a:ln>
          <a:effectLst/>
        </p:spPr>
        <p:txBody>
          <a:bodyPr rtlCol="0" anchor="ctr"/>
          <a:lstStyle/>
          <a:p>
            <a:pPr algn="ctr"/>
          </a:p>
        </p:txBody>
      </p:sp>
      <p:sp>
        <p:nvSpPr>
          <p:cNvPr id="17" name="Oval 16"/>
          <p:cNvSpPr/>
          <p:nvPr/>
        </p:nvSpPr>
        <p:spPr>
          <a:xfrm>
            <a:off x="731520" y="4197096"/>
            <a:ext cx="548640" cy="548640"/>
          </a:xfrm>
          <a:prstGeom prst="ellipse">
            <a:avLst/>
          </a:prstGeom>
          <a:solidFill>
            <a:srgbClr val="54733F"/>
          </a:solidFill>
          <a:ln>
            <a:noFill/>
          </a:ln>
          <a:effectLst/>
        </p:spPr>
        <p:txBody>
          <a:bodyPr rtlCol="0" anchor="ctr"/>
          <a:lstStyle/>
          <a:p>
            <a:pPr algn="ctr"/>
          </a:p>
        </p:txBody>
      </p:sp>
      <p:sp>
        <p:nvSpPr>
          <p:cNvPr id="18" name="TextBox 17"/>
          <p:cNvSpPr txBox="1"/>
          <p:nvPr/>
        </p:nvSpPr>
        <p:spPr>
          <a:xfrm>
            <a:off x="731520" y="4197096"/>
            <a:ext cx="548640" cy="548640"/>
          </a:xfrm>
          <a:prstGeom prst="rect">
            <a:avLst/>
          </a:prstGeom>
          <a:noFill/>
        </p:spPr>
        <p:txBody>
          <a:bodyPr wrap="square" lIns="0" rIns="0" tIns="0" bIns="0" anchor="ctr">
            <a:spAutoFit/>
          </a:bodyPr>
          <a:lstStyle/>
          <a:p>
            <a:pPr algn="ctr">
              <a:lnSpc>
                <a:spcPct val="100000"/>
              </a:lnSpc>
            </a:pPr>
            <a:r>
              <a:rPr sz="2200" b="1" i="0">
                <a:solidFill>
                  <a:srgbClr val="FBF8F1"/>
                </a:solidFill>
                <a:latin typeface="Cambria"/>
              </a:rPr>
              <a:t>3</a:t>
            </a:r>
          </a:p>
        </p:txBody>
      </p:sp>
      <p:sp>
        <p:nvSpPr>
          <p:cNvPr id="19" name="TextBox 18"/>
          <p:cNvSpPr txBox="1"/>
          <p:nvPr/>
        </p:nvSpPr>
        <p:spPr>
          <a:xfrm>
            <a:off x="1508760" y="4050791"/>
            <a:ext cx="4114800" cy="310896"/>
          </a:xfrm>
          <a:prstGeom prst="rect">
            <a:avLst/>
          </a:prstGeom>
          <a:noFill/>
        </p:spPr>
        <p:txBody>
          <a:bodyPr wrap="square" lIns="0" rIns="0" tIns="0" bIns="0" anchor="t">
            <a:spAutoFit/>
          </a:bodyPr>
          <a:lstStyle/>
          <a:p>
            <a:pPr algn="l">
              <a:lnSpc>
                <a:spcPct val="100000"/>
              </a:lnSpc>
            </a:pPr>
            <a:r>
              <a:rPr sz="1800" b="1" i="0">
                <a:solidFill>
                  <a:srgbClr val="3A312A"/>
                </a:solidFill>
                <a:latin typeface="Calibri"/>
              </a:rPr>
              <a:t>Apply</a:t>
            </a:r>
          </a:p>
        </p:txBody>
      </p:sp>
      <p:sp>
        <p:nvSpPr>
          <p:cNvPr id="20" name="TextBox 19"/>
          <p:cNvSpPr txBox="1"/>
          <p:nvPr/>
        </p:nvSpPr>
        <p:spPr>
          <a:xfrm>
            <a:off x="1508760" y="4407408"/>
            <a:ext cx="4114800" cy="566928"/>
          </a:xfrm>
          <a:prstGeom prst="rect">
            <a:avLst/>
          </a:prstGeom>
          <a:noFill/>
        </p:spPr>
        <p:txBody>
          <a:bodyPr wrap="square" lIns="0" rIns="0" tIns="0" bIns="0" anchor="t">
            <a:spAutoFit/>
          </a:bodyPr>
          <a:lstStyle/>
          <a:p>
            <a:pPr algn="l">
              <a:lnSpc>
                <a:spcPct val="100000"/>
              </a:lnSpc>
            </a:pPr>
            <a:r>
              <a:rPr sz="1450" b="0" i="0">
                <a:solidFill>
                  <a:srgbClr val="6A5E51"/>
                </a:solidFill>
                <a:latin typeface="Calibri"/>
              </a:rPr>
              <a:t>Only approved changes are sent, never to a listing you do not own.</a:t>
            </a:r>
          </a:p>
        </p:txBody>
      </p:sp>
      <p:sp>
        <p:nvSpPr>
          <p:cNvPr id="21" name="Rounded Rectangle 20"/>
          <p:cNvSpPr/>
          <p:nvPr/>
        </p:nvSpPr>
        <p:spPr>
          <a:xfrm>
            <a:off x="548640" y="5120640"/>
            <a:ext cx="5212080" cy="1078992"/>
          </a:xfrm>
          <a:prstGeom prst="roundRect">
            <a:avLst>
              <a:gd name="adj" fmla="val 5084"/>
            </a:avLst>
          </a:prstGeom>
          <a:solidFill>
            <a:srgbClr val="FBF8F1"/>
          </a:solidFill>
          <a:ln w="9525">
            <a:solidFill>
              <a:srgbClr val="E2D8C6"/>
            </a:solidFill>
          </a:ln>
          <a:effectLst/>
        </p:spPr>
        <p:txBody>
          <a:bodyPr rtlCol="0" anchor="ctr"/>
          <a:lstStyle/>
          <a:p>
            <a:pPr algn="ctr"/>
          </a:p>
        </p:txBody>
      </p:sp>
      <p:sp>
        <p:nvSpPr>
          <p:cNvPr id="22" name="Oval 21"/>
          <p:cNvSpPr/>
          <p:nvPr/>
        </p:nvSpPr>
        <p:spPr>
          <a:xfrm>
            <a:off x="731520" y="5385816"/>
            <a:ext cx="548640" cy="548640"/>
          </a:xfrm>
          <a:prstGeom prst="ellipse">
            <a:avLst/>
          </a:prstGeom>
          <a:solidFill>
            <a:srgbClr val="54733F"/>
          </a:solidFill>
          <a:ln>
            <a:noFill/>
          </a:ln>
          <a:effectLst/>
        </p:spPr>
        <p:txBody>
          <a:bodyPr rtlCol="0" anchor="ctr"/>
          <a:lstStyle/>
          <a:p>
            <a:pPr algn="ctr"/>
          </a:p>
        </p:txBody>
      </p:sp>
      <p:sp>
        <p:nvSpPr>
          <p:cNvPr id="23" name="TextBox 22"/>
          <p:cNvSpPr txBox="1"/>
          <p:nvPr/>
        </p:nvSpPr>
        <p:spPr>
          <a:xfrm>
            <a:off x="731520" y="5385816"/>
            <a:ext cx="548640" cy="548640"/>
          </a:xfrm>
          <a:prstGeom prst="rect">
            <a:avLst/>
          </a:prstGeom>
          <a:noFill/>
        </p:spPr>
        <p:txBody>
          <a:bodyPr wrap="square" lIns="0" rIns="0" tIns="0" bIns="0" anchor="ctr">
            <a:spAutoFit/>
          </a:bodyPr>
          <a:lstStyle/>
          <a:p>
            <a:pPr algn="ctr">
              <a:lnSpc>
                <a:spcPct val="100000"/>
              </a:lnSpc>
            </a:pPr>
            <a:r>
              <a:rPr sz="2200" b="1" i="0">
                <a:solidFill>
                  <a:srgbClr val="FBF8F1"/>
                </a:solidFill>
                <a:latin typeface="Cambria"/>
              </a:rPr>
              <a:t>4</a:t>
            </a:r>
          </a:p>
        </p:txBody>
      </p:sp>
      <p:sp>
        <p:nvSpPr>
          <p:cNvPr id="24" name="TextBox 23"/>
          <p:cNvSpPr txBox="1"/>
          <p:nvPr/>
        </p:nvSpPr>
        <p:spPr>
          <a:xfrm>
            <a:off x="1508760" y="5239512"/>
            <a:ext cx="4114800" cy="310896"/>
          </a:xfrm>
          <a:prstGeom prst="rect">
            <a:avLst/>
          </a:prstGeom>
          <a:noFill/>
        </p:spPr>
        <p:txBody>
          <a:bodyPr wrap="square" lIns="0" rIns="0" tIns="0" bIns="0" anchor="t">
            <a:spAutoFit/>
          </a:bodyPr>
          <a:lstStyle/>
          <a:p>
            <a:pPr algn="l">
              <a:lnSpc>
                <a:spcPct val="100000"/>
              </a:lnSpc>
            </a:pPr>
            <a:r>
              <a:rPr sz="1800" b="1" i="0">
                <a:solidFill>
                  <a:srgbClr val="3A312A"/>
                </a:solidFill>
                <a:latin typeface="Calibri"/>
              </a:rPr>
              <a:t>Verify</a:t>
            </a:r>
          </a:p>
        </p:txBody>
      </p:sp>
      <p:sp>
        <p:nvSpPr>
          <p:cNvPr id="25" name="TextBox 24"/>
          <p:cNvSpPr txBox="1"/>
          <p:nvPr/>
        </p:nvSpPr>
        <p:spPr>
          <a:xfrm>
            <a:off x="1508760" y="5596128"/>
            <a:ext cx="4114800" cy="566928"/>
          </a:xfrm>
          <a:prstGeom prst="rect">
            <a:avLst/>
          </a:prstGeom>
          <a:noFill/>
        </p:spPr>
        <p:txBody>
          <a:bodyPr wrap="square" lIns="0" rIns="0" tIns="0" bIns="0" anchor="t">
            <a:spAutoFit/>
          </a:bodyPr>
          <a:lstStyle/>
          <a:p>
            <a:pPr algn="l">
              <a:lnSpc>
                <a:spcPct val="100000"/>
              </a:lnSpc>
            </a:pPr>
            <a:r>
              <a:rPr sz="1450" b="0" i="0">
                <a:solidFill>
                  <a:srgbClr val="6A5E51"/>
                </a:solidFill>
                <a:latin typeface="Calibri"/>
              </a:rPr>
              <a:t>Reloads the page. VERIFIED only if the value is really there.</a:t>
            </a:r>
          </a:p>
        </p:txBody>
      </p:sp>
      <p:pic>
        <p:nvPicPr>
          <p:cNvPr id="26" name="Picture 25" descr="Approvals screen: a proposed fix with what the listing shows, what the record says, and the reason"/>
          <p:cNvPicPr>
            <a:picLocks noChangeAspect="1"/>
          </p:cNvPicPr>
          <p:nvPr/>
        </p:nvPicPr>
        <p:blipFill>
          <a:blip r:embed="rId2"/>
          <a:stretch>
            <a:fillRect/>
          </a:stretch>
        </p:blipFill>
        <p:spPr>
          <a:xfrm>
            <a:off x="6035040" y="1554480"/>
            <a:ext cx="5605272" cy="2258594"/>
          </a:xfrm>
          <a:prstGeom prst="rect">
            <a:avLst/>
          </a:prstGeom>
          <a:ln w="9525">
            <a:solidFill>
              <a:srgbClr val="E2D8C6"/>
            </a:solidFill>
          </a:ln>
        </p:spPr>
      </p:pic>
      <p:sp>
        <p:nvSpPr>
          <p:cNvPr id="27" name="Rounded Rectangle 26"/>
          <p:cNvSpPr/>
          <p:nvPr/>
        </p:nvSpPr>
        <p:spPr>
          <a:xfrm>
            <a:off x="6035040" y="3995954"/>
            <a:ext cx="5605272" cy="2267685"/>
          </a:xfrm>
          <a:prstGeom prst="roundRect">
            <a:avLst>
              <a:gd name="adj" fmla="val 2419"/>
            </a:avLst>
          </a:prstGeom>
          <a:solidFill>
            <a:srgbClr val="FBF8F1"/>
          </a:solidFill>
          <a:ln w="9525">
            <a:solidFill>
              <a:srgbClr val="E2D8C6"/>
            </a:solidFill>
          </a:ln>
          <a:effectLst/>
        </p:spPr>
        <p:txBody>
          <a:bodyPr rtlCol="0" anchor="ctr"/>
          <a:lstStyle/>
          <a:p>
            <a:pPr algn="ctr"/>
          </a:p>
        </p:txBody>
      </p:sp>
      <p:sp>
        <p:nvSpPr>
          <p:cNvPr id="28" name="TextBox 27"/>
          <p:cNvSpPr txBox="1"/>
          <p:nvPr/>
        </p:nvSpPr>
        <p:spPr>
          <a:xfrm>
            <a:off x="6199631" y="4160546"/>
            <a:ext cx="5276088" cy="292608"/>
          </a:xfrm>
          <a:prstGeom prst="rect">
            <a:avLst/>
          </a:prstGeom>
          <a:noFill/>
        </p:spPr>
        <p:txBody>
          <a:bodyPr wrap="square" lIns="0" rIns="0" tIns="0" bIns="0" anchor="t">
            <a:spAutoFit/>
          </a:bodyPr>
          <a:lstStyle/>
          <a:p>
            <a:pPr algn="l">
              <a:lnSpc>
                <a:spcPct val="100000"/>
              </a:lnSpc>
            </a:pPr>
            <a:r>
              <a:rPr sz="1800" b="1" i="0">
                <a:solidFill>
                  <a:srgbClr val="3A312A"/>
                </a:solidFill>
                <a:latin typeface="Calibri"/>
              </a:rPr>
              <a:t>Who it helps</a:t>
            </a:r>
          </a:p>
        </p:txBody>
      </p:sp>
      <p:sp>
        <p:nvSpPr>
          <p:cNvPr id="29" name="TextBox 28"/>
          <p:cNvSpPr txBox="1"/>
          <p:nvPr/>
        </p:nvSpPr>
        <p:spPr>
          <a:xfrm>
            <a:off x="6199631" y="4498874"/>
            <a:ext cx="5276088" cy="1666009"/>
          </a:xfrm>
          <a:prstGeom prst="rect">
            <a:avLst/>
          </a:prstGeom>
          <a:noFill/>
        </p:spPr>
        <p:txBody>
          <a:bodyPr wrap="square" lIns="0" rIns="0" tIns="0" bIns="0" anchor="t">
            <a:spAutoFit/>
          </a:bodyPr>
          <a:lstStyle/>
          <a:p>
            <a:pPr algn="l" marL="155448" indent="-155448">
              <a:lnSpc>
                <a:spcPct val="100000"/>
              </a:lnSpc>
              <a:spcAft>
                <a:spcPts val="800"/>
              </a:spcAft>
              <a:buChar char="•"/>
            </a:pPr>
            <a:r>
              <a:rPr sz="1650" b="0" i="0">
                <a:solidFill>
                  <a:srgbClr val="6A5E51"/>
                </a:solidFill>
                <a:latin typeface="Calibri"/>
              </a:rPr>
              <a:t>Busy owners of local shops</a:t>
            </a:r>
          </a:p>
          <a:p>
            <a:pPr algn="l" marL="155448" indent="-155448">
              <a:lnSpc>
                <a:spcPct val="100000"/>
              </a:lnSpc>
              <a:spcAft>
                <a:spcPts val="800"/>
              </a:spcAft>
              <a:buChar char="•"/>
            </a:pPr>
            <a:r>
              <a:rPr sz="1650" b="0" i="0">
                <a:solidFill>
                  <a:srgbClr val="6A5E51"/>
                </a:solidFill>
                <a:latin typeface="Calibri"/>
              </a:rPr>
              <a:t>Owners with more than one business</a:t>
            </a:r>
          </a:p>
          <a:p>
            <a:pPr algn="l" marL="155448" indent="-155448">
              <a:lnSpc>
                <a:spcPct val="100000"/>
              </a:lnSpc>
              <a:buChar char="•"/>
            </a:pPr>
            <a:r>
              <a:rPr sz="1650" b="0" i="0">
                <a:solidFill>
                  <a:srgbClr val="6A5E51"/>
                </a:solidFill>
                <a:latin typeface="Calibri"/>
              </a:rPr>
              <a:t>New owners: found, and added where missing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EE3"/>
        </a:solidFill>
        <a:effectLst/>
      </p:bgPr>
    </p:bg>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pPr>
            <a:r>
              <a:rPr sz="1300" b="1" i="0" spc="140">
                <a:solidFill>
                  <a:srgbClr val="B8561F"/>
                </a:solidFill>
                <a:latin typeface="Calibri"/>
              </a:rPr>
              <a:t>3  ·  THE AGENTIC AI</a:t>
            </a:r>
          </a:p>
        </p:txBody>
      </p:sp>
      <p:sp>
        <p:nvSpPr>
          <p:cNvPr id="3" name="TextBox 2"/>
          <p:cNvSpPr txBox="1"/>
          <p:nvPr/>
        </p:nvSpPr>
        <p:spPr>
          <a:xfrm>
            <a:off x="548640" y="621792"/>
            <a:ext cx="11094415" cy="640080"/>
          </a:xfrm>
          <a:prstGeom prst="rect">
            <a:avLst/>
          </a:prstGeom>
          <a:noFill/>
        </p:spPr>
        <p:txBody>
          <a:bodyPr wrap="square" lIns="0" rIns="0" tIns="0" bIns="0" anchor="t">
            <a:spAutoFit/>
          </a:bodyPr>
          <a:lstStyle/>
          <a:p>
            <a:pPr algn="l">
              <a:lnSpc>
                <a:spcPct val="100000"/>
              </a:lnSpc>
            </a:pPr>
            <a:r>
              <a:rPr sz="3000" b="1" i="0">
                <a:solidFill>
                  <a:srgbClr val="3A312A"/>
                </a:solidFill>
                <a:latin typeface="Cambria"/>
              </a:rPr>
              <a:t>A goal-driven loop, not a chat box</a:t>
            </a:r>
          </a:p>
        </p:txBody>
      </p:sp>
      <p:sp>
        <p:nvSpPr>
          <p:cNvPr id="4" name="TextBox 3"/>
          <p:cNvSpPr txBox="1"/>
          <p:nvPr/>
        </p:nvSpPr>
        <p:spPr>
          <a:xfrm>
            <a:off x="548640" y="6473952"/>
            <a:ext cx="7315200" cy="22860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Business Listing Consistency Agent  ·  Agentic AI Hackathon 2026</a:t>
            </a:r>
          </a:p>
        </p:txBody>
      </p:sp>
      <p:sp>
        <p:nvSpPr>
          <p:cNvPr id="5" name="TextBox 4"/>
          <p:cNvSpPr txBox="1"/>
          <p:nvPr/>
        </p:nvSpPr>
        <p:spPr>
          <a:xfrm>
            <a:off x="10728655" y="6473952"/>
            <a:ext cx="914400" cy="228600"/>
          </a:xfrm>
          <a:prstGeom prst="rect">
            <a:avLst/>
          </a:prstGeom>
          <a:noFill/>
        </p:spPr>
        <p:txBody>
          <a:bodyPr wrap="square" lIns="0" rIns="0" tIns="0" bIns="0" anchor="t">
            <a:spAutoFit/>
          </a:bodyPr>
          <a:lstStyle/>
          <a:p>
            <a:pPr algn="r">
              <a:lnSpc>
                <a:spcPct val="100000"/>
              </a:lnSpc>
            </a:pPr>
            <a:r>
              <a:rPr sz="1100" b="0" i="0">
                <a:solidFill>
                  <a:srgbClr val="6A5E51"/>
                </a:solidFill>
                <a:latin typeface="Calibri"/>
              </a:rPr>
              <a:t>4</a:t>
            </a:r>
          </a:p>
        </p:txBody>
      </p:sp>
      <p:sp>
        <p:nvSpPr>
          <p:cNvPr id="6" name="Rounded Rectangle 5"/>
          <p:cNvSpPr/>
          <p:nvPr/>
        </p:nvSpPr>
        <p:spPr>
          <a:xfrm>
            <a:off x="548640" y="1481328"/>
            <a:ext cx="11094415" cy="566928"/>
          </a:xfrm>
          <a:prstGeom prst="roundRect">
            <a:avLst>
              <a:gd name="adj" fmla="val 16129"/>
            </a:avLst>
          </a:prstGeom>
          <a:solidFill>
            <a:srgbClr val="EBE2CF"/>
          </a:solidFill>
          <a:ln>
            <a:noFill/>
          </a:ln>
          <a:effectLst/>
        </p:spPr>
        <p:txBody>
          <a:bodyPr rtlCol="0" anchor="ctr"/>
          <a:lstStyle/>
          <a:p>
            <a:pPr algn="ctr"/>
          </a:p>
        </p:txBody>
      </p:sp>
      <p:sp>
        <p:nvSpPr>
          <p:cNvPr id="7" name="TextBox 6"/>
          <p:cNvSpPr txBox="1"/>
          <p:nvPr/>
        </p:nvSpPr>
        <p:spPr>
          <a:xfrm>
            <a:off x="777240" y="1481328"/>
            <a:ext cx="10637215" cy="566928"/>
          </a:xfrm>
          <a:prstGeom prst="rect">
            <a:avLst/>
          </a:prstGeom>
          <a:noFill/>
        </p:spPr>
        <p:txBody>
          <a:bodyPr wrap="square" lIns="0" rIns="0" tIns="0" bIns="0" anchor="ctr">
            <a:spAutoFit/>
          </a:bodyPr>
          <a:lstStyle/>
          <a:p>
            <a:pPr algn="l">
              <a:lnSpc>
                <a:spcPct val="100000"/>
              </a:lnSpc>
            </a:pPr>
            <a:r>
              <a:rPr sz="1600" b="1" i="0">
                <a:solidFill>
                  <a:srgbClr val="B8561F"/>
                </a:solidFill>
                <a:latin typeface="Calibri"/>
              </a:rPr>
              <a:t>Goal  </a:t>
            </a:r>
            <a:r>
              <a:rPr sz="1600" b="0" i="0">
                <a:solidFill>
                  <a:srgbClr val="3A312A"/>
                </a:solidFill>
                <a:latin typeface="Calibri"/>
              </a:rPr>
              <a:t>every listing says what the owner's record says. The owner approves; the agent proves it.</a:t>
            </a:r>
          </a:p>
        </p:txBody>
      </p:sp>
      <p:sp>
        <p:nvSpPr>
          <p:cNvPr id="8" name="Rounded Rectangle 7"/>
          <p:cNvSpPr/>
          <p:nvPr/>
        </p:nvSpPr>
        <p:spPr>
          <a:xfrm>
            <a:off x="548640" y="2240280"/>
            <a:ext cx="2057400" cy="1920240"/>
          </a:xfrm>
          <a:prstGeom prst="roundRect">
            <a:avLst>
              <a:gd name="adj" fmla="val 2857"/>
            </a:avLst>
          </a:prstGeom>
          <a:solidFill>
            <a:srgbClr val="FBF8F1"/>
          </a:solidFill>
          <a:ln w="9525">
            <a:solidFill>
              <a:srgbClr val="E2D8C6"/>
            </a:solidFill>
          </a:ln>
          <a:effectLst/>
        </p:spPr>
        <p:txBody>
          <a:bodyPr rtlCol="0" anchor="ctr"/>
          <a:lstStyle/>
          <a:p>
            <a:pPr algn="ctr"/>
          </a:p>
        </p:txBody>
      </p:sp>
      <p:sp>
        <p:nvSpPr>
          <p:cNvPr id="9" name="TextBox 8"/>
          <p:cNvSpPr txBox="1"/>
          <p:nvPr/>
        </p:nvSpPr>
        <p:spPr>
          <a:xfrm>
            <a:off x="704088" y="2359152"/>
            <a:ext cx="1746504" cy="310896"/>
          </a:xfrm>
          <a:prstGeom prst="rect">
            <a:avLst/>
          </a:prstGeom>
          <a:noFill/>
        </p:spPr>
        <p:txBody>
          <a:bodyPr wrap="square" lIns="0" rIns="0" tIns="0" bIns="0" anchor="t">
            <a:spAutoFit/>
          </a:bodyPr>
          <a:lstStyle/>
          <a:p>
            <a:pPr algn="l">
              <a:lnSpc>
                <a:spcPct val="100000"/>
              </a:lnSpc>
            </a:pPr>
            <a:r>
              <a:rPr sz="1700" b="1" i="0">
                <a:solidFill>
                  <a:srgbClr val="3F5A2E"/>
                </a:solidFill>
                <a:latin typeface="Calibri"/>
              </a:rPr>
              <a:t>1  Perceive</a:t>
            </a:r>
          </a:p>
        </p:txBody>
      </p:sp>
      <p:sp>
        <p:nvSpPr>
          <p:cNvPr id="10" name="TextBox 9"/>
          <p:cNvSpPr txBox="1"/>
          <p:nvPr/>
        </p:nvSpPr>
        <p:spPr>
          <a:xfrm>
            <a:off x="704088" y="2761488"/>
            <a:ext cx="1746504" cy="1325880"/>
          </a:xfrm>
          <a:prstGeom prst="rect">
            <a:avLst/>
          </a:prstGeom>
          <a:noFill/>
        </p:spPr>
        <p:txBody>
          <a:bodyPr wrap="square" lIns="0" rIns="0" tIns="0" bIns="0" anchor="t">
            <a:spAutoFit/>
          </a:bodyPr>
          <a:lstStyle/>
          <a:p>
            <a:pPr algn="l">
              <a:lnSpc>
                <a:spcPct val="100000"/>
              </a:lnSpc>
            </a:pPr>
            <a:r>
              <a:rPr sz="1450" b="0" i="0">
                <a:solidFill>
                  <a:srgbClr val="3A312A"/>
                </a:solidFill>
                <a:latin typeface="Calibri"/>
              </a:rPr>
              <a:t>Read every page and dashboard. Keep the raw values.</a:t>
            </a:r>
          </a:p>
        </p:txBody>
      </p:sp>
      <p:cxnSp>
        <p:nvCxnSpPr>
          <p:cNvPr id="11" name="Connector 10"/>
          <p:cNvCxnSpPr/>
          <p:nvPr/>
        </p:nvCxnSpPr>
        <p:spPr>
          <a:xfrm>
            <a:off x="2615184" y="3200400"/>
            <a:ext cx="182880"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07208" y="2240280"/>
            <a:ext cx="2057400" cy="1920240"/>
          </a:xfrm>
          <a:prstGeom prst="roundRect">
            <a:avLst>
              <a:gd name="adj" fmla="val 2857"/>
            </a:avLst>
          </a:prstGeom>
          <a:solidFill>
            <a:srgbClr val="FBF8F1"/>
          </a:solidFill>
          <a:ln w="9525">
            <a:solidFill>
              <a:srgbClr val="E2D8C6"/>
            </a:solidFill>
          </a:ln>
          <a:effectLst/>
        </p:spPr>
        <p:txBody>
          <a:bodyPr rtlCol="0" anchor="ctr"/>
          <a:lstStyle/>
          <a:p>
            <a:pPr algn="ctr"/>
          </a:p>
        </p:txBody>
      </p:sp>
      <p:sp>
        <p:nvSpPr>
          <p:cNvPr id="13" name="TextBox 12"/>
          <p:cNvSpPr txBox="1"/>
          <p:nvPr/>
        </p:nvSpPr>
        <p:spPr>
          <a:xfrm>
            <a:off x="2962656" y="2359152"/>
            <a:ext cx="1746504" cy="310896"/>
          </a:xfrm>
          <a:prstGeom prst="rect">
            <a:avLst/>
          </a:prstGeom>
          <a:noFill/>
        </p:spPr>
        <p:txBody>
          <a:bodyPr wrap="square" lIns="0" rIns="0" tIns="0" bIns="0" anchor="t">
            <a:spAutoFit/>
          </a:bodyPr>
          <a:lstStyle/>
          <a:p>
            <a:pPr algn="l">
              <a:lnSpc>
                <a:spcPct val="100000"/>
              </a:lnSpc>
            </a:pPr>
            <a:r>
              <a:rPr sz="1700" b="1" i="0">
                <a:solidFill>
                  <a:srgbClr val="3F5A2E"/>
                </a:solidFill>
                <a:latin typeface="Calibri"/>
              </a:rPr>
              <a:t>2  Decide</a:t>
            </a:r>
          </a:p>
        </p:txBody>
      </p:sp>
      <p:sp>
        <p:nvSpPr>
          <p:cNvPr id="14" name="TextBox 13"/>
          <p:cNvSpPr txBox="1"/>
          <p:nvPr/>
        </p:nvSpPr>
        <p:spPr>
          <a:xfrm>
            <a:off x="2962656" y="2761488"/>
            <a:ext cx="1746504" cy="1325880"/>
          </a:xfrm>
          <a:prstGeom prst="rect">
            <a:avLst/>
          </a:prstGeom>
          <a:noFill/>
        </p:spPr>
        <p:txBody>
          <a:bodyPr wrap="square" lIns="0" rIns="0" tIns="0" bIns="0" anchor="t">
            <a:spAutoFit/>
          </a:bodyPr>
          <a:lstStyle/>
          <a:p>
            <a:pPr algn="l">
              <a:lnSpc>
                <a:spcPct val="100000"/>
              </a:lnSpc>
            </a:pPr>
            <a:r>
              <a:rPr sz="1450" b="0" i="0">
                <a:solidFill>
                  <a:srgbClr val="3A312A"/>
                </a:solidFill>
                <a:latin typeface="Calibri"/>
              </a:rPr>
              <a:t>Compare meaning. Pick the next tool from the current state.</a:t>
            </a:r>
          </a:p>
        </p:txBody>
      </p:sp>
      <p:cxnSp>
        <p:nvCxnSpPr>
          <p:cNvPr id="15" name="Connector 14"/>
          <p:cNvCxnSpPr/>
          <p:nvPr/>
        </p:nvCxnSpPr>
        <p:spPr>
          <a:xfrm>
            <a:off x="4873752" y="3200400"/>
            <a:ext cx="182880"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065776" y="2240280"/>
            <a:ext cx="2057400" cy="1920240"/>
          </a:xfrm>
          <a:prstGeom prst="roundRect">
            <a:avLst>
              <a:gd name="adj" fmla="val 2857"/>
            </a:avLst>
          </a:prstGeom>
          <a:solidFill>
            <a:srgbClr val="FBF8F1"/>
          </a:solidFill>
          <a:ln w="9525">
            <a:solidFill>
              <a:srgbClr val="E2D8C6"/>
            </a:solidFill>
          </a:ln>
          <a:effectLst/>
        </p:spPr>
        <p:txBody>
          <a:bodyPr rtlCol="0" anchor="ctr"/>
          <a:lstStyle/>
          <a:p>
            <a:pPr algn="ctr"/>
          </a:p>
        </p:txBody>
      </p:sp>
      <p:sp>
        <p:nvSpPr>
          <p:cNvPr id="17" name="TextBox 16"/>
          <p:cNvSpPr txBox="1"/>
          <p:nvPr/>
        </p:nvSpPr>
        <p:spPr>
          <a:xfrm>
            <a:off x="5221224" y="2359152"/>
            <a:ext cx="1746504" cy="310896"/>
          </a:xfrm>
          <a:prstGeom prst="rect">
            <a:avLst/>
          </a:prstGeom>
          <a:noFill/>
        </p:spPr>
        <p:txBody>
          <a:bodyPr wrap="square" lIns="0" rIns="0" tIns="0" bIns="0" anchor="t">
            <a:spAutoFit/>
          </a:bodyPr>
          <a:lstStyle/>
          <a:p>
            <a:pPr algn="l">
              <a:lnSpc>
                <a:spcPct val="100000"/>
              </a:lnSpc>
            </a:pPr>
            <a:r>
              <a:rPr sz="1700" b="1" i="0">
                <a:solidFill>
                  <a:srgbClr val="3F5A2E"/>
                </a:solidFill>
                <a:latin typeface="Calibri"/>
              </a:rPr>
              <a:t>3  Act</a:t>
            </a:r>
          </a:p>
        </p:txBody>
      </p:sp>
      <p:sp>
        <p:nvSpPr>
          <p:cNvPr id="18" name="TextBox 17"/>
          <p:cNvSpPr txBox="1"/>
          <p:nvPr/>
        </p:nvSpPr>
        <p:spPr>
          <a:xfrm>
            <a:off x="5221224" y="2761488"/>
            <a:ext cx="1746504" cy="1325880"/>
          </a:xfrm>
          <a:prstGeom prst="rect">
            <a:avLst/>
          </a:prstGeom>
          <a:noFill/>
        </p:spPr>
        <p:txBody>
          <a:bodyPr wrap="square" lIns="0" rIns="0" tIns="0" bIns="0" anchor="t">
            <a:spAutoFit/>
          </a:bodyPr>
          <a:lstStyle/>
          <a:p>
            <a:pPr algn="l">
              <a:lnSpc>
                <a:spcPct val="100000"/>
              </a:lnSpc>
            </a:pPr>
            <a:r>
              <a:rPr sz="1450" b="0" i="0">
                <a:solidFill>
                  <a:srgbClr val="3A312A"/>
                </a:solidFill>
                <a:latin typeface="Calibri"/>
              </a:rPr>
              <a:t>Propose, flag, ask the owner, or apply what was approved.</a:t>
            </a:r>
          </a:p>
        </p:txBody>
      </p:sp>
      <p:cxnSp>
        <p:nvCxnSpPr>
          <p:cNvPr id="19" name="Connector 18"/>
          <p:cNvCxnSpPr/>
          <p:nvPr/>
        </p:nvCxnSpPr>
        <p:spPr>
          <a:xfrm>
            <a:off x="7132320" y="3200400"/>
            <a:ext cx="182880"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24344" y="2240280"/>
            <a:ext cx="2057400" cy="1920240"/>
          </a:xfrm>
          <a:prstGeom prst="roundRect">
            <a:avLst>
              <a:gd name="adj" fmla="val 2857"/>
            </a:avLst>
          </a:prstGeom>
          <a:solidFill>
            <a:srgbClr val="FBF8F1"/>
          </a:solidFill>
          <a:ln w="9525">
            <a:solidFill>
              <a:srgbClr val="E2D8C6"/>
            </a:solidFill>
          </a:ln>
          <a:effectLst/>
        </p:spPr>
        <p:txBody>
          <a:bodyPr rtlCol="0" anchor="ctr"/>
          <a:lstStyle/>
          <a:p>
            <a:pPr algn="ctr"/>
          </a:p>
        </p:txBody>
      </p:sp>
      <p:sp>
        <p:nvSpPr>
          <p:cNvPr id="21" name="TextBox 20"/>
          <p:cNvSpPr txBox="1"/>
          <p:nvPr/>
        </p:nvSpPr>
        <p:spPr>
          <a:xfrm>
            <a:off x="7479792" y="2359152"/>
            <a:ext cx="1746504" cy="310896"/>
          </a:xfrm>
          <a:prstGeom prst="rect">
            <a:avLst/>
          </a:prstGeom>
          <a:noFill/>
        </p:spPr>
        <p:txBody>
          <a:bodyPr wrap="square" lIns="0" rIns="0" tIns="0" bIns="0" anchor="t">
            <a:spAutoFit/>
          </a:bodyPr>
          <a:lstStyle/>
          <a:p>
            <a:pPr algn="l">
              <a:lnSpc>
                <a:spcPct val="100000"/>
              </a:lnSpc>
            </a:pPr>
            <a:r>
              <a:rPr sz="1700" b="1" i="0">
                <a:solidFill>
                  <a:srgbClr val="3F5A2E"/>
                </a:solidFill>
                <a:latin typeface="Calibri"/>
              </a:rPr>
              <a:t>4  Verify</a:t>
            </a:r>
          </a:p>
        </p:txBody>
      </p:sp>
      <p:sp>
        <p:nvSpPr>
          <p:cNvPr id="22" name="TextBox 21"/>
          <p:cNvSpPr txBox="1"/>
          <p:nvPr/>
        </p:nvSpPr>
        <p:spPr>
          <a:xfrm>
            <a:off x="7479792" y="2761488"/>
            <a:ext cx="1746504" cy="1325880"/>
          </a:xfrm>
          <a:prstGeom prst="rect">
            <a:avLst/>
          </a:prstGeom>
          <a:noFill/>
        </p:spPr>
        <p:txBody>
          <a:bodyPr wrap="square" lIns="0" rIns="0" tIns="0" bIns="0" anchor="t">
            <a:spAutoFit/>
          </a:bodyPr>
          <a:lstStyle/>
          <a:p>
            <a:pPr algn="l">
              <a:lnSpc>
                <a:spcPct val="100000"/>
              </a:lnSpc>
            </a:pPr>
            <a:r>
              <a:rPr sz="1450" b="0" i="0">
                <a:solidFill>
                  <a:srgbClr val="3A312A"/>
                </a:solidFill>
                <a:latin typeface="Calibri"/>
              </a:rPr>
              <a:t>Reload the page. VERIFIED only if the value is really there.</a:t>
            </a:r>
          </a:p>
        </p:txBody>
      </p:sp>
      <p:cxnSp>
        <p:nvCxnSpPr>
          <p:cNvPr id="23" name="Connector 22"/>
          <p:cNvCxnSpPr/>
          <p:nvPr/>
        </p:nvCxnSpPr>
        <p:spPr>
          <a:xfrm>
            <a:off x="9390888" y="3200400"/>
            <a:ext cx="182880"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582912" y="2240280"/>
            <a:ext cx="2057400" cy="1920240"/>
          </a:xfrm>
          <a:prstGeom prst="roundRect">
            <a:avLst>
              <a:gd name="adj" fmla="val 2857"/>
            </a:avLst>
          </a:prstGeom>
          <a:solidFill>
            <a:srgbClr val="FBF8F1"/>
          </a:solidFill>
          <a:ln w="9525">
            <a:solidFill>
              <a:srgbClr val="E2D8C6"/>
            </a:solidFill>
          </a:ln>
          <a:effectLst/>
        </p:spPr>
        <p:txBody>
          <a:bodyPr rtlCol="0" anchor="ctr"/>
          <a:lstStyle/>
          <a:p>
            <a:pPr algn="ctr"/>
          </a:p>
        </p:txBody>
      </p:sp>
      <p:sp>
        <p:nvSpPr>
          <p:cNvPr id="25" name="TextBox 24"/>
          <p:cNvSpPr txBox="1"/>
          <p:nvPr/>
        </p:nvSpPr>
        <p:spPr>
          <a:xfrm>
            <a:off x="9738360" y="2359152"/>
            <a:ext cx="1746504" cy="310896"/>
          </a:xfrm>
          <a:prstGeom prst="rect">
            <a:avLst/>
          </a:prstGeom>
          <a:noFill/>
        </p:spPr>
        <p:txBody>
          <a:bodyPr wrap="square" lIns="0" rIns="0" tIns="0" bIns="0" anchor="t">
            <a:spAutoFit/>
          </a:bodyPr>
          <a:lstStyle/>
          <a:p>
            <a:pPr algn="l">
              <a:lnSpc>
                <a:spcPct val="100000"/>
              </a:lnSpc>
            </a:pPr>
            <a:r>
              <a:rPr sz="1700" b="1" i="0">
                <a:solidFill>
                  <a:srgbClr val="3F5A2E"/>
                </a:solidFill>
                <a:latin typeface="Calibri"/>
              </a:rPr>
              <a:t>5  Recover</a:t>
            </a:r>
          </a:p>
        </p:txBody>
      </p:sp>
      <p:sp>
        <p:nvSpPr>
          <p:cNvPr id="26" name="TextBox 25"/>
          <p:cNvSpPr txBox="1"/>
          <p:nvPr/>
        </p:nvSpPr>
        <p:spPr>
          <a:xfrm>
            <a:off x="9738360" y="2761488"/>
            <a:ext cx="1746504" cy="1325880"/>
          </a:xfrm>
          <a:prstGeom prst="rect">
            <a:avLst/>
          </a:prstGeom>
          <a:noFill/>
        </p:spPr>
        <p:txBody>
          <a:bodyPr wrap="square" lIns="0" rIns="0" tIns="0" bIns="0" anchor="t">
            <a:spAutoFit/>
          </a:bodyPr>
          <a:lstStyle/>
          <a:p>
            <a:pPr algn="l">
              <a:lnSpc>
                <a:spcPct val="100000"/>
              </a:lnSpc>
            </a:pPr>
            <a:r>
              <a:rPr sz="1450" b="0" i="0">
                <a:solidFill>
                  <a:srgbClr val="3A312A"/>
                </a:solidFill>
                <a:latin typeface="Calibri"/>
              </a:rPr>
              <a:t>Page changed? Site down? Re-ask, retry, re-send once.</a:t>
            </a:r>
          </a:p>
        </p:txBody>
      </p:sp>
      <p:cxnSp>
        <p:nvCxnSpPr>
          <p:cNvPr id="27" name="Connector 26"/>
          <p:cNvCxnSpPr/>
          <p:nvPr/>
        </p:nvCxnSpPr>
        <p:spPr>
          <a:xfrm>
            <a:off x="10611612" y="4160520"/>
            <a:ext cx="0" cy="274320"/>
          </a:xfrm>
          <a:prstGeom prst="line">
            <a:avLst/>
          </a:prstGeom>
          <a:ln w="25400">
            <a:solidFill>
              <a:srgbClr val="54733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3835908" y="4434840"/>
            <a:ext cx="6775704" cy="0"/>
          </a:xfrm>
          <a:prstGeom prst="line">
            <a:avLst/>
          </a:prstGeom>
          <a:ln w="25400">
            <a:solidFill>
              <a:srgbClr val="54733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835908" y="4178808"/>
            <a:ext cx="0" cy="256032"/>
          </a:xfrm>
          <a:prstGeom prst="line">
            <a:avLst/>
          </a:prstGeom>
          <a:ln w="25400">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110228" y="4471416"/>
            <a:ext cx="4572000" cy="256032"/>
          </a:xfrm>
          <a:prstGeom prst="rect">
            <a:avLst/>
          </a:prstGeom>
          <a:noFill/>
        </p:spPr>
        <p:txBody>
          <a:bodyPr wrap="square" lIns="0" rIns="0" tIns="0" bIns="0" anchor="t">
            <a:spAutoFit/>
          </a:bodyPr>
          <a:lstStyle/>
          <a:p>
            <a:pPr algn="l">
              <a:lnSpc>
                <a:spcPct val="100000"/>
              </a:lnSpc>
            </a:pPr>
            <a:r>
              <a:rPr sz="1250" b="0" i="0">
                <a:solidFill>
                  <a:srgbClr val="6A5E51"/>
                </a:solidFill>
                <a:latin typeface="Calibri"/>
              </a:rPr>
              <a:t>loops until nothing is left to do</a:t>
            </a:r>
          </a:p>
        </p:txBody>
      </p:sp>
      <p:sp>
        <p:nvSpPr>
          <p:cNvPr id="31" name="Rounded Rectangle 30"/>
          <p:cNvSpPr/>
          <p:nvPr/>
        </p:nvSpPr>
        <p:spPr>
          <a:xfrm>
            <a:off x="548640" y="4892040"/>
            <a:ext cx="7223760" cy="1371600"/>
          </a:xfrm>
          <a:prstGeom prst="roundRect">
            <a:avLst>
              <a:gd name="adj" fmla="val 4000"/>
            </a:avLst>
          </a:prstGeom>
          <a:solidFill>
            <a:srgbClr val="FBF8F1"/>
          </a:solidFill>
          <a:ln w="9525">
            <a:solidFill>
              <a:srgbClr val="E2D8C6"/>
            </a:solidFill>
          </a:ln>
          <a:effectLst/>
        </p:spPr>
        <p:txBody>
          <a:bodyPr rtlCol="0" anchor="ctr"/>
          <a:lstStyle/>
          <a:p>
            <a:pPr algn="ctr"/>
          </a:p>
        </p:txBody>
      </p:sp>
      <p:sp>
        <p:nvSpPr>
          <p:cNvPr id="32" name="TextBox 31"/>
          <p:cNvSpPr txBox="1"/>
          <p:nvPr/>
        </p:nvSpPr>
        <p:spPr>
          <a:xfrm>
            <a:off x="731520" y="4965192"/>
            <a:ext cx="6766560" cy="274320"/>
          </a:xfrm>
          <a:prstGeom prst="rect">
            <a:avLst/>
          </a:prstGeom>
          <a:noFill/>
        </p:spPr>
        <p:txBody>
          <a:bodyPr wrap="square" lIns="0" rIns="0" tIns="0" bIns="0" anchor="t">
            <a:spAutoFit/>
          </a:bodyPr>
          <a:lstStyle/>
          <a:p>
            <a:pPr algn="l">
              <a:lnSpc>
                <a:spcPct val="100000"/>
              </a:lnSpc>
            </a:pPr>
            <a:r>
              <a:rPr sz="1500" b="1" i="0">
                <a:solidFill>
                  <a:srgbClr val="3F5A2E"/>
                </a:solidFill>
                <a:latin typeface="Calibri"/>
              </a:rPr>
              <a:t>Eight tools, one registry</a:t>
            </a:r>
          </a:p>
        </p:txBody>
      </p:sp>
      <p:sp>
        <p:nvSpPr>
          <p:cNvPr id="33" name="Rounded Rectangle 32"/>
          <p:cNvSpPr/>
          <p:nvPr/>
        </p:nvSpPr>
        <p:spPr>
          <a:xfrm>
            <a:off x="731520" y="5321808"/>
            <a:ext cx="1645920" cy="384048"/>
          </a:xfrm>
          <a:prstGeom prst="roundRect">
            <a:avLst>
              <a:gd name="adj" fmla="val 14285"/>
            </a:avLst>
          </a:prstGeom>
          <a:solidFill>
            <a:srgbClr val="F4EEE3"/>
          </a:solidFill>
          <a:ln w="9525">
            <a:solidFill>
              <a:srgbClr val="E2D8C6"/>
            </a:solidFill>
          </a:ln>
          <a:effectLst/>
        </p:spPr>
        <p:txBody>
          <a:bodyPr rtlCol="0" anchor="ctr"/>
          <a:lstStyle/>
          <a:p>
            <a:pPr algn="ctr"/>
          </a:p>
        </p:txBody>
      </p:sp>
      <p:sp>
        <p:nvSpPr>
          <p:cNvPr id="34" name="TextBox 33"/>
          <p:cNvSpPr txBox="1"/>
          <p:nvPr/>
        </p:nvSpPr>
        <p:spPr>
          <a:xfrm>
            <a:off x="731520" y="5321808"/>
            <a:ext cx="1645920" cy="384048"/>
          </a:xfrm>
          <a:prstGeom prst="rect">
            <a:avLst/>
          </a:prstGeom>
          <a:noFill/>
        </p:spPr>
        <p:txBody>
          <a:bodyPr wrap="square" lIns="0" rIns="0" tIns="0" bIns="0" anchor="ctr">
            <a:spAutoFit/>
          </a:bodyPr>
          <a:lstStyle/>
          <a:p>
            <a:pPr algn="ctr">
              <a:lnSpc>
                <a:spcPct val="100000"/>
              </a:lnSpc>
            </a:pPr>
            <a:r>
              <a:rPr sz="1150" b="1" i="0">
                <a:solidFill>
                  <a:srgbClr val="3F5A2E"/>
                </a:solidFill>
                <a:latin typeface="Consolas"/>
              </a:rPr>
              <a:t>read_listing</a:t>
            </a:r>
          </a:p>
        </p:txBody>
      </p:sp>
      <p:sp>
        <p:nvSpPr>
          <p:cNvPr id="35" name="Rounded Rectangle 34"/>
          <p:cNvSpPr/>
          <p:nvPr/>
        </p:nvSpPr>
        <p:spPr>
          <a:xfrm>
            <a:off x="2450591" y="5321808"/>
            <a:ext cx="1645920" cy="384048"/>
          </a:xfrm>
          <a:prstGeom prst="roundRect">
            <a:avLst>
              <a:gd name="adj" fmla="val 14285"/>
            </a:avLst>
          </a:prstGeom>
          <a:solidFill>
            <a:srgbClr val="F4EEE3"/>
          </a:solidFill>
          <a:ln w="9525">
            <a:solidFill>
              <a:srgbClr val="E2D8C6"/>
            </a:solidFill>
          </a:ln>
          <a:effectLst/>
        </p:spPr>
        <p:txBody>
          <a:bodyPr rtlCol="0" anchor="ctr"/>
          <a:lstStyle/>
          <a:p>
            <a:pPr algn="ctr"/>
          </a:p>
        </p:txBody>
      </p:sp>
      <p:sp>
        <p:nvSpPr>
          <p:cNvPr id="36" name="TextBox 35"/>
          <p:cNvSpPr txBox="1"/>
          <p:nvPr/>
        </p:nvSpPr>
        <p:spPr>
          <a:xfrm>
            <a:off x="2450591" y="5321808"/>
            <a:ext cx="1645920" cy="384048"/>
          </a:xfrm>
          <a:prstGeom prst="rect">
            <a:avLst/>
          </a:prstGeom>
          <a:noFill/>
        </p:spPr>
        <p:txBody>
          <a:bodyPr wrap="square" lIns="0" rIns="0" tIns="0" bIns="0" anchor="ctr">
            <a:spAutoFit/>
          </a:bodyPr>
          <a:lstStyle/>
          <a:p>
            <a:pPr algn="ctr">
              <a:lnSpc>
                <a:spcPct val="100000"/>
              </a:lnSpc>
            </a:pPr>
            <a:r>
              <a:rPr sz="1150" b="1" i="0">
                <a:solidFill>
                  <a:srgbClr val="3F5A2E"/>
                </a:solidFill>
                <a:latin typeface="Consolas"/>
              </a:rPr>
              <a:t>normalise</a:t>
            </a:r>
          </a:p>
        </p:txBody>
      </p:sp>
      <p:sp>
        <p:nvSpPr>
          <p:cNvPr id="37" name="Rounded Rectangle 36"/>
          <p:cNvSpPr/>
          <p:nvPr/>
        </p:nvSpPr>
        <p:spPr>
          <a:xfrm>
            <a:off x="4169663" y="5321808"/>
            <a:ext cx="1645920" cy="384048"/>
          </a:xfrm>
          <a:prstGeom prst="roundRect">
            <a:avLst>
              <a:gd name="adj" fmla="val 14285"/>
            </a:avLst>
          </a:prstGeom>
          <a:solidFill>
            <a:srgbClr val="F4EEE3"/>
          </a:solidFill>
          <a:ln w="9525">
            <a:solidFill>
              <a:srgbClr val="E2D8C6"/>
            </a:solidFill>
          </a:ln>
          <a:effectLst/>
        </p:spPr>
        <p:txBody>
          <a:bodyPr rtlCol="0" anchor="ctr"/>
          <a:lstStyle/>
          <a:p>
            <a:pPr algn="ctr"/>
          </a:p>
        </p:txBody>
      </p:sp>
      <p:sp>
        <p:nvSpPr>
          <p:cNvPr id="38" name="TextBox 37"/>
          <p:cNvSpPr txBox="1"/>
          <p:nvPr/>
        </p:nvSpPr>
        <p:spPr>
          <a:xfrm>
            <a:off x="4169663" y="5321808"/>
            <a:ext cx="1645920" cy="384048"/>
          </a:xfrm>
          <a:prstGeom prst="rect">
            <a:avLst/>
          </a:prstGeom>
          <a:noFill/>
        </p:spPr>
        <p:txBody>
          <a:bodyPr wrap="square" lIns="0" rIns="0" tIns="0" bIns="0" anchor="ctr">
            <a:spAutoFit/>
          </a:bodyPr>
          <a:lstStyle/>
          <a:p>
            <a:pPr algn="ctr">
              <a:lnSpc>
                <a:spcPct val="100000"/>
              </a:lnSpc>
            </a:pPr>
            <a:r>
              <a:rPr sz="1150" b="1" i="0">
                <a:solidFill>
                  <a:srgbClr val="3F5A2E"/>
                </a:solidFill>
                <a:latin typeface="Consolas"/>
              </a:rPr>
              <a:t>compare</a:t>
            </a:r>
          </a:p>
        </p:txBody>
      </p:sp>
      <p:sp>
        <p:nvSpPr>
          <p:cNvPr id="39" name="Rounded Rectangle 38"/>
          <p:cNvSpPr/>
          <p:nvPr/>
        </p:nvSpPr>
        <p:spPr>
          <a:xfrm>
            <a:off x="5888736" y="5321808"/>
            <a:ext cx="1645920" cy="384048"/>
          </a:xfrm>
          <a:prstGeom prst="roundRect">
            <a:avLst>
              <a:gd name="adj" fmla="val 14285"/>
            </a:avLst>
          </a:prstGeom>
          <a:solidFill>
            <a:srgbClr val="F4EEE3"/>
          </a:solidFill>
          <a:ln w="9525">
            <a:solidFill>
              <a:srgbClr val="E2D8C6"/>
            </a:solidFill>
          </a:ln>
          <a:effectLst/>
        </p:spPr>
        <p:txBody>
          <a:bodyPr rtlCol="0" anchor="ctr"/>
          <a:lstStyle/>
          <a:p>
            <a:pPr algn="ctr"/>
          </a:p>
        </p:txBody>
      </p:sp>
      <p:sp>
        <p:nvSpPr>
          <p:cNvPr id="40" name="TextBox 39"/>
          <p:cNvSpPr txBox="1"/>
          <p:nvPr/>
        </p:nvSpPr>
        <p:spPr>
          <a:xfrm>
            <a:off x="5888736" y="5321808"/>
            <a:ext cx="1645920" cy="384048"/>
          </a:xfrm>
          <a:prstGeom prst="rect">
            <a:avLst/>
          </a:prstGeom>
          <a:noFill/>
        </p:spPr>
        <p:txBody>
          <a:bodyPr wrap="square" lIns="0" rIns="0" tIns="0" bIns="0" anchor="ctr">
            <a:spAutoFit/>
          </a:bodyPr>
          <a:lstStyle/>
          <a:p>
            <a:pPr algn="ctr">
              <a:lnSpc>
                <a:spcPct val="100000"/>
              </a:lnSpc>
            </a:pPr>
            <a:r>
              <a:rPr sz="1150" b="1" i="0">
                <a:solidFill>
                  <a:srgbClr val="3F5A2E"/>
                </a:solidFill>
                <a:latin typeface="Consolas"/>
              </a:rPr>
              <a:t>propose</a:t>
            </a:r>
          </a:p>
        </p:txBody>
      </p:sp>
      <p:sp>
        <p:nvSpPr>
          <p:cNvPr id="41" name="Rounded Rectangle 40"/>
          <p:cNvSpPr/>
          <p:nvPr/>
        </p:nvSpPr>
        <p:spPr>
          <a:xfrm>
            <a:off x="731520" y="5779008"/>
            <a:ext cx="1645920" cy="384048"/>
          </a:xfrm>
          <a:prstGeom prst="roundRect">
            <a:avLst>
              <a:gd name="adj" fmla="val 14285"/>
            </a:avLst>
          </a:prstGeom>
          <a:solidFill>
            <a:srgbClr val="F4EEE3"/>
          </a:solidFill>
          <a:ln w="9525">
            <a:solidFill>
              <a:srgbClr val="E2D8C6"/>
            </a:solidFill>
          </a:ln>
          <a:effectLst/>
        </p:spPr>
        <p:txBody>
          <a:bodyPr rtlCol="0" anchor="ctr"/>
          <a:lstStyle/>
          <a:p>
            <a:pPr algn="ctr"/>
          </a:p>
        </p:txBody>
      </p:sp>
      <p:sp>
        <p:nvSpPr>
          <p:cNvPr id="42" name="TextBox 41"/>
          <p:cNvSpPr txBox="1"/>
          <p:nvPr/>
        </p:nvSpPr>
        <p:spPr>
          <a:xfrm>
            <a:off x="731520" y="5779008"/>
            <a:ext cx="1645920" cy="384048"/>
          </a:xfrm>
          <a:prstGeom prst="rect">
            <a:avLst/>
          </a:prstGeom>
          <a:noFill/>
        </p:spPr>
        <p:txBody>
          <a:bodyPr wrap="square" lIns="0" rIns="0" tIns="0" bIns="0" anchor="ctr">
            <a:spAutoFit/>
          </a:bodyPr>
          <a:lstStyle/>
          <a:p>
            <a:pPr algn="ctr">
              <a:lnSpc>
                <a:spcPct val="100000"/>
              </a:lnSpc>
            </a:pPr>
            <a:r>
              <a:rPr sz="1150" b="1" i="0">
                <a:solidFill>
                  <a:srgbClr val="3F5A2E"/>
                </a:solidFill>
                <a:latin typeface="Consolas"/>
              </a:rPr>
              <a:t>apply_approved</a:t>
            </a:r>
          </a:p>
        </p:txBody>
      </p:sp>
      <p:sp>
        <p:nvSpPr>
          <p:cNvPr id="43" name="Rounded Rectangle 42"/>
          <p:cNvSpPr/>
          <p:nvPr/>
        </p:nvSpPr>
        <p:spPr>
          <a:xfrm>
            <a:off x="2450591" y="5779008"/>
            <a:ext cx="1645920" cy="384048"/>
          </a:xfrm>
          <a:prstGeom prst="roundRect">
            <a:avLst>
              <a:gd name="adj" fmla="val 14285"/>
            </a:avLst>
          </a:prstGeom>
          <a:solidFill>
            <a:srgbClr val="F4EEE3"/>
          </a:solidFill>
          <a:ln w="9525">
            <a:solidFill>
              <a:srgbClr val="E2D8C6"/>
            </a:solidFill>
          </a:ln>
          <a:effectLst/>
        </p:spPr>
        <p:txBody>
          <a:bodyPr rtlCol="0" anchor="ctr"/>
          <a:lstStyle/>
          <a:p>
            <a:pPr algn="ctr"/>
          </a:p>
        </p:txBody>
      </p:sp>
      <p:sp>
        <p:nvSpPr>
          <p:cNvPr id="44" name="TextBox 43"/>
          <p:cNvSpPr txBox="1"/>
          <p:nvPr/>
        </p:nvSpPr>
        <p:spPr>
          <a:xfrm>
            <a:off x="2450591" y="5779008"/>
            <a:ext cx="1645920" cy="384048"/>
          </a:xfrm>
          <a:prstGeom prst="rect">
            <a:avLst/>
          </a:prstGeom>
          <a:noFill/>
        </p:spPr>
        <p:txBody>
          <a:bodyPr wrap="square" lIns="0" rIns="0" tIns="0" bIns="0" anchor="ctr">
            <a:spAutoFit/>
          </a:bodyPr>
          <a:lstStyle/>
          <a:p>
            <a:pPr algn="ctr">
              <a:lnSpc>
                <a:spcPct val="100000"/>
              </a:lnSpc>
            </a:pPr>
            <a:r>
              <a:rPr sz="1150" b="1" i="0">
                <a:solidFill>
                  <a:srgbClr val="3F5A2E"/>
                </a:solidFill>
                <a:latin typeface="Consolas"/>
              </a:rPr>
              <a:t>reload_and_verify</a:t>
            </a:r>
          </a:p>
        </p:txBody>
      </p:sp>
      <p:sp>
        <p:nvSpPr>
          <p:cNvPr id="45" name="Rounded Rectangle 44"/>
          <p:cNvSpPr/>
          <p:nvPr/>
        </p:nvSpPr>
        <p:spPr>
          <a:xfrm>
            <a:off x="4169663" y="5779008"/>
            <a:ext cx="1645920" cy="384048"/>
          </a:xfrm>
          <a:prstGeom prst="roundRect">
            <a:avLst>
              <a:gd name="adj" fmla="val 14285"/>
            </a:avLst>
          </a:prstGeom>
          <a:solidFill>
            <a:srgbClr val="F4EEE3"/>
          </a:solidFill>
          <a:ln w="9525">
            <a:solidFill>
              <a:srgbClr val="E2D8C6"/>
            </a:solidFill>
          </a:ln>
          <a:effectLst/>
        </p:spPr>
        <p:txBody>
          <a:bodyPr rtlCol="0" anchor="ctr"/>
          <a:lstStyle/>
          <a:p>
            <a:pPr algn="ctr"/>
          </a:p>
        </p:txBody>
      </p:sp>
      <p:sp>
        <p:nvSpPr>
          <p:cNvPr id="46" name="TextBox 45"/>
          <p:cNvSpPr txBox="1"/>
          <p:nvPr/>
        </p:nvSpPr>
        <p:spPr>
          <a:xfrm>
            <a:off x="4169663" y="5779008"/>
            <a:ext cx="1645920" cy="384048"/>
          </a:xfrm>
          <a:prstGeom prst="rect">
            <a:avLst/>
          </a:prstGeom>
          <a:noFill/>
        </p:spPr>
        <p:txBody>
          <a:bodyPr wrap="square" lIns="0" rIns="0" tIns="0" bIns="0" anchor="ctr">
            <a:spAutoFit/>
          </a:bodyPr>
          <a:lstStyle/>
          <a:p>
            <a:pPr algn="ctr">
              <a:lnSpc>
                <a:spcPct val="100000"/>
              </a:lnSpc>
            </a:pPr>
            <a:r>
              <a:rPr sz="1150" b="1" i="0">
                <a:solidFill>
                  <a:srgbClr val="3F5A2E"/>
                </a:solidFill>
                <a:latin typeface="Consolas"/>
              </a:rPr>
              <a:t>flag_listing</a:t>
            </a:r>
          </a:p>
        </p:txBody>
      </p:sp>
      <p:sp>
        <p:nvSpPr>
          <p:cNvPr id="47" name="Rounded Rectangle 46"/>
          <p:cNvSpPr/>
          <p:nvPr/>
        </p:nvSpPr>
        <p:spPr>
          <a:xfrm>
            <a:off x="5888736" y="5779008"/>
            <a:ext cx="1645920" cy="384048"/>
          </a:xfrm>
          <a:prstGeom prst="roundRect">
            <a:avLst>
              <a:gd name="adj" fmla="val 14285"/>
            </a:avLst>
          </a:prstGeom>
          <a:solidFill>
            <a:srgbClr val="F4EEE3"/>
          </a:solidFill>
          <a:ln w="9525">
            <a:solidFill>
              <a:srgbClr val="E2D8C6"/>
            </a:solidFill>
          </a:ln>
          <a:effectLst/>
        </p:spPr>
        <p:txBody>
          <a:bodyPr rtlCol="0" anchor="ctr"/>
          <a:lstStyle/>
          <a:p>
            <a:pPr algn="ctr"/>
          </a:p>
        </p:txBody>
      </p:sp>
      <p:sp>
        <p:nvSpPr>
          <p:cNvPr id="48" name="TextBox 47"/>
          <p:cNvSpPr txBox="1"/>
          <p:nvPr/>
        </p:nvSpPr>
        <p:spPr>
          <a:xfrm>
            <a:off x="5888736" y="5779008"/>
            <a:ext cx="1645920" cy="384048"/>
          </a:xfrm>
          <a:prstGeom prst="rect">
            <a:avLst/>
          </a:prstGeom>
          <a:noFill/>
        </p:spPr>
        <p:txBody>
          <a:bodyPr wrap="square" lIns="0" rIns="0" tIns="0" bIns="0" anchor="ctr">
            <a:spAutoFit/>
          </a:bodyPr>
          <a:lstStyle/>
          <a:p>
            <a:pPr algn="ctr">
              <a:lnSpc>
                <a:spcPct val="100000"/>
              </a:lnSpc>
            </a:pPr>
            <a:r>
              <a:rPr sz="1150" b="1" i="0">
                <a:solidFill>
                  <a:srgbClr val="3F5A2E"/>
                </a:solidFill>
                <a:latin typeface="Consolas"/>
              </a:rPr>
              <a:t>ask_owner</a:t>
            </a:r>
          </a:p>
        </p:txBody>
      </p:sp>
      <p:sp>
        <p:nvSpPr>
          <p:cNvPr id="49" name="Rounded Rectangle 48"/>
          <p:cNvSpPr/>
          <p:nvPr/>
        </p:nvSpPr>
        <p:spPr>
          <a:xfrm>
            <a:off x="7955279" y="4892040"/>
            <a:ext cx="3685032" cy="1371600"/>
          </a:xfrm>
          <a:prstGeom prst="roundRect">
            <a:avLst>
              <a:gd name="adj" fmla="val 4000"/>
            </a:avLst>
          </a:prstGeom>
          <a:solidFill>
            <a:srgbClr val="FBF8F1"/>
          </a:solidFill>
          <a:ln w="9525">
            <a:solidFill>
              <a:srgbClr val="E2D8C6"/>
            </a:solidFill>
          </a:ln>
          <a:effectLst/>
        </p:spPr>
        <p:txBody>
          <a:bodyPr rtlCol="0" anchor="ctr"/>
          <a:lstStyle/>
          <a:p>
            <a:pPr algn="ctr"/>
          </a:p>
        </p:txBody>
      </p:sp>
      <p:sp>
        <p:nvSpPr>
          <p:cNvPr id="50" name="TextBox 49"/>
          <p:cNvSpPr txBox="1"/>
          <p:nvPr/>
        </p:nvSpPr>
        <p:spPr>
          <a:xfrm>
            <a:off x="8119871" y="5056631"/>
            <a:ext cx="3355848" cy="246888"/>
          </a:xfrm>
          <a:prstGeom prst="rect">
            <a:avLst/>
          </a:prstGeom>
          <a:noFill/>
        </p:spPr>
        <p:txBody>
          <a:bodyPr wrap="square" lIns="0" rIns="0" tIns="0" bIns="0" anchor="t">
            <a:spAutoFit/>
          </a:bodyPr>
          <a:lstStyle/>
          <a:p>
            <a:pPr algn="l">
              <a:lnSpc>
                <a:spcPct val="100000"/>
              </a:lnSpc>
            </a:pPr>
            <a:r>
              <a:rPr sz="1500" b="1" i="0">
                <a:solidFill>
                  <a:srgbClr val="3A312A"/>
                </a:solidFill>
                <a:latin typeface="Calibri"/>
              </a:rPr>
              <a:t>Who decides each step?</a:t>
            </a:r>
          </a:p>
        </p:txBody>
      </p:sp>
      <p:sp>
        <p:nvSpPr>
          <p:cNvPr id="51" name="TextBox 50"/>
          <p:cNvSpPr txBox="1"/>
          <p:nvPr/>
        </p:nvSpPr>
        <p:spPr>
          <a:xfrm>
            <a:off x="8119871" y="5349240"/>
            <a:ext cx="3355848" cy="815644"/>
          </a:xfrm>
          <a:prstGeom prst="rect">
            <a:avLst/>
          </a:prstGeom>
          <a:noFill/>
        </p:spPr>
        <p:txBody>
          <a:bodyPr wrap="square" lIns="0" rIns="0" tIns="0" bIns="0" anchor="t">
            <a:spAutoFit/>
          </a:bodyPr>
          <a:lstStyle/>
          <a:p>
            <a:pPr algn="l">
              <a:lnSpc>
                <a:spcPct val="100000"/>
              </a:lnSpc>
            </a:pPr>
            <a:r>
              <a:rPr sz="1350" b="0" i="0">
                <a:solidFill>
                  <a:srgbClr val="6A5E51"/>
                </a:solidFill>
                <a:latin typeface="Calibri"/>
              </a:rPr>
              <a:t>A rules planner by default, or optional Gemini. Same tools, same guardrails. Every trace row shows who decided.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EE3"/>
        </a:solidFill>
        <a:effectLst/>
      </p:bgPr>
    </p:bg>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pPr>
            <a:r>
              <a:rPr sz="1300" b="1" i="0" spc="140">
                <a:solidFill>
                  <a:srgbClr val="B8561F"/>
                </a:solidFill>
                <a:latin typeface="Calibri"/>
              </a:rPr>
              <a:t>3  ·  THE AGENTIC AI</a:t>
            </a:r>
          </a:p>
        </p:txBody>
      </p:sp>
      <p:sp>
        <p:nvSpPr>
          <p:cNvPr id="3" name="TextBox 2"/>
          <p:cNvSpPr txBox="1"/>
          <p:nvPr/>
        </p:nvSpPr>
        <p:spPr>
          <a:xfrm>
            <a:off x="548640" y="621792"/>
            <a:ext cx="11094415" cy="640080"/>
          </a:xfrm>
          <a:prstGeom prst="rect">
            <a:avLst/>
          </a:prstGeom>
          <a:noFill/>
        </p:spPr>
        <p:txBody>
          <a:bodyPr wrap="square" lIns="0" rIns="0" tIns="0" bIns="0" anchor="t">
            <a:spAutoFit/>
          </a:bodyPr>
          <a:lstStyle/>
          <a:p>
            <a:pPr algn="l">
              <a:lnSpc>
                <a:spcPct val="100000"/>
              </a:lnSpc>
            </a:pPr>
            <a:r>
              <a:rPr sz="3000" b="1" i="0">
                <a:solidFill>
                  <a:srgbClr val="3A312A"/>
                </a:solidFill>
                <a:latin typeface="Cambria"/>
              </a:rPr>
              <a:t>From plain-language request to verified result</a:t>
            </a:r>
          </a:p>
        </p:txBody>
      </p:sp>
      <p:sp>
        <p:nvSpPr>
          <p:cNvPr id="4" name="TextBox 3"/>
          <p:cNvSpPr txBox="1"/>
          <p:nvPr/>
        </p:nvSpPr>
        <p:spPr>
          <a:xfrm>
            <a:off x="548640" y="6473952"/>
            <a:ext cx="7315200" cy="22860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Business Listing Consistency Agent  ·  Agentic AI Hackathon 2026</a:t>
            </a:r>
          </a:p>
        </p:txBody>
      </p:sp>
      <p:sp>
        <p:nvSpPr>
          <p:cNvPr id="5" name="TextBox 4"/>
          <p:cNvSpPr txBox="1"/>
          <p:nvPr/>
        </p:nvSpPr>
        <p:spPr>
          <a:xfrm>
            <a:off x="10728655" y="6473952"/>
            <a:ext cx="914400" cy="228600"/>
          </a:xfrm>
          <a:prstGeom prst="rect">
            <a:avLst/>
          </a:prstGeom>
          <a:noFill/>
        </p:spPr>
        <p:txBody>
          <a:bodyPr wrap="square" lIns="0" rIns="0" tIns="0" bIns="0" anchor="t">
            <a:spAutoFit/>
          </a:bodyPr>
          <a:lstStyle/>
          <a:p>
            <a:pPr algn="r">
              <a:lnSpc>
                <a:spcPct val="100000"/>
              </a:lnSpc>
            </a:pPr>
            <a:r>
              <a:rPr sz="1100" b="0" i="0">
                <a:solidFill>
                  <a:srgbClr val="6A5E51"/>
                </a:solidFill>
                <a:latin typeface="Calibri"/>
              </a:rPr>
              <a:t>5</a:t>
            </a:r>
          </a:p>
        </p:txBody>
      </p:sp>
      <p:sp>
        <p:nvSpPr>
          <p:cNvPr id="6" name="Rounded Rectangle 5"/>
          <p:cNvSpPr/>
          <p:nvPr/>
        </p:nvSpPr>
        <p:spPr>
          <a:xfrm>
            <a:off x="548640" y="1481328"/>
            <a:ext cx="2651760" cy="4206240"/>
          </a:xfrm>
          <a:prstGeom prst="roundRect">
            <a:avLst>
              <a:gd name="adj" fmla="val 2068"/>
            </a:avLst>
          </a:prstGeom>
          <a:solidFill>
            <a:srgbClr val="FBF8F1"/>
          </a:solidFill>
          <a:ln w="9525">
            <a:solidFill>
              <a:srgbClr val="E2D8C6"/>
            </a:solidFill>
          </a:ln>
          <a:effectLst/>
        </p:spPr>
        <p:txBody>
          <a:bodyPr rtlCol="0" anchor="ctr"/>
          <a:lstStyle/>
          <a:p>
            <a:pPr algn="ctr"/>
          </a:p>
        </p:txBody>
      </p:sp>
      <p:sp>
        <p:nvSpPr>
          <p:cNvPr id="7" name="Rounded Rectangle 6"/>
          <p:cNvSpPr/>
          <p:nvPr/>
        </p:nvSpPr>
        <p:spPr>
          <a:xfrm>
            <a:off x="548640" y="1481328"/>
            <a:ext cx="2651760" cy="530352"/>
          </a:xfrm>
          <a:prstGeom prst="roundRect">
            <a:avLst>
              <a:gd name="adj" fmla="val 10344"/>
            </a:avLst>
          </a:prstGeom>
          <a:solidFill>
            <a:srgbClr val="54733F"/>
          </a:solidFill>
          <a:ln>
            <a:noFill/>
          </a:ln>
          <a:effectLst/>
        </p:spPr>
        <p:txBody>
          <a:bodyPr rtlCol="0" anchor="ctr"/>
          <a:lstStyle/>
          <a:p>
            <a:pPr algn="ctr"/>
          </a:p>
        </p:txBody>
      </p:sp>
      <p:sp>
        <p:nvSpPr>
          <p:cNvPr id="8" name="TextBox 7"/>
          <p:cNvSpPr txBox="1"/>
          <p:nvPr/>
        </p:nvSpPr>
        <p:spPr>
          <a:xfrm>
            <a:off x="704088" y="1481328"/>
            <a:ext cx="2377440" cy="530352"/>
          </a:xfrm>
          <a:prstGeom prst="rect">
            <a:avLst/>
          </a:prstGeom>
          <a:noFill/>
        </p:spPr>
        <p:txBody>
          <a:bodyPr wrap="square" lIns="0" rIns="0" tIns="0" bIns="0" anchor="ctr">
            <a:spAutoFit/>
          </a:bodyPr>
          <a:lstStyle/>
          <a:p>
            <a:pPr algn="l">
              <a:lnSpc>
                <a:spcPct val="100000"/>
              </a:lnSpc>
            </a:pPr>
            <a:r>
              <a:rPr sz="1600" b="1" i="0">
                <a:solidFill>
                  <a:srgbClr val="FBF8F1"/>
                </a:solidFill>
                <a:latin typeface="Calibri"/>
              </a:rPr>
              <a:t>Interprets requests</a:t>
            </a:r>
          </a:p>
        </p:txBody>
      </p:sp>
      <p:sp>
        <p:nvSpPr>
          <p:cNvPr id="9" name="TextBox 8"/>
          <p:cNvSpPr txBox="1"/>
          <p:nvPr/>
        </p:nvSpPr>
        <p:spPr>
          <a:xfrm>
            <a:off x="704088" y="2176272"/>
            <a:ext cx="2340864" cy="2606040"/>
          </a:xfrm>
          <a:prstGeom prst="rect">
            <a:avLst/>
          </a:prstGeom>
          <a:noFill/>
        </p:spPr>
        <p:txBody>
          <a:bodyPr wrap="square" lIns="0" rIns="0" tIns="0" bIns="0" anchor="t">
            <a:spAutoFit/>
          </a:bodyPr>
          <a:lstStyle/>
          <a:p>
            <a:pPr algn="l" marL="155448" indent="-155448">
              <a:lnSpc>
                <a:spcPct val="100000"/>
              </a:lnSpc>
              <a:spcAft>
                <a:spcPts val="1000"/>
              </a:spcAft>
              <a:buChar char="•"/>
            </a:pPr>
            <a:r>
              <a:rPr sz="1500" b="0" i="0">
                <a:solidFill>
                  <a:srgbClr val="3A312A"/>
                </a:solidFill>
                <a:latin typeface="Calibri"/>
              </a:rPr>
              <a:t>Typed text becomes an intent: question, edit or date</a:t>
            </a:r>
          </a:p>
          <a:p>
            <a:pPr algn="l" marL="155448" indent="-155448">
              <a:lnSpc>
                <a:spcPct val="100000"/>
              </a:lnSpc>
              <a:spcAft>
                <a:spcPts val="1000"/>
              </a:spcAft>
              <a:buChar char="•"/>
            </a:pPr>
            <a:r>
              <a:rPr sz="1500" b="0" i="0">
                <a:solidFill>
                  <a:srgbClr val="3A312A"/>
                </a:solidFill>
                <a:latin typeface="Calibri"/>
              </a:rPr>
              <a:t>26th December becomes Sat 26 Dec 2026</a:t>
            </a:r>
          </a:p>
          <a:p>
            <a:pPr algn="l" marL="155448" indent="-155448">
              <a:lnSpc>
                <a:spcPct val="100000"/>
              </a:lnSpc>
              <a:buChar char="•"/>
            </a:pPr>
            <a:r>
              <a:rPr sz="1500" b="0" i="0">
                <a:solidFill>
                  <a:srgbClr val="3A312A"/>
                </a:solidFill>
                <a:latin typeface="Calibri"/>
              </a:rPr>
              <a:t>Unclear? One question. Nothing saves before Confirm</a:t>
            </a:r>
          </a:p>
        </p:txBody>
      </p:sp>
      <p:sp>
        <p:nvSpPr>
          <p:cNvPr id="10" name="Rounded Rectangle 9"/>
          <p:cNvSpPr/>
          <p:nvPr/>
        </p:nvSpPr>
        <p:spPr>
          <a:xfrm>
            <a:off x="658368" y="4828032"/>
            <a:ext cx="2432304" cy="749808"/>
          </a:xfrm>
          <a:prstGeom prst="roundRect">
            <a:avLst>
              <a:gd name="adj" fmla="val 7317"/>
            </a:avLst>
          </a:prstGeom>
          <a:solidFill>
            <a:srgbClr val="EBE2CF"/>
          </a:solidFill>
          <a:ln>
            <a:noFill/>
          </a:ln>
          <a:effectLst/>
        </p:spPr>
        <p:txBody>
          <a:bodyPr rtlCol="0" anchor="ctr"/>
          <a:lstStyle/>
          <a:p>
            <a:pPr algn="ctr"/>
          </a:p>
        </p:txBody>
      </p:sp>
      <p:sp>
        <p:nvSpPr>
          <p:cNvPr id="11" name="TextBox 10"/>
          <p:cNvSpPr txBox="1"/>
          <p:nvPr/>
        </p:nvSpPr>
        <p:spPr>
          <a:xfrm>
            <a:off x="749808" y="4828032"/>
            <a:ext cx="2249424" cy="749808"/>
          </a:xfrm>
          <a:prstGeom prst="rect">
            <a:avLst/>
          </a:prstGeom>
          <a:noFill/>
        </p:spPr>
        <p:txBody>
          <a:bodyPr wrap="square" lIns="0" rIns="0" tIns="0" bIns="0" anchor="ctr">
            <a:spAutoFit/>
          </a:bodyPr>
          <a:lstStyle/>
          <a:p>
            <a:pPr algn="l">
              <a:lnSpc>
                <a:spcPct val="100000"/>
              </a:lnSpc>
            </a:pPr>
            <a:r>
              <a:rPr sz="1200" b="1" i="0">
                <a:solidFill>
                  <a:srgbClr val="3F5A2E"/>
                </a:solidFill>
                <a:latin typeface="Calibri"/>
              </a:rPr>
              <a:t>"closed on 26th December"  &gt;  Action: Closed, Date: Sat 26 Dec 2026</a:t>
            </a:r>
          </a:p>
        </p:txBody>
      </p:sp>
      <p:sp>
        <p:nvSpPr>
          <p:cNvPr id="12" name="Rounded Rectangle 11"/>
          <p:cNvSpPr/>
          <p:nvPr/>
        </p:nvSpPr>
        <p:spPr>
          <a:xfrm>
            <a:off x="3362248" y="1481328"/>
            <a:ext cx="2651760" cy="4206240"/>
          </a:xfrm>
          <a:prstGeom prst="roundRect">
            <a:avLst>
              <a:gd name="adj" fmla="val 2068"/>
            </a:avLst>
          </a:prstGeom>
          <a:solidFill>
            <a:srgbClr val="FBF8F1"/>
          </a:solidFill>
          <a:ln w="9525">
            <a:solidFill>
              <a:srgbClr val="E2D8C6"/>
            </a:solidFill>
          </a:ln>
          <a:effectLst/>
        </p:spPr>
        <p:txBody>
          <a:bodyPr rtlCol="0" anchor="ctr"/>
          <a:lstStyle/>
          <a:p>
            <a:pPr algn="ctr"/>
          </a:p>
        </p:txBody>
      </p:sp>
      <p:sp>
        <p:nvSpPr>
          <p:cNvPr id="13" name="Rounded Rectangle 12"/>
          <p:cNvSpPr/>
          <p:nvPr/>
        </p:nvSpPr>
        <p:spPr>
          <a:xfrm>
            <a:off x="3362248" y="1481328"/>
            <a:ext cx="2651760" cy="530352"/>
          </a:xfrm>
          <a:prstGeom prst="roundRect">
            <a:avLst>
              <a:gd name="adj" fmla="val 10344"/>
            </a:avLst>
          </a:prstGeom>
          <a:solidFill>
            <a:srgbClr val="54733F"/>
          </a:solidFill>
          <a:ln>
            <a:noFill/>
          </a:ln>
          <a:effectLst/>
        </p:spPr>
        <p:txBody>
          <a:bodyPr rtlCol="0" anchor="ctr"/>
          <a:lstStyle/>
          <a:p>
            <a:pPr algn="ctr"/>
          </a:p>
        </p:txBody>
      </p:sp>
      <p:sp>
        <p:nvSpPr>
          <p:cNvPr id="14" name="TextBox 13"/>
          <p:cNvSpPr txBox="1"/>
          <p:nvPr/>
        </p:nvSpPr>
        <p:spPr>
          <a:xfrm>
            <a:off x="3517696" y="1481328"/>
            <a:ext cx="2377440" cy="530352"/>
          </a:xfrm>
          <a:prstGeom prst="rect">
            <a:avLst/>
          </a:prstGeom>
          <a:noFill/>
        </p:spPr>
        <p:txBody>
          <a:bodyPr wrap="square" lIns="0" rIns="0" tIns="0" bIns="0" anchor="ctr">
            <a:spAutoFit/>
          </a:bodyPr>
          <a:lstStyle/>
          <a:p>
            <a:pPr algn="l">
              <a:lnSpc>
                <a:spcPct val="100000"/>
              </a:lnSpc>
            </a:pPr>
            <a:r>
              <a:rPr sz="1600" b="1" i="0">
                <a:solidFill>
                  <a:srgbClr val="FBF8F1"/>
                </a:solidFill>
                <a:latin typeface="Calibri"/>
              </a:rPr>
              <a:t>Selects tools</a:t>
            </a:r>
          </a:p>
        </p:txBody>
      </p:sp>
      <p:sp>
        <p:nvSpPr>
          <p:cNvPr id="15" name="TextBox 14"/>
          <p:cNvSpPr txBox="1"/>
          <p:nvPr/>
        </p:nvSpPr>
        <p:spPr>
          <a:xfrm>
            <a:off x="3517696" y="2176272"/>
            <a:ext cx="2340864" cy="2606040"/>
          </a:xfrm>
          <a:prstGeom prst="rect">
            <a:avLst/>
          </a:prstGeom>
          <a:noFill/>
        </p:spPr>
        <p:txBody>
          <a:bodyPr wrap="square" lIns="0" rIns="0" tIns="0" bIns="0" anchor="t">
            <a:spAutoFit/>
          </a:bodyPr>
          <a:lstStyle/>
          <a:p>
            <a:pPr algn="l" marL="155448" indent="-155448">
              <a:lnSpc>
                <a:spcPct val="100000"/>
              </a:lnSpc>
              <a:spcAft>
                <a:spcPts val="1000"/>
              </a:spcAft>
              <a:buChar char="•"/>
            </a:pPr>
            <a:r>
              <a:rPr sz="1500" b="0" i="0">
                <a:solidFill>
                  <a:srgbClr val="3A312A"/>
                </a:solidFill>
                <a:latin typeface="Calibri"/>
              </a:rPr>
              <a:t>Looks at every site's state before each step</a:t>
            </a:r>
          </a:p>
          <a:p>
            <a:pPr algn="l" marL="155448" indent="-155448">
              <a:lnSpc>
                <a:spcPct val="100000"/>
              </a:lnSpc>
              <a:spcAft>
                <a:spcPts val="1000"/>
              </a:spcAft>
              <a:buChar char="•"/>
            </a:pPr>
            <a:r>
              <a:rPr sz="1500" b="0" i="0">
                <a:solidFill>
                  <a:srgbClr val="3A312A"/>
                </a:solidFill>
                <a:latin typeface="Calibri"/>
              </a:rPr>
              <a:t>Read, normalise, compare, then propose</a:t>
            </a:r>
          </a:p>
          <a:p>
            <a:pPr algn="l" marL="155448" indent="-155448">
              <a:lnSpc>
                <a:spcPct val="100000"/>
              </a:lnSpc>
              <a:buChar char="•"/>
            </a:pPr>
            <a:r>
              <a:rPr sz="1500" b="0" i="0">
                <a:solidFill>
                  <a:srgbClr val="3A312A"/>
                </a:solidFill>
                <a:latin typeface="Calibri"/>
              </a:rPr>
              <a:t>Not your listing? Code forces a flag, never an edit</a:t>
            </a:r>
          </a:p>
        </p:txBody>
      </p:sp>
      <p:sp>
        <p:nvSpPr>
          <p:cNvPr id="16" name="Rounded Rectangle 15"/>
          <p:cNvSpPr/>
          <p:nvPr/>
        </p:nvSpPr>
        <p:spPr>
          <a:xfrm>
            <a:off x="3471976" y="4828032"/>
            <a:ext cx="2432304" cy="749808"/>
          </a:xfrm>
          <a:prstGeom prst="roundRect">
            <a:avLst>
              <a:gd name="adj" fmla="val 7317"/>
            </a:avLst>
          </a:prstGeom>
          <a:solidFill>
            <a:srgbClr val="EBE2CF"/>
          </a:solidFill>
          <a:ln>
            <a:noFill/>
          </a:ln>
          <a:effectLst/>
        </p:spPr>
        <p:txBody>
          <a:bodyPr rtlCol="0" anchor="ctr"/>
          <a:lstStyle/>
          <a:p>
            <a:pPr algn="ctr"/>
          </a:p>
        </p:txBody>
      </p:sp>
      <p:sp>
        <p:nvSpPr>
          <p:cNvPr id="17" name="TextBox 16"/>
          <p:cNvSpPr txBox="1"/>
          <p:nvPr/>
        </p:nvSpPr>
        <p:spPr>
          <a:xfrm>
            <a:off x="3563416" y="4828032"/>
            <a:ext cx="2249424" cy="749808"/>
          </a:xfrm>
          <a:prstGeom prst="rect">
            <a:avLst/>
          </a:prstGeom>
          <a:noFill/>
        </p:spPr>
        <p:txBody>
          <a:bodyPr wrap="square" lIns="0" rIns="0" tIns="0" bIns="0" anchor="ctr">
            <a:spAutoFit/>
          </a:bodyPr>
          <a:lstStyle/>
          <a:p>
            <a:pPr algn="l">
              <a:lnSpc>
                <a:spcPct val="100000"/>
              </a:lnSpc>
            </a:pPr>
            <a:r>
              <a:rPr sz="1200" b="1" i="0">
                <a:solidFill>
                  <a:srgbClr val="3F5A2E"/>
                </a:solidFill>
                <a:latin typeface="Calibri"/>
              </a:rPr>
              <a:t>Rogue planner test: 6 unsafe picks, 6 blocked, 0 writes</a:t>
            </a:r>
          </a:p>
        </p:txBody>
      </p:sp>
      <p:sp>
        <p:nvSpPr>
          <p:cNvPr id="18" name="Rounded Rectangle 17"/>
          <p:cNvSpPr/>
          <p:nvPr/>
        </p:nvSpPr>
        <p:spPr>
          <a:xfrm>
            <a:off x="6175857" y="1481328"/>
            <a:ext cx="2651760" cy="4206240"/>
          </a:xfrm>
          <a:prstGeom prst="roundRect">
            <a:avLst>
              <a:gd name="adj" fmla="val 2068"/>
            </a:avLst>
          </a:prstGeom>
          <a:solidFill>
            <a:srgbClr val="FBF8F1"/>
          </a:solidFill>
          <a:ln w="9525">
            <a:solidFill>
              <a:srgbClr val="E2D8C6"/>
            </a:solidFill>
          </a:ln>
          <a:effectLst/>
        </p:spPr>
        <p:txBody>
          <a:bodyPr rtlCol="0" anchor="ctr"/>
          <a:lstStyle/>
          <a:p>
            <a:pPr algn="ctr"/>
          </a:p>
        </p:txBody>
      </p:sp>
      <p:sp>
        <p:nvSpPr>
          <p:cNvPr id="19" name="Rounded Rectangle 18"/>
          <p:cNvSpPr/>
          <p:nvPr/>
        </p:nvSpPr>
        <p:spPr>
          <a:xfrm>
            <a:off x="6175857" y="1481328"/>
            <a:ext cx="2651760" cy="530352"/>
          </a:xfrm>
          <a:prstGeom prst="roundRect">
            <a:avLst>
              <a:gd name="adj" fmla="val 10344"/>
            </a:avLst>
          </a:prstGeom>
          <a:solidFill>
            <a:srgbClr val="54733F"/>
          </a:solidFill>
          <a:ln>
            <a:noFill/>
          </a:ln>
          <a:effectLst/>
        </p:spPr>
        <p:txBody>
          <a:bodyPr rtlCol="0" anchor="ctr"/>
          <a:lstStyle/>
          <a:p>
            <a:pPr algn="ctr"/>
          </a:p>
        </p:txBody>
      </p:sp>
      <p:sp>
        <p:nvSpPr>
          <p:cNvPr id="20" name="TextBox 19"/>
          <p:cNvSpPr txBox="1"/>
          <p:nvPr/>
        </p:nvSpPr>
        <p:spPr>
          <a:xfrm>
            <a:off x="6331305" y="1481328"/>
            <a:ext cx="2377440" cy="530352"/>
          </a:xfrm>
          <a:prstGeom prst="rect">
            <a:avLst/>
          </a:prstGeom>
          <a:noFill/>
        </p:spPr>
        <p:txBody>
          <a:bodyPr wrap="square" lIns="0" rIns="0" tIns="0" bIns="0" anchor="ctr">
            <a:spAutoFit/>
          </a:bodyPr>
          <a:lstStyle/>
          <a:p>
            <a:pPr algn="l">
              <a:lnSpc>
                <a:spcPct val="100000"/>
              </a:lnSpc>
            </a:pPr>
            <a:r>
              <a:rPr sz="1600" b="1" i="0">
                <a:solidFill>
                  <a:srgbClr val="FBF8F1"/>
                </a:solidFill>
                <a:latin typeface="Calibri"/>
              </a:rPr>
              <a:t>Runs multi-step work</a:t>
            </a:r>
          </a:p>
        </p:txBody>
      </p:sp>
      <p:sp>
        <p:nvSpPr>
          <p:cNvPr id="21" name="TextBox 20"/>
          <p:cNvSpPr txBox="1"/>
          <p:nvPr/>
        </p:nvSpPr>
        <p:spPr>
          <a:xfrm>
            <a:off x="6331305" y="2176272"/>
            <a:ext cx="2340864" cy="2606040"/>
          </a:xfrm>
          <a:prstGeom prst="rect">
            <a:avLst/>
          </a:prstGeom>
          <a:noFill/>
        </p:spPr>
        <p:txBody>
          <a:bodyPr wrap="square" lIns="0" rIns="0" tIns="0" bIns="0" anchor="t">
            <a:spAutoFit/>
          </a:bodyPr>
          <a:lstStyle/>
          <a:p>
            <a:pPr algn="l" marL="155448" indent="-155448">
              <a:lnSpc>
                <a:spcPct val="100000"/>
              </a:lnSpc>
              <a:spcAft>
                <a:spcPts val="1000"/>
              </a:spcAft>
              <a:buChar char="•"/>
            </a:pPr>
            <a:r>
              <a:rPr sz="1500" b="0" i="0">
                <a:solidFill>
                  <a:srgbClr val="3A312A"/>
                </a:solidFill>
                <a:latin typeface="Calibri"/>
              </a:rPr>
              <a:t>Scan reads and proposes; Execute applies and verifies</a:t>
            </a:r>
          </a:p>
          <a:p>
            <a:pPr algn="l" marL="155448" indent="-155448">
              <a:lnSpc>
                <a:spcPct val="100000"/>
              </a:lnSpc>
              <a:spcAft>
                <a:spcPts val="1000"/>
              </a:spcAft>
              <a:buChar char="•"/>
            </a:pPr>
            <a:r>
              <a:rPr sz="1500" b="0" i="0">
                <a:solidFill>
                  <a:srgbClr val="3A312A"/>
                </a:solidFill>
                <a:latin typeface="Calibri"/>
              </a:rPr>
              <a:t>One closure request fans out to all five sites</a:t>
            </a:r>
          </a:p>
          <a:p>
            <a:pPr algn="l" marL="155448" indent="-155448">
              <a:lnSpc>
                <a:spcPct val="100000"/>
              </a:lnSpc>
              <a:buChar char="•"/>
            </a:pPr>
            <a:r>
              <a:rPr sz="1500" b="0" i="0">
                <a:solidFill>
                  <a:srgbClr val="3A312A"/>
                </a:solidFill>
                <a:latin typeface="Calibri"/>
              </a:rPr>
              <a:t>Every step is a visible trace row</a:t>
            </a:r>
          </a:p>
        </p:txBody>
      </p:sp>
      <p:sp>
        <p:nvSpPr>
          <p:cNvPr id="22" name="Rounded Rectangle 21"/>
          <p:cNvSpPr/>
          <p:nvPr/>
        </p:nvSpPr>
        <p:spPr>
          <a:xfrm>
            <a:off x="6285585" y="4828032"/>
            <a:ext cx="2432304" cy="749808"/>
          </a:xfrm>
          <a:prstGeom prst="roundRect">
            <a:avLst>
              <a:gd name="adj" fmla="val 7317"/>
            </a:avLst>
          </a:prstGeom>
          <a:solidFill>
            <a:srgbClr val="EBE2CF"/>
          </a:solidFill>
          <a:ln>
            <a:noFill/>
          </a:ln>
          <a:effectLst/>
        </p:spPr>
        <p:txBody>
          <a:bodyPr rtlCol="0" anchor="ctr"/>
          <a:lstStyle/>
          <a:p>
            <a:pPr algn="ctr"/>
          </a:p>
        </p:txBody>
      </p:sp>
      <p:sp>
        <p:nvSpPr>
          <p:cNvPr id="23" name="TextBox 22"/>
          <p:cNvSpPr txBox="1"/>
          <p:nvPr/>
        </p:nvSpPr>
        <p:spPr>
          <a:xfrm>
            <a:off x="6377025" y="4828032"/>
            <a:ext cx="2249424" cy="749808"/>
          </a:xfrm>
          <a:prstGeom prst="rect">
            <a:avLst/>
          </a:prstGeom>
          <a:noFill/>
        </p:spPr>
        <p:txBody>
          <a:bodyPr wrap="square" lIns="0" rIns="0" tIns="0" bIns="0" anchor="ctr">
            <a:spAutoFit/>
          </a:bodyPr>
          <a:lstStyle/>
          <a:p>
            <a:pPr algn="l">
              <a:lnSpc>
                <a:spcPct val="100000"/>
              </a:lnSpc>
            </a:pPr>
            <a:r>
              <a:rPr sz="1200" b="1" i="0">
                <a:solidFill>
                  <a:srgbClr val="3F5A2E"/>
                </a:solidFill>
                <a:latin typeface="Calibri"/>
              </a:rPr>
              <a:t>TC1: MISMATCH &gt; PROPOSED &gt; APPROVED &gt; APPLIED &gt; VERIFIED</a:t>
            </a:r>
          </a:p>
        </p:txBody>
      </p:sp>
      <p:sp>
        <p:nvSpPr>
          <p:cNvPr id="24" name="Rounded Rectangle 23"/>
          <p:cNvSpPr/>
          <p:nvPr/>
        </p:nvSpPr>
        <p:spPr>
          <a:xfrm>
            <a:off x="8989466" y="1481328"/>
            <a:ext cx="2651760" cy="4206240"/>
          </a:xfrm>
          <a:prstGeom prst="roundRect">
            <a:avLst>
              <a:gd name="adj" fmla="val 2068"/>
            </a:avLst>
          </a:prstGeom>
          <a:solidFill>
            <a:srgbClr val="FBF8F1"/>
          </a:solidFill>
          <a:ln w="9525">
            <a:solidFill>
              <a:srgbClr val="E2D8C6"/>
            </a:solidFill>
          </a:ln>
          <a:effectLst/>
        </p:spPr>
        <p:txBody>
          <a:bodyPr rtlCol="0" anchor="ctr"/>
          <a:lstStyle/>
          <a:p>
            <a:pPr algn="ctr"/>
          </a:p>
        </p:txBody>
      </p:sp>
      <p:sp>
        <p:nvSpPr>
          <p:cNvPr id="25" name="Rounded Rectangle 24"/>
          <p:cNvSpPr/>
          <p:nvPr/>
        </p:nvSpPr>
        <p:spPr>
          <a:xfrm>
            <a:off x="8989466" y="1481328"/>
            <a:ext cx="2651760" cy="530352"/>
          </a:xfrm>
          <a:prstGeom prst="roundRect">
            <a:avLst>
              <a:gd name="adj" fmla="val 10344"/>
            </a:avLst>
          </a:prstGeom>
          <a:solidFill>
            <a:srgbClr val="54733F"/>
          </a:solidFill>
          <a:ln>
            <a:noFill/>
          </a:ln>
          <a:effectLst/>
        </p:spPr>
        <p:txBody>
          <a:bodyPr rtlCol="0" anchor="ctr"/>
          <a:lstStyle/>
          <a:p>
            <a:pPr algn="ctr"/>
          </a:p>
        </p:txBody>
      </p:sp>
      <p:sp>
        <p:nvSpPr>
          <p:cNvPr id="26" name="TextBox 25"/>
          <p:cNvSpPr txBox="1"/>
          <p:nvPr/>
        </p:nvSpPr>
        <p:spPr>
          <a:xfrm>
            <a:off x="9144914" y="1481328"/>
            <a:ext cx="2377440" cy="530352"/>
          </a:xfrm>
          <a:prstGeom prst="rect">
            <a:avLst/>
          </a:prstGeom>
          <a:noFill/>
        </p:spPr>
        <p:txBody>
          <a:bodyPr wrap="square" lIns="0" rIns="0" tIns="0" bIns="0" anchor="ctr">
            <a:spAutoFit/>
          </a:bodyPr>
          <a:lstStyle/>
          <a:p>
            <a:pPr algn="l">
              <a:lnSpc>
                <a:spcPct val="100000"/>
              </a:lnSpc>
            </a:pPr>
            <a:r>
              <a:rPr sz="1600" b="1" i="0">
                <a:solidFill>
                  <a:srgbClr val="FBF8F1"/>
                </a:solidFill>
                <a:latin typeface="Calibri"/>
              </a:rPr>
              <a:t>Verifies and recovers</a:t>
            </a:r>
          </a:p>
        </p:txBody>
      </p:sp>
      <p:sp>
        <p:nvSpPr>
          <p:cNvPr id="27" name="TextBox 26"/>
          <p:cNvSpPr txBox="1"/>
          <p:nvPr/>
        </p:nvSpPr>
        <p:spPr>
          <a:xfrm>
            <a:off x="9144914" y="2176272"/>
            <a:ext cx="2340864" cy="2606040"/>
          </a:xfrm>
          <a:prstGeom prst="rect">
            <a:avLst/>
          </a:prstGeom>
          <a:noFill/>
        </p:spPr>
        <p:txBody>
          <a:bodyPr wrap="square" lIns="0" rIns="0" tIns="0" bIns="0" anchor="t">
            <a:spAutoFit/>
          </a:bodyPr>
          <a:lstStyle/>
          <a:p>
            <a:pPr algn="l" marL="155448" indent="-155448">
              <a:lnSpc>
                <a:spcPct val="100000"/>
              </a:lnSpc>
              <a:spcAft>
                <a:spcPts val="1000"/>
              </a:spcAft>
              <a:buChar char="•"/>
            </a:pPr>
            <a:r>
              <a:rPr sz="1500" b="0" i="0">
                <a:solidFill>
                  <a:srgbClr val="3A312A"/>
                </a:solidFill>
                <a:latin typeface="Calibri"/>
              </a:rPr>
              <a:t>Reloads the page; "saved" is never trusted</a:t>
            </a:r>
          </a:p>
          <a:p>
            <a:pPr algn="l" marL="155448" indent="-155448">
              <a:lnSpc>
                <a:spcPct val="100000"/>
              </a:lnSpc>
              <a:spcAft>
                <a:spcPts val="1000"/>
              </a:spcAft>
              <a:buChar char="•"/>
            </a:pPr>
            <a:r>
              <a:rPr sz="1500" b="0" i="0">
                <a:solidFill>
                  <a:srgbClr val="3A312A"/>
                </a:solidFill>
                <a:latin typeface="Calibri"/>
              </a:rPr>
              <a:t>A moderated site stays PENDING until it really changes</a:t>
            </a:r>
          </a:p>
          <a:p>
            <a:pPr algn="l" marL="155448" indent="-155448">
              <a:lnSpc>
                <a:spcPct val="100000"/>
              </a:lnSpc>
              <a:buChar char="•"/>
            </a:pPr>
            <a:r>
              <a:rPr sz="1500" b="0" i="0">
                <a:solidFill>
                  <a:srgbClr val="3A312A"/>
                </a:solidFill>
                <a:latin typeface="Calibri"/>
              </a:rPr>
              <a:t>Page changed? Site down? Re-ask, retry, re-send once</a:t>
            </a:r>
          </a:p>
        </p:txBody>
      </p:sp>
      <p:sp>
        <p:nvSpPr>
          <p:cNvPr id="28" name="Rounded Rectangle 27"/>
          <p:cNvSpPr/>
          <p:nvPr/>
        </p:nvSpPr>
        <p:spPr>
          <a:xfrm>
            <a:off x="9099194" y="4828032"/>
            <a:ext cx="2432304" cy="749808"/>
          </a:xfrm>
          <a:prstGeom prst="roundRect">
            <a:avLst>
              <a:gd name="adj" fmla="val 7317"/>
            </a:avLst>
          </a:prstGeom>
          <a:solidFill>
            <a:srgbClr val="EBE2CF"/>
          </a:solidFill>
          <a:ln>
            <a:noFill/>
          </a:ln>
          <a:effectLst/>
        </p:spPr>
        <p:txBody>
          <a:bodyPr rtlCol="0" anchor="ctr"/>
          <a:lstStyle/>
          <a:p>
            <a:pPr algn="ctr"/>
          </a:p>
        </p:txBody>
      </p:sp>
      <p:sp>
        <p:nvSpPr>
          <p:cNvPr id="29" name="TextBox 28"/>
          <p:cNvSpPr txBox="1"/>
          <p:nvPr/>
        </p:nvSpPr>
        <p:spPr>
          <a:xfrm>
            <a:off x="9190634" y="4828032"/>
            <a:ext cx="2249424" cy="749808"/>
          </a:xfrm>
          <a:prstGeom prst="rect">
            <a:avLst/>
          </a:prstGeom>
          <a:noFill/>
        </p:spPr>
        <p:txBody>
          <a:bodyPr wrap="square" lIns="0" rIns="0" tIns="0" bIns="0" anchor="ctr">
            <a:spAutoFit/>
          </a:bodyPr>
          <a:lstStyle/>
          <a:p>
            <a:pPr algn="l">
              <a:lnSpc>
                <a:spcPct val="100000"/>
              </a:lnSpc>
            </a:pPr>
            <a:r>
              <a:rPr sz="1200" b="1" i="0">
                <a:solidFill>
                  <a:srgbClr val="3F5A2E"/>
                </a:solidFill>
                <a:latin typeface="Calibri"/>
              </a:rPr>
              <a:t>TC8: outage retried, lost write re-sent, VERIFIED</a:t>
            </a:r>
          </a:p>
        </p:txBody>
      </p:sp>
      <p:sp>
        <p:nvSpPr>
          <p:cNvPr id="30" name="Rounded Rectangle 29"/>
          <p:cNvSpPr/>
          <p:nvPr/>
        </p:nvSpPr>
        <p:spPr>
          <a:xfrm>
            <a:off x="548640" y="5806440"/>
            <a:ext cx="11094415" cy="566928"/>
          </a:xfrm>
          <a:prstGeom prst="roundRect">
            <a:avLst>
              <a:gd name="adj" fmla="val 12903"/>
            </a:avLst>
          </a:prstGeom>
          <a:solidFill>
            <a:srgbClr val="F4DCC8"/>
          </a:solidFill>
          <a:ln>
            <a:noFill/>
          </a:ln>
          <a:effectLst/>
        </p:spPr>
        <p:txBody>
          <a:bodyPr rtlCol="0" anchor="ctr"/>
          <a:lstStyle/>
          <a:p>
            <a:pPr algn="ctr"/>
          </a:p>
        </p:txBody>
      </p:sp>
      <p:sp>
        <p:nvSpPr>
          <p:cNvPr id="31" name="TextBox 30"/>
          <p:cNvSpPr txBox="1"/>
          <p:nvPr/>
        </p:nvSpPr>
        <p:spPr>
          <a:xfrm>
            <a:off x="731520" y="5806440"/>
            <a:ext cx="10728655" cy="566928"/>
          </a:xfrm>
          <a:prstGeom prst="rect">
            <a:avLst/>
          </a:prstGeom>
          <a:noFill/>
        </p:spPr>
        <p:txBody>
          <a:bodyPr wrap="square" lIns="0" rIns="0" tIns="0" bIns="0" anchor="ctr">
            <a:spAutoFit/>
          </a:bodyPr>
          <a:lstStyle/>
          <a:p>
            <a:pPr algn="l">
              <a:lnSpc>
                <a:spcPct val="100000"/>
              </a:lnSpc>
            </a:pPr>
            <a:r>
              <a:rPr sz="1250" b="1" i="0">
                <a:solidFill>
                  <a:srgbClr val="B8561F"/>
                </a:solidFill>
                <a:latin typeface="Calibri"/>
              </a:rPr>
              <a:t>Honest note  </a:t>
            </a:r>
            <a:r>
              <a:rPr sz="1250" b="0" i="0">
                <a:solidFill>
                  <a:srgbClr val="3A312A"/>
                </a:solidFill>
                <a:latin typeface="Calibri"/>
              </a:rPr>
              <a:t>The default decision-maker is a rules planner. Gemini is optional, falls back to rules, and is tested with a mocked client: no live Gemini run is in our evidence.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EE3"/>
        </a:solidFill>
        <a:effectLst/>
      </p:bgPr>
    </p:bg>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pPr>
            <a:r>
              <a:rPr sz="1300" b="1" i="0" spc="140">
                <a:solidFill>
                  <a:srgbClr val="B8561F"/>
                </a:solidFill>
                <a:latin typeface="Calibri"/>
              </a:rPr>
              <a:t>4  ·  TECHNICAL IMPLEMENTATION</a:t>
            </a:r>
          </a:p>
        </p:txBody>
      </p:sp>
      <p:sp>
        <p:nvSpPr>
          <p:cNvPr id="3" name="TextBox 2"/>
          <p:cNvSpPr txBox="1"/>
          <p:nvPr/>
        </p:nvSpPr>
        <p:spPr>
          <a:xfrm>
            <a:off x="548640" y="621792"/>
            <a:ext cx="11094415" cy="640080"/>
          </a:xfrm>
          <a:prstGeom prst="rect">
            <a:avLst/>
          </a:prstGeom>
          <a:noFill/>
        </p:spPr>
        <p:txBody>
          <a:bodyPr wrap="square" lIns="0" rIns="0" tIns="0" bIns="0" anchor="t">
            <a:spAutoFit/>
          </a:bodyPr>
          <a:lstStyle/>
          <a:p>
            <a:pPr algn="l">
              <a:lnSpc>
                <a:spcPct val="100000"/>
              </a:lnSpc>
            </a:pPr>
            <a:r>
              <a:rPr sz="3000" b="1" i="0">
                <a:solidFill>
                  <a:srgbClr val="3A312A"/>
                </a:solidFill>
                <a:latin typeface="Cambria"/>
              </a:rPr>
              <a:t>One service: console, agent, readers, five mock platforms</a:t>
            </a:r>
          </a:p>
        </p:txBody>
      </p:sp>
      <p:sp>
        <p:nvSpPr>
          <p:cNvPr id="4" name="TextBox 3"/>
          <p:cNvSpPr txBox="1"/>
          <p:nvPr/>
        </p:nvSpPr>
        <p:spPr>
          <a:xfrm>
            <a:off x="548640" y="6473952"/>
            <a:ext cx="7315200" cy="22860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Business Listing Consistency Agent  ·  Agentic AI Hackathon 2026</a:t>
            </a:r>
          </a:p>
        </p:txBody>
      </p:sp>
      <p:sp>
        <p:nvSpPr>
          <p:cNvPr id="5" name="TextBox 4"/>
          <p:cNvSpPr txBox="1"/>
          <p:nvPr/>
        </p:nvSpPr>
        <p:spPr>
          <a:xfrm>
            <a:off x="10728655" y="6473952"/>
            <a:ext cx="914400" cy="228600"/>
          </a:xfrm>
          <a:prstGeom prst="rect">
            <a:avLst/>
          </a:prstGeom>
          <a:noFill/>
        </p:spPr>
        <p:txBody>
          <a:bodyPr wrap="square" lIns="0" rIns="0" tIns="0" bIns="0" anchor="t">
            <a:spAutoFit/>
          </a:bodyPr>
          <a:lstStyle/>
          <a:p>
            <a:pPr algn="r">
              <a:lnSpc>
                <a:spcPct val="100000"/>
              </a:lnSpc>
            </a:pPr>
            <a:r>
              <a:rPr sz="1100" b="0" i="0">
                <a:solidFill>
                  <a:srgbClr val="6A5E51"/>
                </a:solidFill>
                <a:latin typeface="Calibri"/>
              </a:rPr>
              <a:t>6</a:t>
            </a:r>
          </a:p>
        </p:txBody>
      </p:sp>
      <p:sp>
        <p:nvSpPr>
          <p:cNvPr id="6" name="TextBox 5"/>
          <p:cNvSpPr txBox="1"/>
          <p:nvPr/>
        </p:nvSpPr>
        <p:spPr>
          <a:xfrm>
            <a:off x="548640" y="1243584"/>
            <a:ext cx="11094415" cy="320040"/>
          </a:xfrm>
          <a:prstGeom prst="rect">
            <a:avLst/>
          </a:prstGeom>
          <a:noFill/>
        </p:spPr>
        <p:txBody>
          <a:bodyPr wrap="square" lIns="0" rIns="0" tIns="0" bIns="0" anchor="t">
            <a:spAutoFit/>
          </a:bodyPr>
          <a:lstStyle/>
          <a:p>
            <a:pPr algn="l">
              <a:lnSpc>
                <a:spcPct val="100000"/>
              </a:lnSpc>
            </a:pPr>
            <a:r>
              <a:rPr sz="1450" b="0" i="0">
                <a:solidFill>
                  <a:srgbClr val="6A5E51"/>
                </a:solidFill>
                <a:latin typeface="Calibri"/>
              </a:rPr>
              <a:t>Data flow: record, read pages, normalise, compare, propose, owner approves, apply, reload and verify, report.</a:t>
            </a:r>
          </a:p>
        </p:txBody>
      </p:sp>
      <p:sp>
        <p:nvSpPr>
          <p:cNvPr id="7" name="Rounded Rectangle 6"/>
          <p:cNvSpPr/>
          <p:nvPr/>
        </p:nvSpPr>
        <p:spPr>
          <a:xfrm>
            <a:off x="548640" y="2103120"/>
            <a:ext cx="2331720" cy="3108960"/>
          </a:xfrm>
          <a:prstGeom prst="roundRect">
            <a:avLst>
              <a:gd name="adj" fmla="val 2352"/>
            </a:avLst>
          </a:prstGeom>
          <a:solidFill>
            <a:srgbClr val="FBF8F1"/>
          </a:solidFill>
          <a:ln w="9525">
            <a:solidFill>
              <a:srgbClr val="E2D8C6"/>
            </a:solidFill>
          </a:ln>
          <a:effectLst/>
        </p:spPr>
        <p:txBody>
          <a:bodyPr rtlCol="0" anchor="ctr"/>
          <a:lstStyle/>
          <a:p>
            <a:pPr algn="ctr"/>
          </a:p>
        </p:txBody>
      </p:sp>
      <p:sp>
        <p:nvSpPr>
          <p:cNvPr id="8" name="TextBox 7"/>
          <p:cNvSpPr txBox="1"/>
          <p:nvPr/>
        </p:nvSpPr>
        <p:spPr>
          <a:xfrm>
            <a:off x="704088" y="2194560"/>
            <a:ext cx="2057400" cy="292608"/>
          </a:xfrm>
          <a:prstGeom prst="rect">
            <a:avLst/>
          </a:prstGeom>
          <a:noFill/>
        </p:spPr>
        <p:txBody>
          <a:bodyPr wrap="square" lIns="0" rIns="0" tIns="0" bIns="0" anchor="t">
            <a:spAutoFit/>
          </a:bodyPr>
          <a:lstStyle/>
          <a:p>
            <a:pPr algn="l">
              <a:lnSpc>
                <a:spcPct val="100000"/>
              </a:lnSpc>
            </a:pPr>
            <a:r>
              <a:rPr sz="1500" b="1" i="0">
                <a:solidFill>
                  <a:srgbClr val="3F5A2E"/>
                </a:solidFill>
                <a:latin typeface="Calibri"/>
              </a:rPr>
              <a:t>Owner's browser</a:t>
            </a:r>
          </a:p>
        </p:txBody>
      </p:sp>
      <p:sp>
        <p:nvSpPr>
          <p:cNvPr id="9" name="TextBox 8"/>
          <p:cNvSpPr txBox="1"/>
          <p:nvPr/>
        </p:nvSpPr>
        <p:spPr>
          <a:xfrm>
            <a:off x="704088" y="2523744"/>
            <a:ext cx="2057400" cy="274320"/>
          </a:xfrm>
          <a:prstGeom prst="rect">
            <a:avLst/>
          </a:prstGeom>
          <a:noFill/>
        </p:spPr>
        <p:txBody>
          <a:bodyPr wrap="square" lIns="0" rIns="0" tIns="0" bIns="0" anchor="t">
            <a:spAutoFit/>
          </a:bodyPr>
          <a:lstStyle/>
          <a:p>
            <a:pPr algn="l">
              <a:lnSpc>
                <a:spcPct val="100000"/>
              </a:lnSpc>
            </a:pPr>
            <a:r>
              <a:rPr sz="1250" b="0" i="0">
                <a:solidFill>
                  <a:srgbClr val="6A5E51"/>
                </a:solidFill>
                <a:latin typeface="Calibri"/>
              </a:rPr>
              <a:t>React 19 + Vite</a:t>
            </a:r>
          </a:p>
        </p:txBody>
      </p:sp>
      <p:sp>
        <p:nvSpPr>
          <p:cNvPr id="10" name="TextBox 9"/>
          <p:cNvSpPr txBox="1"/>
          <p:nvPr/>
        </p:nvSpPr>
        <p:spPr>
          <a:xfrm>
            <a:off x="704088" y="2926080"/>
            <a:ext cx="2057400" cy="2194560"/>
          </a:xfrm>
          <a:prstGeom prst="rect">
            <a:avLst/>
          </a:prstGeom>
          <a:noFill/>
        </p:spPr>
        <p:txBody>
          <a:bodyPr wrap="square" lIns="0" rIns="0" tIns="0" bIns="0" anchor="t">
            <a:spAutoFit/>
          </a:bodyPr>
          <a:lstStyle/>
          <a:p>
            <a:pPr algn="l" marL="155448" indent="-155448">
              <a:lnSpc>
                <a:spcPct val="100000"/>
              </a:lnSpc>
              <a:spcAft>
                <a:spcPts val="600"/>
              </a:spcAft>
              <a:buChar char="•"/>
            </a:pPr>
            <a:r>
              <a:rPr sz="1350" b="0" i="0">
                <a:solidFill>
                  <a:srgbClr val="3A312A"/>
                </a:solidFill>
                <a:latin typeface="Calibri"/>
              </a:rPr>
              <a:t>PIN-only login</a:t>
            </a:r>
          </a:p>
          <a:p>
            <a:pPr algn="l" marL="155448" indent="-155448">
              <a:lnSpc>
                <a:spcPct val="100000"/>
              </a:lnSpc>
              <a:spcAft>
                <a:spcPts val="600"/>
              </a:spcAft>
              <a:buChar char="•"/>
            </a:pPr>
            <a:r>
              <a:rPr sz="1350" b="0" i="0">
                <a:solidFill>
                  <a:srgbClr val="3A312A"/>
                </a:solidFill>
                <a:latin typeface="Calibri"/>
              </a:rPr>
              <a:t>Nine screens</a:t>
            </a:r>
          </a:p>
          <a:p>
            <a:pPr algn="l" marL="155448" indent="-155448">
              <a:lnSpc>
                <a:spcPct val="100000"/>
              </a:lnSpc>
              <a:spcAft>
                <a:spcPts val="600"/>
              </a:spcAft>
              <a:buChar char="•"/>
            </a:pPr>
            <a:r>
              <a:rPr sz="1350" b="0" i="0">
                <a:solidFill>
                  <a:srgbClr val="3A312A"/>
                </a:solidFill>
                <a:latin typeface="Calibri"/>
              </a:rPr>
              <a:t>Scan, Review, Apply bar</a:t>
            </a:r>
          </a:p>
          <a:p>
            <a:pPr algn="l" marL="155448" indent="-155448">
              <a:lnSpc>
                <a:spcPct val="100000"/>
              </a:lnSpc>
              <a:buChar char="•"/>
            </a:pPr>
            <a:r>
              <a:rPr sz="1350" b="0" i="0">
                <a:solidFill>
                  <a:srgbClr val="3A312A"/>
                </a:solidFill>
                <a:latin typeface="Calibri"/>
              </a:rPr>
              <a:t>Agent Trace map</a:t>
            </a:r>
          </a:p>
        </p:txBody>
      </p:sp>
      <p:sp>
        <p:nvSpPr>
          <p:cNvPr id="11" name="Rounded Rectangle 10"/>
          <p:cNvSpPr/>
          <p:nvPr/>
        </p:nvSpPr>
        <p:spPr>
          <a:xfrm>
            <a:off x="3246120" y="1783080"/>
            <a:ext cx="5120640" cy="3611880"/>
          </a:xfrm>
          <a:prstGeom prst="roundRect">
            <a:avLst>
              <a:gd name="adj" fmla="val 1518"/>
            </a:avLst>
          </a:prstGeom>
          <a:solidFill>
            <a:srgbClr val="EBE2CF"/>
          </a:solidFill>
          <a:ln w="9525">
            <a:solidFill>
              <a:srgbClr val="E2D8C6"/>
            </a:solidFill>
          </a:ln>
          <a:effectLst/>
        </p:spPr>
        <p:txBody>
          <a:bodyPr rtlCol="0" anchor="ctr"/>
          <a:lstStyle/>
          <a:p>
            <a:pPr algn="ctr"/>
          </a:p>
        </p:txBody>
      </p:sp>
      <p:sp>
        <p:nvSpPr>
          <p:cNvPr id="12" name="TextBox 11"/>
          <p:cNvSpPr txBox="1"/>
          <p:nvPr/>
        </p:nvSpPr>
        <p:spPr>
          <a:xfrm>
            <a:off x="3429000" y="1856231"/>
            <a:ext cx="4754880" cy="274320"/>
          </a:xfrm>
          <a:prstGeom prst="rect">
            <a:avLst/>
          </a:prstGeom>
          <a:noFill/>
        </p:spPr>
        <p:txBody>
          <a:bodyPr wrap="square" lIns="0" rIns="0" tIns="0" bIns="0" anchor="t">
            <a:spAutoFit/>
          </a:bodyPr>
          <a:lstStyle/>
          <a:p>
            <a:pPr algn="l">
              <a:lnSpc>
                <a:spcPct val="100000"/>
              </a:lnSpc>
            </a:pPr>
            <a:r>
              <a:rPr sz="1400" b="1" i="0">
                <a:solidFill>
                  <a:srgbClr val="3A312A"/>
                </a:solidFill>
                <a:latin typeface="Calibri"/>
              </a:rPr>
              <a:t>Node 22 service  ·  Express 5  ·  TypeScript</a:t>
            </a:r>
          </a:p>
        </p:txBody>
      </p:sp>
      <p:sp>
        <p:nvSpPr>
          <p:cNvPr id="13" name="Rounded Rectangle 12"/>
          <p:cNvSpPr/>
          <p:nvPr/>
        </p:nvSpPr>
        <p:spPr>
          <a:xfrm>
            <a:off x="3401568" y="2286000"/>
            <a:ext cx="2377440" cy="1371600"/>
          </a:xfrm>
          <a:prstGeom prst="roundRect">
            <a:avLst>
              <a:gd name="adj" fmla="val 4000"/>
            </a:avLst>
          </a:prstGeom>
          <a:solidFill>
            <a:srgbClr val="FBF8F1"/>
          </a:solidFill>
          <a:ln w="9525">
            <a:solidFill>
              <a:srgbClr val="E2D8C6"/>
            </a:solidFill>
          </a:ln>
          <a:effectLst/>
        </p:spPr>
        <p:txBody>
          <a:bodyPr rtlCol="0" anchor="ctr"/>
          <a:lstStyle/>
          <a:p>
            <a:pPr algn="ctr"/>
          </a:p>
        </p:txBody>
      </p:sp>
      <p:sp>
        <p:nvSpPr>
          <p:cNvPr id="14" name="TextBox 13"/>
          <p:cNvSpPr txBox="1"/>
          <p:nvPr/>
        </p:nvSpPr>
        <p:spPr>
          <a:xfrm>
            <a:off x="3538728" y="2395728"/>
            <a:ext cx="2103120" cy="274320"/>
          </a:xfrm>
          <a:prstGeom prst="rect">
            <a:avLst/>
          </a:prstGeom>
          <a:noFill/>
        </p:spPr>
        <p:txBody>
          <a:bodyPr wrap="square" lIns="0" rIns="0" tIns="0" bIns="0" anchor="t">
            <a:spAutoFit/>
          </a:bodyPr>
          <a:lstStyle/>
          <a:p>
            <a:pPr algn="l">
              <a:lnSpc>
                <a:spcPct val="100000"/>
              </a:lnSpc>
            </a:pPr>
            <a:r>
              <a:rPr sz="1450" b="1" i="0">
                <a:solidFill>
                  <a:srgbClr val="3F5A2E"/>
                </a:solidFill>
                <a:latin typeface="Calibri"/>
              </a:rPr>
              <a:t>API + auth</a:t>
            </a:r>
          </a:p>
        </p:txBody>
      </p:sp>
      <p:sp>
        <p:nvSpPr>
          <p:cNvPr id="15" name="TextBox 14"/>
          <p:cNvSpPr txBox="1"/>
          <p:nvPr/>
        </p:nvSpPr>
        <p:spPr>
          <a:xfrm>
            <a:off x="3538728" y="2743200"/>
            <a:ext cx="2103120" cy="868680"/>
          </a:xfrm>
          <a:prstGeom prst="rect">
            <a:avLst/>
          </a:prstGeom>
          <a:noFill/>
        </p:spPr>
        <p:txBody>
          <a:bodyPr wrap="square" lIns="0" rIns="0" tIns="0" bIns="0" anchor="t">
            <a:spAutoFit/>
          </a:bodyPr>
          <a:lstStyle/>
          <a:p>
            <a:pPr algn="l">
              <a:lnSpc>
                <a:spcPct val="100000"/>
              </a:lnSpc>
            </a:pPr>
            <a:r>
              <a:rPr sz="1300" b="0" i="0">
                <a:solidFill>
                  <a:srgbClr val="6A5E51"/>
                </a:solidFill>
                <a:latin typeface="Calibri"/>
              </a:rPr>
              <a:t>PIN-only login, sessions, one business per call</a:t>
            </a:r>
          </a:p>
        </p:txBody>
      </p:sp>
      <p:sp>
        <p:nvSpPr>
          <p:cNvPr id="16" name="Rounded Rectangle 15"/>
          <p:cNvSpPr/>
          <p:nvPr/>
        </p:nvSpPr>
        <p:spPr>
          <a:xfrm>
            <a:off x="5852160" y="2286000"/>
            <a:ext cx="2377440" cy="1371600"/>
          </a:xfrm>
          <a:prstGeom prst="roundRect">
            <a:avLst>
              <a:gd name="adj" fmla="val 4000"/>
            </a:avLst>
          </a:prstGeom>
          <a:solidFill>
            <a:srgbClr val="FBF8F1"/>
          </a:solidFill>
          <a:ln w="9525">
            <a:solidFill>
              <a:srgbClr val="E2D8C6"/>
            </a:solidFill>
          </a:ln>
          <a:effectLst/>
        </p:spPr>
        <p:txBody>
          <a:bodyPr rtlCol="0" anchor="ctr"/>
          <a:lstStyle/>
          <a:p>
            <a:pPr algn="ctr"/>
          </a:p>
        </p:txBody>
      </p:sp>
      <p:sp>
        <p:nvSpPr>
          <p:cNvPr id="17" name="TextBox 16"/>
          <p:cNvSpPr txBox="1"/>
          <p:nvPr/>
        </p:nvSpPr>
        <p:spPr>
          <a:xfrm>
            <a:off x="5989320" y="2395728"/>
            <a:ext cx="2103120" cy="274320"/>
          </a:xfrm>
          <a:prstGeom prst="rect">
            <a:avLst/>
          </a:prstGeom>
          <a:noFill/>
        </p:spPr>
        <p:txBody>
          <a:bodyPr wrap="square" lIns="0" rIns="0" tIns="0" bIns="0" anchor="t">
            <a:spAutoFit/>
          </a:bodyPr>
          <a:lstStyle/>
          <a:p>
            <a:pPr algn="l">
              <a:lnSpc>
                <a:spcPct val="100000"/>
              </a:lnSpc>
            </a:pPr>
            <a:r>
              <a:rPr sz="1450" b="1" i="0">
                <a:solidFill>
                  <a:srgbClr val="3F5A2E"/>
                </a:solidFill>
                <a:latin typeface="Calibri"/>
              </a:rPr>
              <a:t>Agent core</a:t>
            </a:r>
          </a:p>
        </p:txBody>
      </p:sp>
      <p:sp>
        <p:nvSpPr>
          <p:cNvPr id="18" name="TextBox 17"/>
          <p:cNvSpPr txBox="1"/>
          <p:nvPr/>
        </p:nvSpPr>
        <p:spPr>
          <a:xfrm>
            <a:off x="5989320" y="2743200"/>
            <a:ext cx="2103120" cy="868680"/>
          </a:xfrm>
          <a:prstGeom prst="rect">
            <a:avLst/>
          </a:prstGeom>
          <a:noFill/>
        </p:spPr>
        <p:txBody>
          <a:bodyPr wrap="square" lIns="0" rIns="0" tIns="0" bIns="0" anchor="t">
            <a:spAutoFit/>
          </a:bodyPr>
          <a:lstStyle/>
          <a:p>
            <a:pPr algn="l">
              <a:lnSpc>
                <a:spcPct val="100000"/>
              </a:lnSpc>
            </a:pPr>
            <a:r>
              <a:rPr sz="1300" b="0" i="0">
                <a:solidFill>
                  <a:srgbClr val="6A5E51"/>
                </a:solidFill>
                <a:latin typeface="Calibri"/>
              </a:rPr>
              <a:t>loop, planner, guardrail, 8 tools, verifier</a:t>
            </a:r>
          </a:p>
        </p:txBody>
      </p:sp>
      <p:sp>
        <p:nvSpPr>
          <p:cNvPr id="19" name="Rounded Rectangle 18"/>
          <p:cNvSpPr/>
          <p:nvPr/>
        </p:nvSpPr>
        <p:spPr>
          <a:xfrm>
            <a:off x="3401568" y="3794760"/>
            <a:ext cx="2377440" cy="1371600"/>
          </a:xfrm>
          <a:prstGeom prst="roundRect">
            <a:avLst>
              <a:gd name="adj" fmla="val 4000"/>
            </a:avLst>
          </a:prstGeom>
          <a:solidFill>
            <a:srgbClr val="FBF8F1"/>
          </a:solidFill>
          <a:ln w="9525">
            <a:solidFill>
              <a:srgbClr val="E2D8C6"/>
            </a:solidFill>
          </a:ln>
          <a:effectLst/>
        </p:spPr>
        <p:txBody>
          <a:bodyPr rtlCol="0" anchor="ctr"/>
          <a:lstStyle/>
          <a:p>
            <a:pPr algn="ctr"/>
          </a:p>
        </p:txBody>
      </p:sp>
      <p:sp>
        <p:nvSpPr>
          <p:cNvPr id="20" name="TextBox 19"/>
          <p:cNvSpPr txBox="1"/>
          <p:nvPr/>
        </p:nvSpPr>
        <p:spPr>
          <a:xfrm>
            <a:off x="3538728" y="3904488"/>
            <a:ext cx="2103120" cy="274320"/>
          </a:xfrm>
          <a:prstGeom prst="rect">
            <a:avLst/>
          </a:prstGeom>
          <a:noFill/>
        </p:spPr>
        <p:txBody>
          <a:bodyPr wrap="square" lIns="0" rIns="0" tIns="0" bIns="0" anchor="t">
            <a:spAutoFit/>
          </a:bodyPr>
          <a:lstStyle/>
          <a:p>
            <a:pPr algn="l">
              <a:lnSpc>
                <a:spcPct val="100000"/>
              </a:lnSpc>
            </a:pPr>
            <a:r>
              <a:rPr sz="1450" b="1" i="0">
                <a:solidFill>
                  <a:srgbClr val="3F5A2E"/>
                </a:solidFill>
                <a:latin typeface="Calibri"/>
              </a:rPr>
              <a:t>Owner-facing smarts</a:t>
            </a:r>
          </a:p>
        </p:txBody>
      </p:sp>
      <p:sp>
        <p:nvSpPr>
          <p:cNvPr id="21" name="TextBox 20"/>
          <p:cNvSpPr txBox="1"/>
          <p:nvPr/>
        </p:nvSpPr>
        <p:spPr>
          <a:xfrm>
            <a:off x="3538728" y="4251960"/>
            <a:ext cx="2103120" cy="868680"/>
          </a:xfrm>
          <a:prstGeom prst="rect">
            <a:avLst/>
          </a:prstGeom>
          <a:noFill/>
        </p:spPr>
        <p:txBody>
          <a:bodyPr wrap="square" lIns="0" rIns="0" tIns="0" bIns="0" anchor="t">
            <a:spAutoFit/>
          </a:bodyPr>
          <a:lstStyle/>
          <a:p>
            <a:pPr algn="l">
              <a:lnSpc>
                <a:spcPct val="100000"/>
              </a:lnSpc>
            </a:pPr>
            <a:r>
              <a:rPr sz="1300" b="0" i="0">
                <a:solidFill>
                  <a:srgbClr val="6A5E51"/>
                </a:solidFill>
                <a:latin typeface="Calibri"/>
              </a:rPr>
              <a:t>intent parser, holiday foresight, score matching</a:t>
            </a:r>
          </a:p>
        </p:txBody>
      </p:sp>
      <p:sp>
        <p:nvSpPr>
          <p:cNvPr id="22" name="Rounded Rectangle 21"/>
          <p:cNvSpPr/>
          <p:nvPr/>
        </p:nvSpPr>
        <p:spPr>
          <a:xfrm>
            <a:off x="5852160" y="3794760"/>
            <a:ext cx="2377440" cy="1371600"/>
          </a:xfrm>
          <a:prstGeom prst="roundRect">
            <a:avLst>
              <a:gd name="adj" fmla="val 4000"/>
            </a:avLst>
          </a:prstGeom>
          <a:solidFill>
            <a:srgbClr val="FBF8F1"/>
          </a:solidFill>
          <a:ln w="9525">
            <a:solidFill>
              <a:srgbClr val="E2D8C6"/>
            </a:solidFill>
          </a:ln>
          <a:effectLst/>
        </p:spPr>
        <p:txBody>
          <a:bodyPr rtlCol="0" anchor="ctr"/>
          <a:lstStyle/>
          <a:p>
            <a:pPr algn="ctr"/>
          </a:p>
        </p:txBody>
      </p:sp>
      <p:sp>
        <p:nvSpPr>
          <p:cNvPr id="23" name="TextBox 22"/>
          <p:cNvSpPr txBox="1"/>
          <p:nvPr/>
        </p:nvSpPr>
        <p:spPr>
          <a:xfrm>
            <a:off x="5989320" y="3904488"/>
            <a:ext cx="2103120" cy="274320"/>
          </a:xfrm>
          <a:prstGeom prst="rect">
            <a:avLst/>
          </a:prstGeom>
          <a:noFill/>
        </p:spPr>
        <p:txBody>
          <a:bodyPr wrap="square" lIns="0" rIns="0" tIns="0" bIns="0" anchor="t">
            <a:spAutoFit/>
          </a:bodyPr>
          <a:lstStyle/>
          <a:p>
            <a:pPr algn="l">
              <a:lnSpc>
                <a:spcPct val="100000"/>
              </a:lnSpc>
            </a:pPr>
            <a:r>
              <a:rPr sz="1450" b="1" i="0">
                <a:solidFill>
                  <a:srgbClr val="3F5A2E"/>
                </a:solidFill>
                <a:latin typeface="Calibri"/>
              </a:rPr>
              <a:t>SQLite</a:t>
            </a:r>
          </a:p>
        </p:txBody>
      </p:sp>
      <p:sp>
        <p:nvSpPr>
          <p:cNvPr id="24" name="TextBox 23"/>
          <p:cNvSpPr txBox="1"/>
          <p:nvPr/>
        </p:nvSpPr>
        <p:spPr>
          <a:xfrm>
            <a:off x="5989320" y="4251960"/>
            <a:ext cx="2103120" cy="868680"/>
          </a:xfrm>
          <a:prstGeom prst="rect">
            <a:avLst/>
          </a:prstGeom>
          <a:noFill/>
        </p:spPr>
        <p:txBody>
          <a:bodyPr wrap="square" lIns="0" rIns="0" tIns="0" bIns="0" anchor="t">
            <a:spAutoFit/>
          </a:bodyPr>
          <a:lstStyle/>
          <a:p>
            <a:pPr algn="l">
              <a:lnSpc>
                <a:spcPct val="100000"/>
              </a:lnSpc>
            </a:pPr>
            <a:r>
              <a:rPr sz="1300" b="0" i="0">
                <a:solidFill>
                  <a:srgbClr val="6A5E51"/>
                </a:solidFill>
                <a:latin typeface="Calibri"/>
              </a:rPr>
              <a:t>field states, audit log, trace, change log</a:t>
            </a:r>
          </a:p>
        </p:txBody>
      </p:sp>
      <p:sp>
        <p:nvSpPr>
          <p:cNvPr id="25" name="Rounded Rectangle 24"/>
          <p:cNvSpPr/>
          <p:nvPr/>
        </p:nvSpPr>
        <p:spPr>
          <a:xfrm>
            <a:off x="3246120" y="5532120"/>
            <a:ext cx="5120640" cy="411480"/>
          </a:xfrm>
          <a:prstGeom prst="roundRect">
            <a:avLst>
              <a:gd name="adj" fmla="val 13333"/>
            </a:avLst>
          </a:prstGeom>
          <a:solidFill>
            <a:srgbClr val="FBF8F1"/>
          </a:solidFill>
          <a:ln w="9525">
            <a:solidFill>
              <a:srgbClr val="54733F"/>
            </a:solidFill>
            <a:prstDash val="dash"/>
          </a:ln>
          <a:effectLst/>
        </p:spPr>
        <p:txBody>
          <a:bodyPr rtlCol="0" anchor="ctr"/>
          <a:lstStyle/>
          <a:p>
            <a:pPr algn="ctr"/>
          </a:p>
        </p:txBody>
      </p:sp>
      <p:sp>
        <p:nvSpPr>
          <p:cNvPr id="26" name="TextBox 25"/>
          <p:cNvSpPr txBox="1"/>
          <p:nvPr/>
        </p:nvSpPr>
        <p:spPr>
          <a:xfrm>
            <a:off x="3383280" y="5532120"/>
            <a:ext cx="4846320" cy="411480"/>
          </a:xfrm>
          <a:prstGeom prst="rect">
            <a:avLst/>
          </a:prstGeom>
          <a:noFill/>
        </p:spPr>
        <p:txBody>
          <a:bodyPr wrap="square" lIns="0" rIns="0" tIns="0" bIns="0" anchor="ctr">
            <a:spAutoFit/>
          </a:bodyPr>
          <a:lstStyle/>
          <a:p>
            <a:pPr algn="l">
              <a:lnSpc>
                <a:spcPct val="100000"/>
              </a:lnSpc>
            </a:pPr>
            <a:r>
              <a:rPr sz="1250" b="1" i="0">
                <a:solidFill>
                  <a:srgbClr val="3F5A2E"/>
                </a:solidFill>
                <a:latin typeface="Calibri"/>
              </a:rPr>
              <a:t>Optional  </a:t>
            </a:r>
            <a:r>
              <a:rPr sz="1250" b="0" i="0">
                <a:solidFill>
                  <a:srgbClr val="6A5E51"/>
                </a:solidFill>
                <a:latin typeface="Calibri"/>
              </a:rPr>
              <a:t>Gemini (Interactions API): planner, date cross-check</a:t>
            </a:r>
          </a:p>
        </p:txBody>
      </p:sp>
      <p:cxnSp>
        <p:nvCxnSpPr>
          <p:cNvPr id="27" name="Connector 26"/>
          <p:cNvCxnSpPr/>
          <p:nvPr/>
        </p:nvCxnSpPr>
        <p:spPr>
          <a:xfrm>
            <a:off x="2880360" y="3474720"/>
            <a:ext cx="365760"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2880360" y="3749039"/>
            <a:ext cx="365760"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743200" y="3127248"/>
            <a:ext cx="640080" cy="274320"/>
          </a:xfrm>
          <a:prstGeom prst="rect">
            <a:avLst/>
          </a:prstGeom>
          <a:noFill/>
        </p:spPr>
        <p:txBody>
          <a:bodyPr wrap="square" lIns="0" rIns="0" tIns="0" bIns="0" anchor="t">
            <a:spAutoFit/>
          </a:bodyPr>
          <a:lstStyle/>
          <a:p>
            <a:pPr algn="ctr">
              <a:lnSpc>
                <a:spcPct val="100000"/>
              </a:lnSpc>
            </a:pPr>
            <a:r>
              <a:rPr sz="1100" b="0" i="0">
                <a:solidFill>
                  <a:srgbClr val="6A5E51"/>
                </a:solidFill>
                <a:latin typeface="Calibri"/>
              </a:rPr>
              <a:t>HTTPS</a:t>
            </a:r>
          </a:p>
        </p:txBody>
      </p:sp>
      <p:sp>
        <p:nvSpPr>
          <p:cNvPr id="30" name="Rounded Rectangle 29"/>
          <p:cNvSpPr/>
          <p:nvPr/>
        </p:nvSpPr>
        <p:spPr>
          <a:xfrm>
            <a:off x="8915400" y="1783080"/>
            <a:ext cx="2724912" cy="1097280"/>
          </a:xfrm>
          <a:prstGeom prst="roundRect">
            <a:avLst>
              <a:gd name="adj" fmla="val 5000"/>
            </a:avLst>
          </a:prstGeom>
          <a:solidFill>
            <a:srgbClr val="FBF8F1"/>
          </a:solidFill>
          <a:ln w="9525">
            <a:solidFill>
              <a:srgbClr val="E2D8C6"/>
            </a:solidFill>
          </a:ln>
          <a:effectLst/>
        </p:spPr>
        <p:txBody>
          <a:bodyPr rtlCol="0" anchor="ctr"/>
          <a:lstStyle/>
          <a:p>
            <a:pPr algn="ctr"/>
          </a:p>
        </p:txBody>
      </p:sp>
      <p:sp>
        <p:nvSpPr>
          <p:cNvPr id="31" name="TextBox 30"/>
          <p:cNvSpPr txBox="1"/>
          <p:nvPr/>
        </p:nvSpPr>
        <p:spPr>
          <a:xfrm>
            <a:off x="9070848" y="1856231"/>
            <a:ext cx="2468880" cy="274320"/>
          </a:xfrm>
          <a:prstGeom prst="rect">
            <a:avLst/>
          </a:prstGeom>
          <a:noFill/>
        </p:spPr>
        <p:txBody>
          <a:bodyPr wrap="square" lIns="0" rIns="0" tIns="0" bIns="0" anchor="t">
            <a:spAutoFit/>
          </a:bodyPr>
          <a:lstStyle/>
          <a:p>
            <a:pPr algn="l">
              <a:lnSpc>
                <a:spcPct val="100000"/>
              </a:lnSpc>
            </a:pPr>
            <a:r>
              <a:rPr sz="1450" b="1" i="0">
                <a:solidFill>
                  <a:srgbClr val="3F5A2E"/>
                </a:solidFill>
                <a:latin typeface="Calibri"/>
              </a:rPr>
              <a:t>Readers</a:t>
            </a:r>
          </a:p>
        </p:txBody>
      </p:sp>
      <p:sp>
        <p:nvSpPr>
          <p:cNvPr id="32" name="TextBox 31"/>
          <p:cNvSpPr txBox="1"/>
          <p:nvPr/>
        </p:nvSpPr>
        <p:spPr>
          <a:xfrm>
            <a:off x="9070848" y="2194560"/>
            <a:ext cx="2468880" cy="640080"/>
          </a:xfrm>
          <a:prstGeom prst="rect">
            <a:avLst/>
          </a:prstGeom>
          <a:noFill/>
        </p:spPr>
        <p:txBody>
          <a:bodyPr wrap="square" lIns="0" rIns="0" tIns="0" bIns="0" anchor="t">
            <a:spAutoFit/>
          </a:bodyPr>
          <a:lstStyle/>
          <a:p>
            <a:pPr algn="l">
              <a:lnSpc>
                <a:spcPct val="100000"/>
              </a:lnSpc>
            </a:pPr>
            <a:r>
              <a:rPr sz="1300" b="0" i="0">
                <a:solidFill>
                  <a:srgbClr val="6A5E51"/>
                </a:solidFill>
                <a:latin typeface="Calibri"/>
              </a:rPr>
              <a:t>Playwright, or HTTP + cheerio</a:t>
            </a:r>
          </a:p>
        </p:txBody>
      </p:sp>
      <p:sp>
        <p:nvSpPr>
          <p:cNvPr id="33" name="Rounded Rectangle 32"/>
          <p:cNvSpPr/>
          <p:nvPr/>
        </p:nvSpPr>
        <p:spPr>
          <a:xfrm>
            <a:off x="8915400" y="3246120"/>
            <a:ext cx="2724912" cy="2148840"/>
          </a:xfrm>
          <a:prstGeom prst="roundRect">
            <a:avLst>
              <a:gd name="adj" fmla="val 2553"/>
            </a:avLst>
          </a:prstGeom>
          <a:solidFill>
            <a:srgbClr val="FBF8F1"/>
          </a:solidFill>
          <a:ln w="9525">
            <a:solidFill>
              <a:srgbClr val="E2D8C6"/>
            </a:solidFill>
          </a:ln>
          <a:effectLst/>
        </p:spPr>
        <p:txBody>
          <a:bodyPr rtlCol="0" anchor="ctr"/>
          <a:lstStyle/>
          <a:p>
            <a:pPr algn="ctr"/>
          </a:p>
        </p:txBody>
      </p:sp>
      <p:sp>
        <p:nvSpPr>
          <p:cNvPr id="34" name="TextBox 33"/>
          <p:cNvSpPr txBox="1"/>
          <p:nvPr/>
        </p:nvSpPr>
        <p:spPr>
          <a:xfrm>
            <a:off x="9070848" y="3319272"/>
            <a:ext cx="2468880" cy="274320"/>
          </a:xfrm>
          <a:prstGeom prst="rect">
            <a:avLst/>
          </a:prstGeom>
          <a:noFill/>
        </p:spPr>
        <p:txBody>
          <a:bodyPr wrap="square" lIns="0" rIns="0" tIns="0" bIns="0" anchor="t">
            <a:spAutoFit/>
          </a:bodyPr>
          <a:lstStyle/>
          <a:p>
            <a:pPr algn="l">
              <a:lnSpc>
                <a:spcPct val="100000"/>
              </a:lnSpc>
            </a:pPr>
            <a:r>
              <a:rPr sz="1450" b="1" i="0">
                <a:solidFill>
                  <a:srgbClr val="3F5A2E"/>
                </a:solidFill>
                <a:latin typeface="Calibri"/>
              </a:rPr>
              <a:t>Five mock platforms</a:t>
            </a:r>
          </a:p>
        </p:txBody>
      </p:sp>
      <p:sp>
        <p:nvSpPr>
          <p:cNvPr id="35" name="TextBox 34"/>
          <p:cNvSpPr txBox="1"/>
          <p:nvPr/>
        </p:nvSpPr>
        <p:spPr>
          <a:xfrm>
            <a:off x="9070848" y="3657600"/>
            <a:ext cx="2468880" cy="1691640"/>
          </a:xfrm>
          <a:prstGeom prst="rect">
            <a:avLst/>
          </a:prstGeom>
          <a:noFill/>
        </p:spPr>
        <p:txBody>
          <a:bodyPr wrap="square" lIns="0" rIns="0" tIns="0" bIns="0" anchor="t">
            <a:spAutoFit/>
          </a:bodyPr>
          <a:lstStyle/>
          <a:p>
            <a:pPr algn="l" marL="155448" indent="-155448">
              <a:lnSpc>
                <a:spcPct val="100000"/>
              </a:lnSpc>
              <a:spcAft>
                <a:spcPts val="400"/>
              </a:spcAft>
              <a:buChar char="•"/>
            </a:pPr>
            <a:r>
              <a:rPr sz="1250" b="0" i="0">
                <a:solidFill>
                  <a:srgbClr val="6A5E51"/>
                </a:solidFill>
                <a:latin typeface="Calibri"/>
              </a:rPr>
              <a:t>Public page, owner dashboard, edit API</a:t>
            </a:r>
          </a:p>
          <a:p>
            <a:pPr algn="l" marL="155448" indent="-155448">
              <a:lnSpc>
                <a:spcPct val="100000"/>
              </a:lnSpc>
              <a:spcAft>
                <a:spcPts val="400"/>
              </a:spcAft>
              <a:buChar char="•"/>
            </a:pPr>
            <a:r>
              <a:rPr sz="1250" b="0" i="0">
                <a:solidFill>
                  <a:srgbClr val="6A5E51"/>
                </a:solidFill>
                <a:latin typeface="Calibri"/>
              </a:rPr>
              <a:t>Different markup and hours formats</a:t>
            </a:r>
          </a:p>
          <a:p>
            <a:pPr algn="l" marL="155448" indent="-155448">
              <a:lnSpc>
                <a:spcPct val="100000"/>
              </a:lnSpc>
              <a:buChar char="•"/>
            </a:pPr>
            <a:r>
              <a:rPr sz="1250" b="0" i="0">
                <a:solidFill>
                  <a:srgbClr val="6A5E51"/>
                </a:solidFill>
                <a:latin typeface="Calibri"/>
              </a:rPr>
              <a:t>Ownership and moderation rules</a:t>
            </a:r>
          </a:p>
        </p:txBody>
      </p:sp>
      <p:cxnSp>
        <p:nvCxnSpPr>
          <p:cNvPr id="36" name="Connector 35"/>
          <p:cNvCxnSpPr/>
          <p:nvPr/>
        </p:nvCxnSpPr>
        <p:spPr>
          <a:xfrm>
            <a:off x="8366760" y="2331720"/>
            <a:ext cx="548640"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277856" y="2880360"/>
            <a:ext cx="0" cy="36576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385048" y="1984248"/>
            <a:ext cx="548640" cy="27432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read +</a:t>
            </a:r>
          </a:p>
        </p:txBody>
      </p:sp>
      <p:sp>
        <p:nvSpPr>
          <p:cNvPr id="39" name="TextBox 38"/>
          <p:cNvSpPr txBox="1"/>
          <p:nvPr/>
        </p:nvSpPr>
        <p:spPr>
          <a:xfrm>
            <a:off x="8385048" y="2377440"/>
            <a:ext cx="548640" cy="27432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write</a:t>
            </a:r>
          </a:p>
        </p:txBody>
      </p:sp>
      <p:sp>
        <p:nvSpPr>
          <p:cNvPr id="40" name="Rounded Rectangle 39"/>
          <p:cNvSpPr/>
          <p:nvPr/>
        </p:nvSpPr>
        <p:spPr>
          <a:xfrm>
            <a:off x="548640" y="6035040"/>
            <a:ext cx="11094415" cy="347472"/>
          </a:xfrm>
          <a:prstGeom prst="roundRect">
            <a:avLst>
              <a:gd name="adj" fmla="val 21052"/>
            </a:avLst>
          </a:prstGeom>
          <a:solidFill>
            <a:srgbClr val="2F2721"/>
          </a:solidFill>
          <a:ln>
            <a:noFill/>
          </a:ln>
          <a:effectLst/>
        </p:spPr>
        <p:txBody>
          <a:bodyPr rtlCol="0" anchor="ctr"/>
          <a:lstStyle/>
          <a:p>
            <a:pPr algn="ctr"/>
          </a:p>
        </p:txBody>
      </p:sp>
      <p:sp>
        <p:nvSpPr>
          <p:cNvPr id="41" name="TextBox 40"/>
          <p:cNvSpPr txBox="1"/>
          <p:nvPr/>
        </p:nvSpPr>
        <p:spPr>
          <a:xfrm>
            <a:off x="731520" y="6035040"/>
            <a:ext cx="10728655" cy="347472"/>
          </a:xfrm>
          <a:prstGeom prst="rect">
            <a:avLst/>
          </a:prstGeom>
          <a:noFill/>
        </p:spPr>
        <p:txBody>
          <a:bodyPr wrap="square" lIns="0" rIns="0" tIns="0" bIns="0" anchor="ctr">
            <a:spAutoFit/>
          </a:bodyPr>
          <a:lstStyle/>
          <a:p>
            <a:pPr algn="l">
              <a:lnSpc>
                <a:spcPct val="100000"/>
              </a:lnSpc>
            </a:pPr>
            <a:r>
              <a:rPr sz="1250" b="0" i="0">
                <a:solidFill>
                  <a:srgbClr val="FBF8F1"/>
                </a:solidFill>
                <a:latin typeface="Calibri"/>
              </a:rPr>
              <a:t>TypeScript  ·  Node 22  ·  Express 5  ·  React 19 + Vite  ·  SQLite  ·  Zod 4  ·  Playwright + cheerio  ·  chrono-node  ·  Docker on Render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EE3"/>
        </a:solidFill>
        <a:effectLst/>
      </p:bgPr>
    </p:bg>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pPr>
            <a:r>
              <a:rPr sz="1300" b="1" i="0" spc="140">
                <a:solidFill>
                  <a:srgbClr val="B8561F"/>
                </a:solidFill>
                <a:latin typeface="Calibri"/>
              </a:rPr>
              <a:t>4  ·  TECHNICAL IMPLEMENTATION</a:t>
            </a:r>
          </a:p>
        </p:txBody>
      </p:sp>
      <p:sp>
        <p:nvSpPr>
          <p:cNvPr id="3" name="TextBox 2"/>
          <p:cNvSpPr txBox="1"/>
          <p:nvPr/>
        </p:nvSpPr>
        <p:spPr>
          <a:xfrm>
            <a:off x="548640" y="621792"/>
            <a:ext cx="11094415" cy="640080"/>
          </a:xfrm>
          <a:prstGeom prst="rect">
            <a:avLst/>
          </a:prstGeom>
          <a:noFill/>
        </p:spPr>
        <p:txBody>
          <a:bodyPr wrap="square" lIns="0" rIns="0" tIns="0" bIns="0" anchor="t">
            <a:spAutoFit/>
          </a:bodyPr>
          <a:lstStyle/>
          <a:p>
            <a:pPr algn="l">
              <a:lnSpc>
                <a:spcPct val="100000"/>
              </a:lnSpc>
            </a:pPr>
            <a:r>
              <a:rPr sz="3000" b="1" i="0">
                <a:solidFill>
                  <a:srgbClr val="3A312A"/>
                </a:solidFill>
                <a:latin typeface="Cambria"/>
              </a:rPr>
              <a:t>Safety is enforced in code, not in prompts</a:t>
            </a:r>
          </a:p>
        </p:txBody>
      </p:sp>
      <p:sp>
        <p:nvSpPr>
          <p:cNvPr id="4" name="TextBox 3"/>
          <p:cNvSpPr txBox="1"/>
          <p:nvPr/>
        </p:nvSpPr>
        <p:spPr>
          <a:xfrm>
            <a:off x="548640" y="6473952"/>
            <a:ext cx="7315200" cy="22860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Business Listing Consistency Agent  ·  Agentic AI Hackathon 2026</a:t>
            </a:r>
          </a:p>
        </p:txBody>
      </p:sp>
      <p:sp>
        <p:nvSpPr>
          <p:cNvPr id="5" name="TextBox 4"/>
          <p:cNvSpPr txBox="1"/>
          <p:nvPr/>
        </p:nvSpPr>
        <p:spPr>
          <a:xfrm>
            <a:off x="10728655" y="6473952"/>
            <a:ext cx="914400" cy="228600"/>
          </a:xfrm>
          <a:prstGeom prst="rect">
            <a:avLst/>
          </a:prstGeom>
          <a:noFill/>
        </p:spPr>
        <p:txBody>
          <a:bodyPr wrap="square" lIns="0" rIns="0" tIns="0" bIns="0" anchor="t">
            <a:spAutoFit/>
          </a:bodyPr>
          <a:lstStyle/>
          <a:p>
            <a:pPr algn="r">
              <a:lnSpc>
                <a:spcPct val="100000"/>
              </a:lnSpc>
            </a:pPr>
            <a:r>
              <a:rPr sz="1100" b="0" i="0">
                <a:solidFill>
                  <a:srgbClr val="6A5E51"/>
                </a:solidFill>
                <a:latin typeface="Calibri"/>
              </a:rPr>
              <a:t>7</a:t>
            </a:r>
          </a:p>
        </p:txBody>
      </p:sp>
      <p:sp>
        <p:nvSpPr>
          <p:cNvPr id="6" name="Rounded Rectangle 5"/>
          <p:cNvSpPr/>
          <p:nvPr/>
        </p:nvSpPr>
        <p:spPr>
          <a:xfrm>
            <a:off x="548640" y="1965960"/>
            <a:ext cx="1188720" cy="603504"/>
          </a:xfrm>
          <a:prstGeom prst="roundRect">
            <a:avLst>
              <a:gd name="adj" fmla="val 12121"/>
            </a:avLst>
          </a:prstGeom>
          <a:solidFill>
            <a:srgbClr val="EBE2CF"/>
          </a:solidFill>
          <a:ln w="9525">
            <a:solidFill>
              <a:srgbClr val="E2D8C6"/>
            </a:solidFill>
          </a:ln>
          <a:effectLst/>
        </p:spPr>
        <p:txBody>
          <a:bodyPr rtlCol="0" anchor="ctr"/>
          <a:lstStyle/>
          <a:p>
            <a:pPr algn="ctr"/>
          </a:p>
        </p:txBody>
      </p:sp>
      <p:sp>
        <p:nvSpPr>
          <p:cNvPr id="7" name="TextBox 6"/>
          <p:cNvSpPr txBox="1"/>
          <p:nvPr/>
        </p:nvSpPr>
        <p:spPr>
          <a:xfrm>
            <a:off x="585216" y="1965960"/>
            <a:ext cx="1115568" cy="603504"/>
          </a:xfrm>
          <a:prstGeom prst="rect">
            <a:avLst/>
          </a:prstGeom>
          <a:noFill/>
        </p:spPr>
        <p:txBody>
          <a:bodyPr wrap="square" lIns="0" rIns="0" tIns="0" bIns="0" anchor="ctr">
            <a:spAutoFit/>
          </a:bodyPr>
          <a:lstStyle/>
          <a:p>
            <a:pPr algn="ctr">
              <a:lnSpc>
                <a:spcPct val="100000"/>
              </a:lnSpc>
            </a:pPr>
            <a:r>
              <a:rPr sz="1150" b="1" i="0">
                <a:solidFill>
                  <a:srgbClr val="3A312A"/>
                </a:solidFill>
                <a:latin typeface="Calibri"/>
              </a:rPr>
              <a:t>MISMATCH</a:t>
            </a:r>
          </a:p>
        </p:txBody>
      </p:sp>
      <p:sp>
        <p:nvSpPr>
          <p:cNvPr id="8" name="Rounded Rectangle 7"/>
          <p:cNvSpPr/>
          <p:nvPr/>
        </p:nvSpPr>
        <p:spPr>
          <a:xfrm>
            <a:off x="1965960" y="1965960"/>
            <a:ext cx="1188720" cy="603504"/>
          </a:xfrm>
          <a:prstGeom prst="roundRect">
            <a:avLst>
              <a:gd name="adj" fmla="val 12121"/>
            </a:avLst>
          </a:prstGeom>
          <a:solidFill>
            <a:srgbClr val="EBE2CF"/>
          </a:solidFill>
          <a:ln w="9525">
            <a:solidFill>
              <a:srgbClr val="E2D8C6"/>
            </a:solidFill>
          </a:ln>
          <a:effectLst/>
        </p:spPr>
        <p:txBody>
          <a:bodyPr rtlCol="0" anchor="ctr"/>
          <a:lstStyle/>
          <a:p>
            <a:pPr algn="ctr"/>
          </a:p>
        </p:txBody>
      </p:sp>
      <p:sp>
        <p:nvSpPr>
          <p:cNvPr id="9" name="TextBox 8"/>
          <p:cNvSpPr txBox="1"/>
          <p:nvPr/>
        </p:nvSpPr>
        <p:spPr>
          <a:xfrm>
            <a:off x="2002536" y="1965960"/>
            <a:ext cx="1115568" cy="603504"/>
          </a:xfrm>
          <a:prstGeom prst="rect">
            <a:avLst/>
          </a:prstGeom>
          <a:noFill/>
        </p:spPr>
        <p:txBody>
          <a:bodyPr wrap="square" lIns="0" rIns="0" tIns="0" bIns="0" anchor="ctr">
            <a:spAutoFit/>
          </a:bodyPr>
          <a:lstStyle/>
          <a:p>
            <a:pPr algn="ctr">
              <a:lnSpc>
                <a:spcPct val="100000"/>
              </a:lnSpc>
            </a:pPr>
            <a:r>
              <a:rPr sz="1150" b="1" i="0">
                <a:solidFill>
                  <a:srgbClr val="3A312A"/>
                </a:solidFill>
                <a:latin typeface="Calibri"/>
              </a:rPr>
              <a:t>PROPOSED</a:t>
            </a:r>
          </a:p>
        </p:txBody>
      </p:sp>
      <p:sp>
        <p:nvSpPr>
          <p:cNvPr id="10" name="Rounded Rectangle 9"/>
          <p:cNvSpPr/>
          <p:nvPr/>
        </p:nvSpPr>
        <p:spPr>
          <a:xfrm>
            <a:off x="3383280" y="1965960"/>
            <a:ext cx="1188720" cy="603504"/>
          </a:xfrm>
          <a:prstGeom prst="roundRect">
            <a:avLst>
              <a:gd name="adj" fmla="val 12121"/>
            </a:avLst>
          </a:prstGeom>
          <a:solidFill>
            <a:srgbClr val="DFEBD2"/>
          </a:solidFill>
          <a:ln w="9525">
            <a:solidFill>
              <a:srgbClr val="E2D8C6"/>
            </a:solidFill>
          </a:ln>
          <a:effectLst/>
        </p:spPr>
        <p:txBody>
          <a:bodyPr rtlCol="0" anchor="ctr"/>
          <a:lstStyle/>
          <a:p>
            <a:pPr algn="ctr"/>
          </a:p>
        </p:txBody>
      </p:sp>
      <p:sp>
        <p:nvSpPr>
          <p:cNvPr id="11" name="TextBox 10"/>
          <p:cNvSpPr txBox="1"/>
          <p:nvPr/>
        </p:nvSpPr>
        <p:spPr>
          <a:xfrm>
            <a:off x="3419856" y="1965960"/>
            <a:ext cx="1115568" cy="603504"/>
          </a:xfrm>
          <a:prstGeom prst="rect">
            <a:avLst/>
          </a:prstGeom>
          <a:noFill/>
        </p:spPr>
        <p:txBody>
          <a:bodyPr wrap="square" lIns="0" rIns="0" tIns="0" bIns="0" anchor="ctr">
            <a:spAutoFit/>
          </a:bodyPr>
          <a:lstStyle/>
          <a:p>
            <a:pPr algn="ctr">
              <a:lnSpc>
                <a:spcPct val="100000"/>
              </a:lnSpc>
            </a:pPr>
            <a:r>
              <a:rPr sz="1150" b="1" i="0">
                <a:solidFill>
                  <a:srgbClr val="3F5A2E"/>
                </a:solidFill>
                <a:latin typeface="Calibri"/>
              </a:rPr>
              <a:t>APPROVED</a:t>
            </a:r>
          </a:p>
        </p:txBody>
      </p:sp>
      <p:sp>
        <p:nvSpPr>
          <p:cNvPr id="12" name="Rounded Rectangle 11"/>
          <p:cNvSpPr/>
          <p:nvPr/>
        </p:nvSpPr>
        <p:spPr>
          <a:xfrm>
            <a:off x="4800600" y="1965960"/>
            <a:ext cx="1188720" cy="603504"/>
          </a:xfrm>
          <a:prstGeom prst="roundRect">
            <a:avLst>
              <a:gd name="adj" fmla="val 12121"/>
            </a:avLst>
          </a:prstGeom>
          <a:solidFill>
            <a:srgbClr val="EBE2CF"/>
          </a:solidFill>
          <a:ln w="9525">
            <a:solidFill>
              <a:srgbClr val="E2D8C6"/>
            </a:solidFill>
          </a:ln>
          <a:effectLst/>
        </p:spPr>
        <p:txBody>
          <a:bodyPr rtlCol="0" anchor="ctr"/>
          <a:lstStyle/>
          <a:p>
            <a:pPr algn="ctr"/>
          </a:p>
        </p:txBody>
      </p:sp>
      <p:sp>
        <p:nvSpPr>
          <p:cNvPr id="13" name="TextBox 12"/>
          <p:cNvSpPr txBox="1"/>
          <p:nvPr/>
        </p:nvSpPr>
        <p:spPr>
          <a:xfrm>
            <a:off x="4837176" y="1965960"/>
            <a:ext cx="1115568" cy="603504"/>
          </a:xfrm>
          <a:prstGeom prst="rect">
            <a:avLst/>
          </a:prstGeom>
          <a:noFill/>
        </p:spPr>
        <p:txBody>
          <a:bodyPr wrap="square" lIns="0" rIns="0" tIns="0" bIns="0" anchor="ctr">
            <a:spAutoFit/>
          </a:bodyPr>
          <a:lstStyle/>
          <a:p>
            <a:pPr algn="ctr">
              <a:lnSpc>
                <a:spcPct val="100000"/>
              </a:lnSpc>
            </a:pPr>
            <a:r>
              <a:rPr sz="1150" b="1" i="0">
                <a:solidFill>
                  <a:srgbClr val="3A312A"/>
                </a:solidFill>
                <a:latin typeface="Calibri"/>
              </a:rPr>
              <a:t>APPLIED</a:t>
            </a:r>
          </a:p>
        </p:txBody>
      </p:sp>
      <p:sp>
        <p:nvSpPr>
          <p:cNvPr id="14" name="Rounded Rectangle 13"/>
          <p:cNvSpPr/>
          <p:nvPr/>
        </p:nvSpPr>
        <p:spPr>
          <a:xfrm>
            <a:off x="6217920" y="1965960"/>
            <a:ext cx="1188720" cy="603504"/>
          </a:xfrm>
          <a:prstGeom prst="roundRect">
            <a:avLst>
              <a:gd name="adj" fmla="val 12121"/>
            </a:avLst>
          </a:prstGeom>
          <a:solidFill>
            <a:srgbClr val="54733F"/>
          </a:solidFill>
          <a:ln w="9525">
            <a:solidFill>
              <a:srgbClr val="E2D8C6"/>
            </a:solidFill>
          </a:ln>
          <a:effectLst/>
        </p:spPr>
        <p:txBody>
          <a:bodyPr rtlCol="0" anchor="ctr"/>
          <a:lstStyle/>
          <a:p>
            <a:pPr algn="ctr"/>
          </a:p>
        </p:txBody>
      </p:sp>
      <p:sp>
        <p:nvSpPr>
          <p:cNvPr id="15" name="TextBox 14"/>
          <p:cNvSpPr txBox="1"/>
          <p:nvPr/>
        </p:nvSpPr>
        <p:spPr>
          <a:xfrm>
            <a:off x="6254496" y="1965960"/>
            <a:ext cx="1115568" cy="603504"/>
          </a:xfrm>
          <a:prstGeom prst="rect">
            <a:avLst/>
          </a:prstGeom>
          <a:noFill/>
        </p:spPr>
        <p:txBody>
          <a:bodyPr wrap="square" lIns="0" rIns="0" tIns="0" bIns="0" anchor="ctr">
            <a:spAutoFit/>
          </a:bodyPr>
          <a:lstStyle/>
          <a:p>
            <a:pPr algn="ctr">
              <a:lnSpc>
                <a:spcPct val="100000"/>
              </a:lnSpc>
            </a:pPr>
            <a:r>
              <a:rPr sz="1150" b="1" i="0">
                <a:solidFill>
                  <a:srgbClr val="FBF8F1"/>
                </a:solidFill>
                <a:latin typeface="Calibri"/>
              </a:rPr>
              <a:t>VERIFIED</a:t>
            </a:r>
          </a:p>
        </p:txBody>
      </p:sp>
      <p:cxnSp>
        <p:nvCxnSpPr>
          <p:cNvPr id="16" name="Connector 15"/>
          <p:cNvCxnSpPr/>
          <p:nvPr/>
        </p:nvCxnSpPr>
        <p:spPr>
          <a:xfrm>
            <a:off x="1746504" y="2267712"/>
            <a:ext cx="210312"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34440" y="1600200"/>
            <a:ext cx="1280160" cy="274320"/>
          </a:xfrm>
          <a:prstGeom prst="rect">
            <a:avLst/>
          </a:prstGeom>
          <a:noFill/>
        </p:spPr>
        <p:txBody>
          <a:bodyPr wrap="square" lIns="0" rIns="0" tIns="0" bIns="0" anchor="t">
            <a:spAutoFit/>
          </a:bodyPr>
          <a:lstStyle/>
          <a:p>
            <a:pPr algn="ctr">
              <a:lnSpc>
                <a:spcPct val="100000"/>
              </a:lnSpc>
            </a:pPr>
            <a:r>
              <a:rPr sz="1150" b="1" i="0">
                <a:solidFill>
                  <a:srgbClr val="B8561F"/>
                </a:solidFill>
                <a:latin typeface="Calibri"/>
              </a:rPr>
              <a:t>agent proposes</a:t>
            </a:r>
          </a:p>
        </p:txBody>
      </p:sp>
      <p:cxnSp>
        <p:nvCxnSpPr>
          <p:cNvPr id="18" name="Connector 17"/>
          <p:cNvCxnSpPr/>
          <p:nvPr/>
        </p:nvCxnSpPr>
        <p:spPr>
          <a:xfrm>
            <a:off x="3163824" y="2267712"/>
            <a:ext cx="210312"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651760" y="1600200"/>
            <a:ext cx="1280160" cy="274320"/>
          </a:xfrm>
          <a:prstGeom prst="rect">
            <a:avLst/>
          </a:prstGeom>
          <a:noFill/>
        </p:spPr>
        <p:txBody>
          <a:bodyPr wrap="square" lIns="0" rIns="0" tIns="0" bIns="0" anchor="t">
            <a:spAutoFit/>
          </a:bodyPr>
          <a:lstStyle/>
          <a:p>
            <a:pPr algn="ctr">
              <a:lnSpc>
                <a:spcPct val="100000"/>
              </a:lnSpc>
            </a:pPr>
            <a:r>
              <a:rPr sz="1150" b="1" i="0">
                <a:solidFill>
                  <a:srgbClr val="B8561F"/>
                </a:solidFill>
                <a:latin typeface="Calibri"/>
              </a:rPr>
              <a:t>owner only</a:t>
            </a:r>
          </a:p>
        </p:txBody>
      </p:sp>
      <p:cxnSp>
        <p:nvCxnSpPr>
          <p:cNvPr id="20" name="Connector 19"/>
          <p:cNvCxnSpPr/>
          <p:nvPr/>
        </p:nvCxnSpPr>
        <p:spPr>
          <a:xfrm>
            <a:off x="4581144" y="2267712"/>
            <a:ext cx="210312"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69080" y="1600200"/>
            <a:ext cx="1280160" cy="274320"/>
          </a:xfrm>
          <a:prstGeom prst="rect">
            <a:avLst/>
          </a:prstGeom>
          <a:noFill/>
        </p:spPr>
        <p:txBody>
          <a:bodyPr wrap="square" lIns="0" rIns="0" tIns="0" bIns="0" anchor="t">
            <a:spAutoFit/>
          </a:bodyPr>
          <a:lstStyle/>
          <a:p>
            <a:pPr algn="ctr">
              <a:lnSpc>
                <a:spcPct val="100000"/>
              </a:lnSpc>
            </a:pPr>
            <a:r>
              <a:rPr sz="1150" b="1" i="0">
                <a:solidFill>
                  <a:srgbClr val="B8561F"/>
                </a:solidFill>
                <a:latin typeface="Calibri"/>
              </a:rPr>
              <a:t>agent sends</a:t>
            </a:r>
          </a:p>
        </p:txBody>
      </p:sp>
      <p:cxnSp>
        <p:nvCxnSpPr>
          <p:cNvPr id="22" name="Connector 21"/>
          <p:cNvCxnSpPr/>
          <p:nvPr/>
        </p:nvCxnSpPr>
        <p:spPr>
          <a:xfrm>
            <a:off x="5998464" y="2267712"/>
            <a:ext cx="210312" cy="0"/>
          </a:xfrm>
          <a:prstGeom prst="line">
            <a:avLst/>
          </a:prstGeom>
          <a:ln w="28575">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0" y="1600200"/>
            <a:ext cx="1280160" cy="274320"/>
          </a:xfrm>
          <a:prstGeom prst="rect">
            <a:avLst/>
          </a:prstGeom>
          <a:noFill/>
        </p:spPr>
        <p:txBody>
          <a:bodyPr wrap="square" lIns="0" rIns="0" tIns="0" bIns="0" anchor="t">
            <a:spAutoFit/>
          </a:bodyPr>
          <a:lstStyle/>
          <a:p>
            <a:pPr algn="ctr">
              <a:lnSpc>
                <a:spcPct val="100000"/>
              </a:lnSpc>
            </a:pPr>
            <a:r>
              <a:rPr sz="1150" b="1" i="0">
                <a:solidFill>
                  <a:srgbClr val="B8561F"/>
                </a:solidFill>
                <a:latin typeface="Calibri"/>
              </a:rPr>
              <a:t>verifier only</a:t>
            </a:r>
          </a:p>
        </p:txBody>
      </p:sp>
      <p:sp>
        <p:nvSpPr>
          <p:cNvPr id="24" name="Rounded Rectangle 23"/>
          <p:cNvSpPr/>
          <p:nvPr/>
        </p:nvSpPr>
        <p:spPr>
          <a:xfrm>
            <a:off x="548640" y="3383280"/>
            <a:ext cx="1783080" cy="603504"/>
          </a:xfrm>
          <a:prstGeom prst="roundRect">
            <a:avLst>
              <a:gd name="adj" fmla="val 12121"/>
            </a:avLst>
          </a:prstGeom>
          <a:solidFill>
            <a:srgbClr val="F7DADD"/>
          </a:solidFill>
          <a:ln w="9525">
            <a:solidFill>
              <a:srgbClr val="E2D8C6"/>
            </a:solidFill>
          </a:ln>
          <a:effectLst/>
        </p:spPr>
        <p:txBody>
          <a:bodyPr rtlCol="0" anchor="ctr"/>
          <a:lstStyle/>
          <a:p>
            <a:pPr algn="ctr"/>
          </a:p>
        </p:txBody>
      </p:sp>
      <p:sp>
        <p:nvSpPr>
          <p:cNvPr id="25" name="TextBox 24"/>
          <p:cNvSpPr txBox="1"/>
          <p:nvPr/>
        </p:nvSpPr>
        <p:spPr>
          <a:xfrm>
            <a:off x="585216" y="3383280"/>
            <a:ext cx="1709928" cy="603504"/>
          </a:xfrm>
          <a:prstGeom prst="rect">
            <a:avLst/>
          </a:prstGeom>
          <a:noFill/>
        </p:spPr>
        <p:txBody>
          <a:bodyPr wrap="square" lIns="0" rIns="0" tIns="0" bIns="0" anchor="ctr">
            <a:spAutoFit/>
          </a:bodyPr>
          <a:lstStyle/>
          <a:p>
            <a:pPr algn="ctr">
              <a:lnSpc>
                <a:spcPct val="100000"/>
              </a:lnSpc>
            </a:pPr>
            <a:r>
              <a:rPr sz="1150" b="1" i="0">
                <a:solidFill>
                  <a:srgbClr val="9B2A38"/>
                </a:solidFill>
                <a:latin typeface="Calibri"/>
              </a:rPr>
              <a:t>FLAGGED_NOT_OWNER</a:t>
            </a:r>
          </a:p>
        </p:txBody>
      </p:sp>
      <p:cxnSp>
        <p:nvCxnSpPr>
          <p:cNvPr id="26" name="Connector 25"/>
          <p:cNvCxnSpPr/>
          <p:nvPr/>
        </p:nvCxnSpPr>
        <p:spPr>
          <a:xfrm>
            <a:off x="1143000" y="2578608"/>
            <a:ext cx="0" cy="786384"/>
          </a:xfrm>
          <a:prstGeom prst="line">
            <a:avLst/>
          </a:prstGeom>
          <a:ln w="25400">
            <a:solidFill>
              <a:srgbClr val="9B2A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560320" y="3383280"/>
            <a:ext cx="1188720" cy="603504"/>
          </a:xfrm>
          <a:prstGeom prst="roundRect">
            <a:avLst>
              <a:gd name="adj" fmla="val 12121"/>
            </a:avLst>
          </a:prstGeom>
          <a:solidFill>
            <a:srgbClr val="EBE2CF"/>
          </a:solidFill>
          <a:ln w="9525">
            <a:solidFill>
              <a:srgbClr val="E2D8C6"/>
            </a:solidFill>
          </a:ln>
          <a:effectLst/>
        </p:spPr>
        <p:txBody>
          <a:bodyPr rtlCol="0" anchor="ctr"/>
          <a:lstStyle/>
          <a:p>
            <a:pPr algn="ctr"/>
          </a:p>
        </p:txBody>
      </p:sp>
      <p:sp>
        <p:nvSpPr>
          <p:cNvPr id="28" name="TextBox 27"/>
          <p:cNvSpPr txBox="1"/>
          <p:nvPr/>
        </p:nvSpPr>
        <p:spPr>
          <a:xfrm>
            <a:off x="2596896" y="3383280"/>
            <a:ext cx="1115568" cy="603504"/>
          </a:xfrm>
          <a:prstGeom prst="rect">
            <a:avLst/>
          </a:prstGeom>
          <a:noFill/>
        </p:spPr>
        <p:txBody>
          <a:bodyPr wrap="square" lIns="0" rIns="0" tIns="0" bIns="0" anchor="ctr">
            <a:spAutoFit/>
          </a:bodyPr>
          <a:lstStyle/>
          <a:p>
            <a:pPr algn="ctr">
              <a:lnSpc>
                <a:spcPct val="100000"/>
              </a:lnSpc>
            </a:pPr>
            <a:r>
              <a:rPr sz="1150" b="1" i="0">
                <a:solidFill>
                  <a:srgbClr val="3A312A"/>
                </a:solidFill>
                <a:latin typeface="Calibri"/>
              </a:rPr>
              <a:t>REJECTED</a:t>
            </a:r>
          </a:p>
        </p:txBody>
      </p:sp>
      <p:cxnSp>
        <p:nvCxnSpPr>
          <p:cNvPr id="29" name="Connector 28"/>
          <p:cNvCxnSpPr/>
          <p:nvPr/>
        </p:nvCxnSpPr>
        <p:spPr>
          <a:xfrm>
            <a:off x="2560320" y="2578608"/>
            <a:ext cx="0" cy="786384"/>
          </a:xfrm>
          <a:prstGeom prst="line">
            <a:avLst/>
          </a:prstGeom>
          <a:ln w="25400">
            <a:solidFill>
              <a:srgbClr val="6A5E5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480560" y="3383280"/>
            <a:ext cx="1783080" cy="603504"/>
          </a:xfrm>
          <a:prstGeom prst="roundRect">
            <a:avLst>
              <a:gd name="adj" fmla="val 12121"/>
            </a:avLst>
          </a:prstGeom>
          <a:solidFill>
            <a:srgbClr val="F4DCC8"/>
          </a:solidFill>
          <a:ln w="9525">
            <a:solidFill>
              <a:srgbClr val="E2D8C6"/>
            </a:solidFill>
          </a:ln>
          <a:effectLst/>
        </p:spPr>
        <p:txBody>
          <a:bodyPr rtlCol="0" anchor="ctr"/>
          <a:lstStyle/>
          <a:p>
            <a:pPr algn="ctr"/>
          </a:p>
        </p:txBody>
      </p:sp>
      <p:sp>
        <p:nvSpPr>
          <p:cNvPr id="31" name="TextBox 30"/>
          <p:cNvSpPr txBox="1"/>
          <p:nvPr/>
        </p:nvSpPr>
        <p:spPr>
          <a:xfrm>
            <a:off x="4517136" y="3383280"/>
            <a:ext cx="1709928" cy="603504"/>
          </a:xfrm>
          <a:prstGeom prst="rect">
            <a:avLst/>
          </a:prstGeom>
          <a:noFill/>
        </p:spPr>
        <p:txBody>
          <a:bodyPr wrap="square" lIns="0" rIns="0" tIns="0" bIns="0" anchor="ctr">
            <a:spAutoFit/>
          </a:bodyPr>
          <a:lstStyle/>
          <a:p>
            <a:pPr algn="ctr">
              <a:lnSpc>
                <a:spcPct val="100000"/>
              </a:lnSpc>
            </a:pPr>
            <a:r>
              <a:rPr sz="1150" b="1" i="0">
                <a:solidFill>
                  <a:srgbClr val="B8561F"/>
                </a:solidFill>
                <a:latin typeface="Calibri"/>
              </a:rPr>
              <a:t>PENDING_MODERATION</a:t>
            </a:r>
          </a:p>
        </p:txBody>
      </p:sp>
      <p:cxnSp>
        <p:nvCxnSpPr>
          <p:cNvPr id="32" name="Connector 31"/>
          <p:cNvCxnSpPr/>
          <p:nvPr/>
        </p:nvCxnSpPr>
        <p:spPr>
          <a:xfrm>
            <a:off x="5394960" y="2578608"/>
            <a:ext cx="0" cy="786384"/>
          </a:xfrm>
          <a:prstGeom prst="line">
            <a:avLst/>
          </a:prstGeom>
          <a:ln w="25400">
            <a:solidFill>
              <a:srgbClr val="B8561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263640" y="2596896"/>
            <a:ext cx="548640" cy="923544"/>
          </a:xfrm>
          <a:prstGeom prst="line">
            <a:avLst/>
          </a:prstGeom>
          <a:ln w="25400">
            <a:solidFill>
              <a:srgbClr val="54733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48640" y="4069080"/>
            <a:ext cx="1783080" cy="502920"/>
          </a:xfrm>
          <a:prstGeom prst="rect">
            <a:avLst/>
          </a:prstGeom>
          <a:noFill/>
        </p:spPr>
        <p:txBody>
          <a:bodyPr wrap="square" lIns="0" rIns="0" tIns="0" bIns="0" anchor="t">
            <a:spAutoFit/>
          </a:bodyPr>
          <a:lstStyle/>
          <a:p>
            <a:pPr algn="l">
              <a:lnSpc>
                <a:spcPct val="100000"/>
              </a:lnSpc>
            </a:pPr>
            <a:r>
              <a:rPr sz="1200" b="1" i="0">
                <a:solidFill>
                  <a:srgbClr val="9B2A38"/>
                </a:solidFill>
                <a:latin typeface="Calibri"/>
              </a:rPr>
              <a:t>not your listing: no write</a:t>
            </a:r>
          </a:p>
        </p:txBody>
      </p:sp>
      <p:sp>
        <p:nvSpPr>
          <p:cNvPr id="35" name="TextBox 34"/>
          <p:cNvSpPr txBox="1"/>
          <p:nvPr/>
        </p:nvSpPr>
        <p:spPr>
          <a:xfrm>
            <a:off x="2560320" y="4069080"/>
            <a:ext cx="1188720" cy="502920"/>
          </a:xfrm>
          <a:prstGeom prst="rect">
            <a:avLst/>
          </a:prstGeom>
          <a:noFill/>
        </p:spPr>
        <p:txBody>
          <a:bodyPr wrap="square" lIns="0" rIns="0" tIns="0" bIns="0" anchor="t">
            <a:spAutoFit/>
          </a:bodyPr>
          <a:lstStyle/>
          <a:p>
            <a:pPr algn="l">
              <a:lnSpc>
                <a:spcPct val="100000"/>
              </a:lnSpc>
            </a:pPr>
            <a:r>
              <a:rPr sz="1200" b="1" i="0">
                <a:solidFill>
                  <a:srgbClr val="6A5E51"/>
                </a:solidFill>
                <a:latin typeface="Calibri"/>
              </a:rPr>
              <a:t>owner says no</a:t>
            </a:r>
          </a:p>
        </p:txBody>
      </p:sp>
      <p:sp>
        <p:nvSpPr>
          <p:cNvPr id="36" name="TextBox 35"/>
          <p:cNvSpPr txBox="1"/>
          <p:nvPr/>
        </p:nvSpPr>
        <p:spPr>
          <a:xfrm>
            <a:off x="4480560" y="4069080"/>
            <a:ext cx="2377440" cy="502920"/>
          </a:xfrm>
          <a:prstGeom prst="rect">
            <a:avLst/>
          </a:prstGeom>
          <a:noFill/>
        </p:spPr>
        <p:txBody>
          <a:bodyPr wrap="square" lIns="0" rIns="0" tIns="0" bIns="0" anchor="t">
            <a:spAutoFit/>
          </a:bodyPr>
          <a:lstStyle/>
          <a:p>
            <a:pPr algn="l">
              <a:lnSpc>
                <a:spcPct val="100000"/>
              </a:lnSpc>
            </a:pPr>
            <a:r>
              <a:rPr sz="1200" b="1" i="0">
                <a:solidFill>
                  <a:srgbClr val="B8561F"/>
                </a:solidFill>
                <a:latin typeface="Calibri"/>
              </a:rPr>
              <a:t>moderator has not approved; verified after reload</a:t>
            </a:r>
          </a:p>
        </p:txBody>
      </p:sp>
      <p:sp>
        <p:nvSpPr>
          <p:cNvPr id="37" name="TextBox 36"/>
          <p:cNvSpPr txBox="1"/>
          <p:nvPr/>
        </p:nvSpPr>
        <p:spPr>
          <a:xfrm>
            <a:off x="548640" y="4709160"/>
            <a:ext cx="7040880" cy="365760"/>
          </a:xfrm>
          <a:prstGeom prst="rect">
            <a:avLst/>
          </a:prstGeom>
          <a:noFill/>
        </p:spPr>
        <p:txBody>
          <a:bodyPr wrap="square" lIns="0" rIns="0" tIns="0" bIns="0" anchor="t">
            <a:spAutoFit/>
          </a:bodyPr>
          <a:lstStyle/>
          <a:p>
            <a:pPr algn="l">
              <a:lnSpc>
                <a:spcPct val="100000"/>
              </a:lnSpc>
            </a:pPr>
            <a:r>
              <a:rPr sz="1500" b="1" i="0">
                <a:solidFill>
                  <a:srgbClr val="3F5A2E"/>
                </a:solidFill>
                <a:latin typeface="Calibri"/>
              </a:rPr>
              <a:t>Only the owner can approve. Only the verifier can mark VERIFIED.</a:t>
            </a:r>
          </a:p>
        </p:txBody>
      </p:sp>
      <p:sp>
        <p:nvSpPr>
          <p:cNvPr id="38" name="Rounded Rectangle 37"/>
          <p:cNvSpPr/>
          <p:nvPr/>
        </p:nvSpPr>
        <p:spPr>
          <a:xfrm>
            <a:off x="548640" y="5166360"/>
            <a:ext cx="7040880" cy="1097280"/>
          </a:xfrm>
          <a:prstGeom prst="roundRect">
            <a:avLst>
              <a:gd name="adj" fmla="val 5000"/>
            </a:avLst>
          </a:prstGeom>
          <a:solidFill>
            <a:srgbClr val="FBF8F1"/>
          </a:solidFill>
          <a:ln w="9525">
            <a:solidFill>
              <a:srgbClr val="E2D8C6"/>
            </a:solidFill>
          </a:ln>
          <a:effectLst/>
        </p:spPr>
        <p:txBody>
          <a:bodyPr rtlCol="0" anchor="ctr"/>
          <a:lstStyle/>
          <a:p>
            <a:pPr algn="ctr"/>
          </a:p>
        </p:txBody>
      </p:sp>
      <p:sp>
        <p:nvSpPr>
          <p:cNvPr id="39" name="TextBox 38"/>
          <p:cNvSpPr txBox="1"/>
          <p:nvPr/>
        </p:nvSpPr>
        <p:spPr>
          <a:xfrm>
            <a:off x="731520" y="5349240"/>
            <a:ext cx="6675120" cy="804672"/>
          </a:xfrm>
          <a:prstGeom prst="rect">
            <a:avLst/>
          </a:prstGeom>
          <a:noFill/>
        </p:spPr>
        <p:txBody>
          <a:bodyPr wrap="square" lIns="0" rIns="0" tIns="0" bIns="0" anchor="t">
            <a:spAutoFit/>
          </a:bodyPr>
          <a:lstStyle/>
          <a:p>
            <a:pPr algn="l" marL="155448" indent="-155448">
              <a:lnSpc>
                <a:spcPct val="100000"/>
              </a:lnSpc>
              <a:spcAft>
                <a:spcPts val="400"/>
              </a:spcAft>
              <a:buChar char="•"/>
            </a:pPr>
            <a:r>
              <a:rPr sz="1400" b="0" i="0">
                <a:solidFill>
                  <a:srgbClr val="6A5E51"/>
                </a:solidFill>
                <a:latin typeface="Calibri"/>
              </a:rPr>
              <a:t>One business can never see another's data</a:t>
            </a:r>
          </a:p>
          <a:p>
            <a:pPr algn="l" marL="155448" indent="-155448">
              <a:lnSpc>
                <a:spcPct val="100000"/>
              </a:lnSpc>
              <a:buChar char="•"/>
            </a:pPr>
            <a:r>
              <a:rPr sz="1400" b="0" i="0">
                <a:solidFill>
                  <a:srgbClr val="6A5E51"/>
                </a:solidFill>
                <a:latin typeface="Calibri"/>
              </a:rPr>
              <a:t>PINs are never stored; the API key never leaves the server</a:t>
            </a:r>
          </a:p>
        </p:txBody>
      </p:sp>
      <p:sp>
        <p:nvSpPr>
          <p:cNvPr id="40" name="Rounded Rectangle 39"/>
          <p:cNvSpPr/>
          <p:nvPr/>
        </p:nvSpPr>
        <p:spPr>
          <a:xfrm>
            <a:off x="7772400" y="1554480"/>
            <a:ext cx="3870655" cy="3291840"/>
          </a:xfrm>
          <a:prstGeom prst="roundRect">
            <a:avLst>
              <a:gd name="adj" fmla="val 1666"/>
            </a:avLst>
          </a:prstGeom>
          <a:solidFill>
            <a:srgbClr val="FBF8F1"/>
          </a:solidFill>
          <a:ln w="9525">
            <a:solidFill>
              <a:srgbClr val="E2D8C6"/>
            </a:solidFill>
          </a:ln>
          <a:effectLst/>
        </p:spPr>
        <p:txBody>
          <a:bodyPr rtlCol="0" anchor="ctr"/>
          <a:lstStyle/>
          <a:p>
            <a:pPr algn="ctr"/>
          </a:p>
        </p:txBody>
      </p:sp>
      <p:sp>
        <p:nvSpPr>
          <p:cNvPr id="41" name="TextBox 40"/>
          <p:cNvSpPr txBox="1"/>
          <p:nvPr/>
        </p:nvSpPr>
        <p:spPr>
          <a:xfrm>
            <a:off x="7955279" y="1645920"/>
            <a:ext cx="3520440" cy="274320"/>
          </a:xfrm>
          <a:prstGeom prst="rect">
            <a:avLst/>
          </a:prstGeom>
          <a:noFill/>
        </p:spPr>
        <p:txBody>
          <a:bodyPr wrap="square" lIns="0" rIns="0" tIns="0" bIns="0" anchor="t">
            <a:spAutoFit/>
          </a:bodyPr>
          <a:lstStyle/>
          <a:p>
            <a:pPr algn="l">
              <a:lnSpc>
                <a:spcPct val="100000"/>
              </a:lnSpc>
            </a:pPr>
            <a:r>
              <a:rPr sz="1700" b="1" i="0">
                <a:solidFill>
                  <a:srgbClr val="3A312A"/>
                </a:solidFill>
                <a:latin typeface="Calibri"/>
              </a:rPr>
              <a:t>Guardrails in code</a:t>
            </a:r>
          </a:p>
        </p:txBody>
      </p:sp>
      <p:sp>
        <p:nvSpPr>
          <p:cNvPr id="42" name="TextBox 41"/>
          <p:cNvSpPr txBox="1"/>
          <p:nvPr/>
        </p:nvSpPr>
        <p:spPr>
          <a:xfrm>
            <a:off x="7955279" y="2075688"/>
            <a:ext cx="3520440" cy="2743200"/>
          </a:xfrm>
          <a:prstGeom prst="rect">
            <a:avLst/>
          </a:prstGeom>
          <a:noFill/>
        </p:spPr>
        <p:txBody>
          <a:bodyPr wrap="square" lIns="0" rIns="0" tIns="0" bIns="0" anchor="t">
            <a:spAutoFit/>
          </a:bodyPr>
          <a:lstStyle/>
          <a:p>
            <a:pPr algn="l" marL="155448" indent="-155448">
              <a:lnSpc>
                <a:spcPct val="100000"/>
              </a:lnSpc>
              <a:spcAft>
                <a:spcPts val="1300"/>
              </a:spcAft>
              <a:buChar char="•"/>
            </a:pPr>
            <a:r>
              <a:rPr sz="1600" b="0" i="0">
                <a:solidFill>
                  <a:srgbClr val="3A312A"/>
                </a:solidFill>
                <a:latin typeface="Calibri"/>
              </a:rPr>
              <a:t>No apply without a DB row the owner approved</a:t>
            </a:r>
          </a:p>
          <a:p>
            <a:pPr algn="l" marL="155448" indent="-155448">
              <a:lnSpc>
                <a:spcPct val="100000"/>
              </a:lnSpc>
              <a:spcAft>
                <a:spcPts val="1300"/>
              </a:spcAft>
              <a:buChar char="•"/>
            </a:pPr>
            <a:r>
              <a:rPr sz="1600" b="0" i="0">
                <a:solidFill>
                  <a:srgbClr val="3A312A"/>
                </a:solidFill>
                <a:latin typeface="Calibri"/>
              </a:rPr>
              <a:t>Not your listing: flag, never edit</a:t>
            </a:r>
          </a:p>
          <a:p>
            <a:pPr algn="l" marL="155448" indent="-155448">
              <a:lnSpc>
                <a:spcPct val="100000"/>
              </a:lnSpc>
              <a:spcAft>
                <a:spcPts val="1300"/>
              </a:spcAft>
              <a:buChar char="•"/>
            </a:pPr>
            <a:r>
              <a:rPr sz="1600" b="0" i="0">
                <a:solidFill>
                  <a:srgbClr val="3A312A"/>
                </a:solidFill>
                <a:latin typeface="Calibri"/>
              </a:rPr>
              <a:t>Pending moderation is never reported as fixed</a:t>
            </a:r>
          </a:p>
          <a:p>
            <a:pPr algn="l" marL="155448" indent="-155448">
              <a:lnSpc>
                <a:spcPct val="100000"/>
              </a:lnSpc>
              <a:buChar char="•"/>
            </a:pPr>
            <a:r>
              <a:rPr sz="1600" b="0" i="0">
                <a:solidFill>
                  <a:srgbClr val="3A312A"/>
                </a:solidFill>
                <a:latin typeface="Calibri"/>
              </a:rPr>
              <a:t>Look-alike listings are never read or edited</a:t>
            </a:r>
          </a:p>
        </p:txBody>
      </p:sp>
      <p:sp>
        <p:nvSpPr>
          <p:cNvPr id="43" name="Rounded Rectangle 42"/>
          <p:cNvSpPr/>
          <p:nvPr/>
        </p:nvSpPr>
        <p:spPr>
          <a:xfrm>
            <a:off x="7772400" y="4983480"/>
            <a:ext cx="3870655" cy="1280160"/>
          </a:xfrm>
          <a:prstGeom prst="roundRect">
            <a:avLst>
              <a:gd name="adj" fmla="val 5714"/>
            </a:avLst>
          </a:prstGeom>
          <a:solidFill>
            <a:srgbClr val="2F2721"/>
          </a:solidFill>
          <a:ln>
            <a:noFill/>
          </a:ln>
          <a:effectLst/>
        </p:spPr>
        <p:txBody>
          <a:bodyPr rtlCol="0" anchor="ctr"/>
          <a:lstStyle/>
          <a:p>
            <a:pPr algn="ctr"/>
          </a:p>
        </p:txBody>
      </p:sp>
      <p:sp>
        <p:nvSpPr>
          <p:cNvPr id="44" name="TextBox 43"/>
          <p:cNvSpPr txBox="1"/>
          <p:nvPr/>
        </p:nvSpPr>
        <p:spPr>
          <a:xfrm>
            <a:off x="7955279" y="5029200"/>
            <a:ext cx="3520440" cy="594360"/>
          </a:xfrm>
          <a:prstGeom prst="rect">
            <a:avLst/>
          </a:prstGeom>
          <a:noFill/>
        </p:spPr>
        <p:txBody>
          <a:bodyPr wrap="square" lIns="0" rIns="0" tIns="0" bIns="0" anchor="t">
            <a:spAutoFit/>
          </a:bodyPr>
          <a:lstStyle/>
          <a:p>
            <a:pPr algn="l">
              <a:lnSpc>
                <a:spcPct val="100000"/>
              </a:lnSpc>
            </a:pPr>
            <a:r>
              <a:rPr sz="3400" b="1" i="0">
                <a:solidFill>
                  <a:srgbClr val="FBF8F1"/>
                </a:solidFill>
                <a:latin typeface="Cambria"/>
              </a:rPr>
              <a:t>6 / 6</a:t>
            </a:r>
          </a:p>
        </p:txBody>
      </p:sp>
      <p:sp>
        <p:nvSpPr>
          <p:cNvPr id="45" name="TextBox 44"/>
          <p:cNvSpPr txBox="1"/>
          <p:nvPr/>
        </p:nvSpPr>
        <p:spPr>
          <a:xfrm>
            <a:off x="7955279" y="5641848"/>
            <a:ext cx="3520440" cy="594360"/>
          </a:xfrm>
          <a:prstGeom prst="rect">
            <a:avLst/>
          </a:prstGeom>
          <a:noFill/>
        </p:spPr>
        <p:txBody>
          <a:bodyPr wrap="square" lIns="0" rIns="0" tIns="0" bIns="0" anchor="t">
            <a:spAutoFit/>
          </a:bodyPr>
          <a:lstStyle/>
          <a:p>
            <a:pPr algn="l">
              <a:lnSpc>
                <a:spcPct val="100000"/>
              </a:lnSpc>
            </a:pPr>
            <a:r>
              <a:rPr sz="1300" b="0" i="0">
                <a:solidFill>
                  <a:srgbClr val="E7D9C2"/>
                </a:solidFill>
                <a:latin typeface="Calibri"/>
              </a:rPr>
              <a:t>unsafe actions blocked in the rogue-planner test: 0 writes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EEE3"/>
        </a:solidFill>
        <a:effectLst/>
      </p:bgPr>
    </p:bg>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pPr>
            <a:r>
              <a:rPr sz="1300" b="1" i="0" spc="140">
                <a:solidFill>
                  <a:srgbClr val="B8561F"/>
                </a:solidFill>
                <a:latin typeface="Calibri"/>
              </a:rPr>
              <a:t>5  ·  THE INNOVATION</a:t>
            </a:r>
          </a:p>
        </p:txBody>
      </p:sp>
      <p:sp>
        <p:nvSpPr>
          <p:cNvPr id="3" name="TextBox 2"/>
          <p:cNvSpPr txBox="1"/>
          <p:nvPr/>
        </p:nvSpPr>
        <p:spPr>
          <a:xfrm>
            <a:off x="548640" y="621792"/>
            <a:ext cx="11094415" cy="640080"/>
          </a:xfrm>
          <a:prstGeom prst="rect">
            <a:avLst/>
          </a:prstGeom>
          <a:noFill/>
        </p:spPr>
        <p:txBody>
          <a:bodyPr wrap="square" lIns="0" rIns="0" tIns="0" bIns="0" anchor="t">
            <a:spAutoFit/>
          </a:bodyPr>
          <a:lstStyle/>
          <a:p>
            <a:pPr algn="l">
              <a:lnSpc>
                <a:spcPct val="100000"/>
              </a:lnSpc>
            </a:pPr>
            <a:r>
              <a:rPr sz="3000" b="1" i="0">
                <a:solidFill>
                  <a:srgbClr val="3A312A"/>
                </a:solidFill>
                <a:latin typeface="Cambria"/>
              </a:rPr>
              <a:t>Not a dashboard, not a chatbot, not a cron job</a:t>
            </a:r>
          </a:p>
        </p:txBody>
      </p:sp>
      <p:sp>
        <p:nvSpPr>
          <p:cNvPr id="4" name="TextBox 3"/>
          <p:cNvSpPr txBox="1"/>
          <p:nvPr/>
        </p:nvSpPr>
        <p:spPr>
          <a:xfrm>
            <a:off x="548640" y="6473952"/>
            <a:ext cx="7315200" cy="22860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Business Listing Consistency Agent  ·  Agentic AI Hackathon 2026</a:t>
            </a:r>
          </a:p>
        </p:txBody>
      </p:sp>
      <p:sp>
        <p:nvSpPr>
          <p:cNvPr id="5" name="TextBox 4"/>
          <p:cNvSpPr txBox="1"/>
          <p:nvPr/>
        </p:nvSpPr>
        <p:spPr>
          <a:xfrm>
            <a:off x="10728655" y="6473952"/>
            <a:ext cx="914400" cy="228600"/>
          </a:xfrm>
          <a:prstGeom prst="rect">
            <a:avLst/>
          </a:prstGeom>
          <a:noFill/>
        </p:spPr>
        <p:txBody>
          <a:bodyPr wrap="square" lIns="0" rIns="0" tIns="0" bIns="0" anchor="t">
            <a:spAutoFit/>
          </a:bodyPr>
          <a:lstStyle/>
          <a:p>
            <a:pPr algn="r">
              <a:lnSpc>
                <a:spcPct val="100000"/>
              </a:lnSpc>
            </a:pPr>
            <a:r>
              <a:rPr sz="1100" b="0" i="0">
                <a:solidFill>
                  <a:srgbClr val="6A5E51"/>
                </a:solidFill>
                <a:latin typeface="Calibri"/>
              </a:rPr>
              <a:t>8</a:t>
            </a:r>
          </a:p>
        </p:txBody>
      </p:sp>
      <p:graphicFrame>
        <p:nvGraphicFramePr>
          <p:cNvPr id="6" name="Table 5"/>
          <p:cNvGraphicFramePr>
            <a:graphicFrameLocks noGrp="1"/>
          </p:cNvGraphicFramePr>
          <p:nvPr/>
        </p:nvGraphicFramePr>
        <p:xfrm>
          <a:off x="548640" y="1508760"/>
          <a:ext cx="11094415" cy="3072384"/>
        </p:xfrm>
        <a:graphic>
          <a:graphicData uri="http://schemas.openxmlformats.org/drawingml/2006/table">
            <a:tbl>
              <a:tblPr firstRow="0" bandRow="0">
                <a:tableStyleId>{2D5ABB26-0587-4C30-8999-92F81FD0307C}</a:tableStyleId>
              </a:tblPr>
              <a:tblGrid>
                <a:gridCol w="4572000"/>
                <a:gridCol w="1645920"/>
                <a:gridCol w="1645920"/>
                <a:gridCol w="1737360"/>
                <a:gridCol w="1493215"/>
              </a:tblGrid>
              <a:tr h="512064">
                <a:tc>
                  <a:txBody>
                    <a:bodyPr wrap="square"/>
                    <a:lstStyle/>
                    <a:p>
                      <a:pPr algn="l"/>
                      <a:r>
                        <a:rPr sz="1500" b="1">
                          <a:solidFill>
                            <a:srgbClr val="FBF8F1"/>
                          </a:solidFill>
                          <a:latin typeface="Calibri"/>
                        </a:rPr>
                        <a:t/>
                      </a:r>
                    </a:p>
                  </a:txBody>
                  <a:tcPr marL="91440" marR="91440" marT="36576" marB="36576" anchor="ctr">
                    <a:lnB w="9525" cap="flat" cmpd="sng" algn="ctr">
                      <a:solidFill>
                        <a:srgbClr val="E2D8C6"/>
                      </a:solidFill>
                      <a:prstDash val="solid"/>
                    </a:lnB>
                    <a:solidFill>
                      <a:srgbClr val="2F2721"/>
                    </a:solidFill>
                  </a:tcPr>
                </a:tc>
                <a:tc>
                  <a:txBody>
                    <a:bodyPr wrap="square"/>
                    <a:lstStyle/>
                    <a:p>
                      <a:pPr algn="l"/>
                      <a:r>
                        <a:rPr sz="1500" b="1">
                          <a:solidFill>
                            <a:srgbClr val="FBF8F1"/>
                          </a:solidFill>
                          <a:latin typeface="Calibri"/>
                        </a:rPr>
                        <a:t>Dashboard</a:t>
                      </a:r>
                    </a:p>
                  </a:txBody>
                  <a:tcPr marL="91440" marR="91440" marT="36576" marB="36576" anchor="ctr">
                    <a:lnB w="9525" cap="flat" cmpd="sng" algn="ctr">
                      <a:solidFill>
                        <a:srgbClr val="E2D8C6"/>
                      </a:solidFill>
                      <a:prstDash val="solid"/>
                    </a:lnB>
                    <a:solidFill>
                      <a:srgbClr val="2F2721"/>
                    </a:solidFill>
                  </a:tcPr>
                </a:tc>
                <a:tc>
                  <a:txBody>
                    <a:bodyPr wrap="square"/>
                    <a:lstStyle/>
                    <a:p>
                      <a:pPr algn="l"/>
                      <a:r>
                        <a:rPr sz="1500" b="1">
                          <a:solidFill>
                            <a:srgbClr val="FBF8F1"/>
                          </a:solidFill>
                          <a:latin typeface="Calibri"/>
                        </a:rPr>
                        <a:t>Chatbot</a:t>
                      </a:r>
                    </a:p>
                  </a:txBody>
                  <a:tcPr marL="91440" marR="91440" marT="36576" marB="36576" anchor="ctr">
                    <a:lnB w="9525" cap="flat" cmpd="sng" algn="ctr">
                      <a:solidFill>
                        <a:srgbClr val="E2D8C6"/>
                      </a:solidFill>
                      <a:prstDash val="solid"/>
                    </a:lnB>
                    <a:solidFill>
                      <a:srgbClr val="2F2721"/>
                    </a:solidFill>
                  </a:tcPr>
                </a:tc>
                <a:tc>
                  <a:txBody>
                    <a:bodyPr wrap="square"/>
                    <a:lstStyle/>
                    <a:p>
                      <a:pPr algn="l"/>
                      <a:r>
                        <a:rPr sz="1500" b="1">
                          <a:solidFill>
                            <a:srgbClr val="FBF8F1"/>
                          </a:solidFill>
                          <a:latin typeface="Calibri"/>
                        </a:rPr>
                        <a:t>Rule-based sync</a:t>
                      </a:r>
                    </a:p>
                  </a:txBody>
                  <a:tcPr marL="91440" marR="91440" marT="36576" marB="36576" anchor="ctr">
                    <a:lnB w="9525" cap="flat" cmpd="sng" algn="ctr">
                      <a:solidFill>
                        <a:srgbClr val="E2D8C6"/>
                      </a:solidFill>
                      <a:prstDash val="solid"/>
                    </a:lnB>
                    <a:solidFill>
                      <a:srgbClr val="2F2721"/>
                    </a:solidFill>
                  </a:tcPr>
                </a:tc>
                <a:tc>
                  <a:txBody>
                    <a:bodyPr wrap="square"/>
                    <a:lstStyle/>
                    <a:p>
                      <a:pPr algn="l"/>
                      <a:r>
                        <a:rPr sz="1500" b="1">
                          <a:solidFill>
                            <a:srgbClr val="FBF8F1"/>
                          </a:solidFill>
                          <a:latin typeface="Calibri"/>
                        </a:rPr>
                        <a:t>Our agent</a:t>
                      </a:r>
                    </a:p>
                  </a:txBody>
                  <a:tcPr marL="91440" marR="91440" marT="36576" marB="36576" anchor="ctr">
                    <a:lnB w="9525" cap="flat" cmpd="sng" algn="ctr">
                      <a:solidFill>
                        <a:srgbClr val="E2D8C6"/>
                      </a:solidFill>
                      <a:prstDash val="solid"/>
                    </a:lnB>
                    <a:solidFill>
                      <a:srgbClr val="2F2721"/>
                    </a:solidFill>
                  </a:tcPr>
                </a:tc>
              </a:tr>
              <a:tr h="512064">
                <a:tc>
                  <a:txBody>
                    <a:bodyPr wrap="square"/>
                    <a:lstStyle/>
                    <a:p>
                      <a:r>
                        <a:rPr sz="1500" b="1">
                          <a:solidFill>
                            <a:srgbClr val="3A312A"/>
                          </a:solidFill>
                          <a:latin typeface="Calibri"/>
                        </a:rPr>
                        <a:t>Compares meaning, not formatting</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B8561F"/>
                          </a:solidFill>
                          <a:latin typeface="Calibri"/>
                        </a:rPr>
                        <a:t>Partly</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3F5A2E"/>
                          </a:solidFill>
                          <a:latin typeface="Calibri"/>
                        </a:rPr>
                        <a:t>Yes</a:t>
                      </a:r>
                    </a:p>
                  </a:txBody>
                  <a:tcPr marL="91440" marR="91440" marT="36576" marB="36576" anchor="ctr">
                    <a:lnB w="9525" cap="flat" cmpd="sng" algn="ctr">
                      <a:solidFill>
                        <a:srgbClr val="E2D8C6"/>
                      </a:solidFill>
                      <a:prstDash val="solid"/>
                    </a:lnB>
                    <a:solidFill>
                      <a:srgbClr val="DFEBD2"/>
                    </a:solidFill>
                  </a:tcPr>
                </a:tc>
              </a:tr>
              <a:tr h="512064">
                <a:tc>
                  <a:txBody>
                    <a:bodyPr wrap="square"/>
                    <a:lstStyle/>
                    <a:p>
                      <a:r>
                        <a:rPr sz="1500" b="1">
                          <a:solidFill>
                            <a:srgbClr val="3A312A"/>
                          </a:solidFill>
                          <a:latin typeface="Calibri"/>
                        </a:rPr>
                        <a:t>Knows who owns a listing, refuses to edit it</a:t>
                      </a:r>
                    </a:p>
                  </a:txBody>
                  <a:tcPr marL="91440" marR="91440" marT="36576" marB="36576" anchor="ctr">
                    <a:lnB w="9525" cap="flat" cmpd="sng" algn="ctr">
                      <a:solidFill>
                        <a:srgbClr val="E2D8C6"/>
                      </a:solidFill>
                      <a:prstDash val="solid"/>
                    </a:lnB>
                    <a:solidFill>
                      <a:srgbClr val="F6F1E7"/>
                    </a:solidFill>
                  </a:tcPr>
                </a:tc>
                <a:tc>
                  <a:txBody>
                    <a:bodyPr wrap="square"/>
                    <a:lstStyle/>
                    <a:p>
                      <a:r>
                        <a:rPr sz="1500" b="0">
                          <a:solidFill>
                            <a:srgbClr val="B8561F"/>
                          </a:solidFill>
                          <a:latin typeface="Calibri"/>
                        </a:rPr>
                        <a:t>Partly</a:t>
                      </a:r>
                    </a:p>
                  </a:txBody>
                  <a:tcPr marL="91440" marR="91440" marT="36576" marB="36576" anchor="ctr">
                    <a:lnB w="9525" cap="flat" cmpd="sng" algn="ctr">
                      <a:solidFill>
                        <a:srgbClr val="E2D8C6"/>
                      </a:solidFill>
                      <a:prstDash val="solid"/>
                    </a:lnB>
                    <a:solidFill>
                      <a:srgbClr val="F6F1E7"/>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6F1E7"/>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6F1E7"/>
                    </a:solidFill>
                  </a:tcPr>
                </a:tc>
                <a:tc>
                  <a:txBody>
                    <a:bodyPr wrap="square"/>
                    <a:lstStyle/>
                    <a:p>
                      <a:r>
                        <a:rPr sz="1500" b="0">
                          <a:solidFill>
                            <a:srgbClr val="3F5A2E"/>
                          </a:solidFill>
                          <a:latin typeface="Calibri"/>
                        </a:rPr>
                        <a:t>Yes</a:t>
                      </a:r>
                    </a:p>
                  </a:txBody>
                  <a:tcPr marL="91440" marR="91440" marT="36576" marB="36576" anchor="ctr">
                    <a:lnB w="9525" cap="flat" cmpd="sng" algn="ctr">
                      <a:solidFill>
                        <a:srgbClr val="E2D8C6"/>
                      </a:solidFill>
                      <a:prstDash val="solid"/>
                    </a:lnB>
                    <a:solidFill>
                      <a:srgbClr val="DFEBD2"/>
                    </a:solidFill>
                  </a:tcPr>
                </a:tc>
              </a:tr>
              <a:tr h="512064">
                <a:tc>
                  <a:txBody>
                    <a:bodyPr wrap="square"/>
                    <a:lstStyle/>
                    <a:p>
                      <a:r>
                        <a:rPr sz="1500" b="1">
                          <a:solidFill>
                            <a:srgbClr val="3A312A"/>
                          </a:solidFill>
                          <a:latin typeface="Calibri"/>
                        </a:rPr>
                        <a:t>Reloads the page to prove the edit is live</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3F5A2E"/>
                          </a:solidFill>
                          <a:latin typeface="Calibri"/>
                        </a:rPr>
                        <a:t>Yes</a:t>
                      </a:r>
                    </a:p>
                  </a:txBody>
                  <a:tcPr marL="91440" marR="91440" marT="36576" marB="36576" anchor="ctr">
                    <a:lnB w="9525" cap="flat" cmpd="sng" algn="ctr">
                      <a:solidFill>
                        <a:srgbClr val="E2D8C6"/>
                      </a:solidFill>
                      <a:prstDash val="solid"/>
                    </a:lnB>
                    <a:solidFill>
                      <a:srgbClr val="DFEBD2"/>
                    </a:solidFill>
                  </a:tcPr>
                </a:tc>
              </a:tr>
              <a:tr h="512064">
                <a:tc>
                  <a:txBody>
                    <a:bodyPr wrap="square"/>
                    <a:lstStyle/>
                    <a:p>
                      <a:r>
                        <a:rPr sz="1500" b="1">
                          <a:solidFill>
                            <a:srgbClr val="3A312A"/>
                          </a:solidFill>
                          <a:latin typeface="Calibri"/>
                        </a:rPr>
                        <a:t>Tells "pending moderation" from "done"</a:t>
                      </a:r>
                    </a:p>
                  </a:txBody>
                  <a:tcPr marL="91440" marR="91440" marT="36576" marB="36576" anchor="ctr">
                    <a:lnB w="9525" cap="flat" cmpd="sng" algn="ctr">
                      <a:solidFill>
                        <a:srgbClr val="E2D8C6"/>
                      </a:solidFill>
                      <a:prstDash val="solid"/>
                    </a:lnB>
                    <a:solidFill>
                      <a:srgbClr val="F6F1E7"/>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6F1E7"/>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6F1E7"/>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6F1E7"/>
                    </a:solidFill>
                  </a:tcPr>
                </a:tc>
                <a:tc>
                  <a:txBody>
                    <a:bodyPr wrap="square"/>
                    <a:lstStyle/>
                    <a:p>
                      <a:r>
                        <a:rPr sz="1500" b="0">
                          <a:solidFill>
                            <a:srgbClr val="3F5A2E"/>
                          </a:solidFill>
                          <a:latin typeface="Calibri"/>
                        </a:rPr>
                        <a:t>Yes</a:t>
                      </a:r>
                    </a:p>
                  </a:txBody>
                  <a:tcPr marL="91440" marR="91440" marT="36576" marB="36576" anchor="ctr">
                    <a:lnB w="9525" cap="flat" cmpd="sng" algn="ctr">
                      <a:solidFill>
                        <a:srgbClr val="E2D8C6"/>
                      </a:solidFill>
                      <a:prstDash val="solid"/>
                    </a:lnB>
                    <a:solidFill>
                      <a:srgbClr val="DFEBD2"/>
                    </a:solidFill>
                  </a:tcPr>
                </a:tc>
              </a:tr>
              <a:tr h="512064">
                <a:tc>
                  <a:txBody>
                    <a:bodyPr wrap="square"/>
                    <a:lstStyle/>
                    <a:p>
                      <a:r>
                        <a:rPr sz="1500" b="1">
                          <a:solidFill>
                            <a:srgbClr val="3A312A"/>
                          </a:solidFill>
                          <a:latin typeface="Calibri"/>
                        </a:rPr>
                        <a:t>Recovers when a page changes or a site is down</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6A5E51"/>
                          </a:solidFill>
                          <a:latin typeface="Calibri"/>
                        </a:rPr>
                        <a:t>No</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B8561F"/>
                          </a:solidFill>
                          <a:latin typeface="Calibri"/>
                        </a:rPr>
                        <a:t>Partly</a:t>
                      </a:r>
                    </a:p>
                  </a:txBody>
                  <a:tcPr marL="91440" marR="91440" marT="36576" marB="36576" anchor="ctr">
                    <a:lnB w="9525" cap="flat" cmpd="sng" algn="ctr">
                      <a:solidFill>
                        <a:srgbClr val="E2D8C6"/>
                      </a:solidFill>
                      <a:prstDash val="solid"/>
                    </a:lnB>
                    <a:solidFill>
                      <a:srgbClr val="FBF8F1"/>
                    </a:solidFill>
                  </a:tcPr>
                </a:tc>
                <a:tc>
                  <a:txBody>
                    <a:bodyPr wrap="square"/>
                    <a:lstStyle/>
                    <a:p>
                      <a:r>
                        <a:rPr sz="1500" b="0">
                          <a:solidFill>
                            <a:srgbClr val="3F5A2E"/>
                          </a:solidFill>
                          <a:latin typeface="Calibri"/>
                        </a:rPr>
                        <a:t>Yes</a:t>
                      </a:r>
                    </a:p>
                  </a:txBody>
                  <a:tcPr marL="91440" marR="91440" marT="36576" marB="36576" anchor="ctr">
                    <a:lnB w="9525" cap="flat" cmpd="sng" algn="ctr">
                      <a:solidFill>
                        <a:srgbClr val="E2D8C6"/>
                      </a:solidFill>
                      <a:prstDash val="solid"/>
                    </a:lnB>
                    <a:solidFill>
                      <a:srgbClr val="DFEBD2"/>
                    </a:solidFill>
                  </a:tcPr>
                </a:tc>
              </a:tr>
            </a:tbl>
          </a:graphicData>
        </a:graphic>
      </p:graphicFrame>
      <p:sp>
        <p:nvSpPr>
          <p:cNvPr id="7" name="TextBox 6"/>
          <p:cNvSpPr txBox="1"/>
          <p:nvPr/>
        </p:nvSpPr>
        <p:spPr>
          <a:xfrm>
            <a:off x="548640" y="4636008"/>
            <a:ext cx="11094415" cy="228600"/>
          </a:xfrm>
          <a:prstGeom prst="rect">
            <a:avLst/>
          </a:prstGeom>
          <a:noFill/>
        </p:spPr>
        <p:txBody>
          <a:bodyPr wrap="square" lIns="0" rIns="0" tIns="0" bIns="0" anchor="t">
            <a:spAutoFit/>
          </a:bodyPr>
          <a:lstStyle/>
          <a:p>
            <a:pPr algn="l">
              <a:lnSpc>
                <a:spcPct val="100000"/>
              </a:lnSpc>
            </a:pPr>
            <a:r>
              <a:rPr sz="1150" b="0" i="0">
                <a:solidFill>
                  <a:srgbClr val="6A5E51"/>
                </a:solidFill>
                <a:latin typeface="Calibri"/>
              </a:rPr>
              <a:t>Typical tools in each category, not specific products. "Partly" means possible, or only if configured.</a:t>
            </a:r>
          </a:p>
        </p:txBody>
      </p:sp>
      <p:sp>
        <p:nvSpPr>
          <p:cNvPr id="8" name="Rounded Rectangle 7"/>
          <p:cNvSpPr/>
          <p:nvPr/>
        </p:nvSpPr>
        <p:spPr>
          <a:xfrm>
            <a:off x="548640" y="4983480"/>
            <a:ext cx="3593592" cy="1298448"/>
          </a:xfrm>
          <a:prstGeom prst="roundRect">
            <a:avLst>
              <a:gd name="adj" fmla="val 5633"/>
            </a:avLst>
          </a:prstGeom>
          <a:solidFill>
            <a:srgbClr val="EBE2CF"/>
          </a:solidFill>
          <a:ln>
            <a:noFill/>
          </a:ln>
          <a:effectLst/>
        </p:spPr>
        <p:txBody>
          <a:bodyPr rtlCol="0" anchor="ctr"/>
          <a:lstStyle/>
          <a:p>
            <a:pPr algn="ctr"/>
          </a:p>
        </p:txBody>
      </p:sp>
      <p:sp>
        <p:nvSpPr>
          <p:cNvPr id="9" name="TextBox 8"/>
          <p:cNvSpPr txBox="1"/>
          <p:nvPr/>
        </p:nvSpPr>
        <p:spPr>
          <a:xfrm>
            <a:off x="731520" y="5074920"/>
            <a:ext cx="3246120" cy="292608"/>
          </a:xfrm>
          <a:prstGeom prst="rect">
            <a:avLst/>
          </a:prstGeom>
          <a:noFill/>
        </p:spPr>
        <p:txBody>
          <a:bodyPr wrap="square" lIns="0" rIns="0" tIns="0" bIns="0" anchor="t">
            <a:spAutoFit/>
          </a:bodyPr>
          <a:lstStyle/>
          <a:p>
            <a:pPr algn="l">
              <a:lnSpc>
                <a:spcPct val="100000"/>
              </a:lnSpc>
            </a:pPr>
            <a:r>
              <a:rPr sz="1550" b="1" i="0">
                <a:solidFill>
                  <a:srgbClr val="3F5A2E"/>
                </a:solidFill>
                <a:latin typeface="Calibri"/>
              </a:rPr>
              <a:t>Verify-after-write</a:t>
            </a:r>
          </a:p>
        </p:txBody>
      </p:sp>
      <p:sp>
        <p:nvSpPr>
          <p:cNvPr id="10" name="TextBox 9"/>
          <p:cNvSpPr txBox="1"/>
          <p:nvPr/>
        </p:nvSpPr>
        <p:spPr>
          <a:xfrm>
            <a:off x="731520" y="5422392"/>
            <a:ext cx="3246120" cy="841248"/>
          </a:xfrm>
          <a:prstGeom prst="rect">
            <a:avLst/>
          </a:prstGeom>
          <a:noFill/>
        </p:spPr>
        <p:txBody>
          <a:bodyPr wrap="square" lIns="0" rIns="0" tIns="0" bIns="0" anchor="t">
            <a:spAutoFit/>
          </a:bodyPr>
          <a:lstStyle/>
          <a:p>
            <a:pPr algn="l">
              <a:lnSpc>
                <a:spcPct val="100000"/>
              </a:lnSpc>
            </a:pPr>
            <a:r>
              <a:rPr sz="1350" b="0" i="0">
                <a:solidFill>
                  <a:srgbClr val="3A312A"/>
                </a:solidFill>
                <a:latin typeface="Calibri"/>
              </a:rPr>
              <a:t>A field is VERIFIED only when the reloaded public page shows the approved value.</a:t>
            </a:r>
          </a:p>
        </p:txBody>
      </p:sp>
      <p:sp>
        <p:nvSpPr>
          <p:cNvPr id="11" name="Rounded Rectangle 10"/>
          <p:cNvSpPr/>
          <p:nvPr/>
        </p:nvSpPr>
        <p:spPr>
          <a:xfrm>
            <a:off x="4297679" y="4983480"/>
            <a:ext cx="3593592" cy="1298448"/>
          </a:xfrm>
          <a:prstGeom prst="roundRect">
            <a:avLst>
              <a:gd name="adj" fmla="val 5633"/>
            </a:avLst>
          </a:prstGeom>
          <a:solidFill>
            <a:srgbClr val="EBE2CF"/>
          </a:solidFill>
          <a:ln>
            <a:noFill/>
          </a:ln>
          <a:effectLst/>
        </p:spPr>
        <p:txBody>
          <a:bodyPr rtlCol="0" anchor="ctr"/>
          <a:lstStyle/>
          <a:p>
            <a:pPr algn="ctr"/>
          </a:p>
        </p:txBody>
      </p:sp>
      <p:sp>
        <p:nvSpPr>
          <p:cNvPr id="12" name="TextBox 11"/>
          <p:cNvSpPr txBox="1"/>
          <p:nvPr/>
        </p:nvSpPr>
        <p:spPr>
          <a:xfrm>
            <a:off x="4480559" y="5074920"/>
            <a:ext cx="3246120" cy="292608"/>
          </a:xfrm>
          <a:prstGeom prst="rect">
            <a:avLst/>
          </a:prstGeom>
          <a:noFill/>
        </p:spPr>
        <p:txBody>
          <a:bodyPr wrap="square" lIns="0" rIns="0" tIns="0" bIns="0" anchor="t">
            <a:spAutoFit/>
          </a:bodyPr>
          <a:lstStyle/>
          <a:p>
            <a:pPr algn="l">
              <a:lnSpc>
                <a:spcPct val="100000"/>
              </a:lnSpc>
            </a:pPr>
            <a:r>
              <a:rPr sz="1550" b="1" i="0">
                <a:solidFill>
                  <a:srgbClr val="3F5A2E"/>
                </a:solidFill>
                <a:latin typeface="Calibri"/>
              </a:rPr>
              <a:t>Finds you among look-alikes</a:t>
            </a:r>
          </a:p>
        </p:txBody>
      </p:sp>
      <p:sp>
        <p:nvSpPr>
          <p:cNvPr id="13" name="TextBox 12"/>
          <p:cNvSpPr txBox="1"/>
          <p:nvPr/>
        </p:nvSpPr>
        <p:spPr>
          <a:xfrm>
            <a:off x="4480559" y="5422392"/>
            <a:ext cx="3246120" cy="841248"/>
          </a:xfrm>
          <a:prstGeom prst="rect">
            <a:avLst/>
          </a:prstGeom>
          <a:noFill/>
        </p:spPr>
        <p:txBody>
          <a:bodyPr wrap="square" lIns="0" rIns="0" tIns="0" bIns="0" anchor="t">
            <a:spAutoFit/>
          </a:bodyPr>
          <a:lstStyle/>
          <a:p>
            <a:pPr algn="l">
              <a:lnSpc>
                <a:spcPct val="100000"/>
              </a:lnSpc>
            </a:pPr>
            <a:r>
              <a:rPr sz="1350" b="0" i="0">
                <a:solidFill>
                  <a:srgbClr val="3A312A"/>
                </a:solidFill>
                <a:latin typeface="Calibri"/>
              </a:rPr>
              <a:t>Score = phone 40 + address 35 + name 25. The look-alike scores 37.7; the real listing 100.</a:t>
            </a:r>
          </a:p>
        </p:txBody>
      </p:sp>
      <p:sp>
        <p:nvSpPr>
          <p:cNvPr id="14" name="Rounded Rectangle 13"/>
          <p:cNvSpPr/>
          <p:nvPr/>
        </p:nvSpPr>
        <p:spPr>
          <a:xfrm>
            <a:off x="8046719" y="4983480"/>
            <a:ext cx="3593592" cy="1298448"/>
          </a:xfrm>
          <a:prstGeom prst="roundRect">
            <a:avLst>
              <a:gd name="adj" fmla="val 5633"/>
            </a:avLst>
          </a:prstGeom>
          <a:solidFill>
            <a:srgbClr val="EBE2CF"/>
          </a:solidFill>
          <a:ln>
            <a:noFill/>
          </a:ln>
          <a:effectLst/>
        </p:spPr>
        <p:txBody>
          <a:bodyPr rtlCol="0" anchor="ctr"/>
          <a:lstStyle/>
          <a:p>
            <a:pPr algn="ctr"/>
          </a:p>
        </p:txBody>
      </p:sp>
      <p:sp>
        <p:nvSpPr>
          <p:cNvPr id="15" name="TextBox 14"/>
          <p:cNvSpPr txBox="1"/>
          <p:nvPr/>
        </p:nvSpPr>
        <p:spPr>
          <a:xfrm>
            <a:off x="8229599" y="5074920"/>
            <a:ext cx="3246120" cy="292608"/>
          </a:xfrm>
          <a:prstGeom prst="rect">
            <a:avLst/>
          </a:prstGeom>
          <a:noFill/>
        </p:spPr>
        <p:txBody>
          <a:bodyPr wrap="square" lIns="0" rIns="0" tIns="0" bIns="0" anchor="t">
            <a:spAutoFit/>
          </a:bodyPr>
          <a:lstStyle/>
          <a:p>
            <a:pPr algn="l">
              <a:lnSpc>
                <a:spcPct val="100000"/>
              </a:lnSpc>
            </a:pPr>
            <a:r>
              <a:rPr sz="1550" b="1" i="0">
                <a:solidFill>
                  <a:srgbClr val="3F5A2E"/>
                </a:solidFill>
                <a:latin typeface="Calibri"/>
              </a:rPr>
              <a:t>Looks ahead, speaks plainly</a:t>
            </a:r>
          </a:p>
        </p:txBody>
      </p:sp>
      <p:sp>
        <p:nvSpPr>
          <p:cNvPr id="16" name="TextBox 15"/>
          <p:cNvSpPr txBox="1"/>
          <p:nvPr/>
        </p:nvSpPr>
        <p:spPr>
          <a:xfrm>
            <a:off x="8229599" y="5422392"/>
            <a:ext cx="3246120" cy="841248"/>
          </a:xfrm>
          <a:prstGeom prst="rect">
            <a:avLst/>
          </a:prstGeom>
          <a:noFill/>
        </p:spPr>
        <p:txBody>
          <a:bodyPr wrap="square" lIns="0" rIns="0" tIns="0" bIns="0" anchor="t">
            <a:spAutoFit/>
          </a:bodyPr>
          <a:lstStyle/>
          <a:p>
            <a:pPr algn="l">
              <a:lnSpc>
                <a:spcPct val="100000"/>
              </a:lnSpc>
            </a:pPr>
            <a:r>
              <a:rPr sz="1350" b="0" i="0">
                <a:solidFill>
                  <a:srgbClr val="3A312A"/>
                </a:solidFill>
                <a:latin typeface="Calibri"/>
              </a:rPr>
              <a:t>Holiday alerts at 30, 14 and 7 days. "Closed on 26th December" becomes an approved change.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EE3"/>
        </a:solidFill>
        <a:effectLst/>
      </p:bgPr>
    </p:bg>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pPr>
            <a:r>
              <a:rPr sz="1300" b="1" i="0" spc="140">
                <a:solidFill>
                  <a:srgbClr val="B8561F"/>
                </a:solidFill>
                <a:latin typeface="Calibri"/>
              </a:rPr>
              <a:t>6  ·  THE DEMONSTRATION</a:t>
            </a:r>
          </a:p>
        </p:txBody>
      </p:sp>
      <p:sp>
        <p:nvSpPr>
          <p:cNvPr id="3" name="TextBox 2"/>
          <p:cNvSpPr txBox="1"/>
          <p:nvPr/>
        </p:nvSpPr>
        <p:spPr>
          <a:xfrm>
            <a:off x="548640" y="621792"/>
            <a:ext cx="11094415" cy="640080"/>
          </a:xfrm>
          <a:prstGeom prst="rect">
            <a:avLst/>
          </a:prstGeom>
          <a:noFill/>
        </p:spPr>
        <p:txBody>
          <a:bodyPr wrap="square" lIns="0" rIns="0" tIns="0" bIns="0" anchor="t">
            <a:spAutoFit/>
          </a:bodyPr>
          <a:lstStyle/>
          <a:p>
            <a:pPr algn="l">
              <a:lnSpc>
                <a:spcPct val="100000"/>
              </a:lnSpc>
            </a:pPr>
            <a:r>
              <a:rPr sz="3000" b="1" i="0">
                <a:solidFill>
                  <a:srgbClr val="3A312A"/>
                </a:solidFill>
                <a:latin typeface="Cambria"/>
              </a:rPr>
              <a:t>End to end: hours fixed, a stranger's listing left alone</a:t>
            </a:r>
          </a:p>
        </p:txBody>
      </p:sp>
      <p:sp>
        <p:nvSpPr>
          <p:cNvPr id="4" name="TextBox 3"/>
          <p:cNvSpPr txBox="1"/>
          <p:nvPr/>
        </p:nvSpPr>
        <p:spPr>
          <a:xfrm>
            <a:off x="548640" y="6473952"/>
            <a:ext cx="7315200" cy="22860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Business Listing Consistency Agent  ·  Agentic AI Hackathon 2026</a:t>
            </a:r>
          </a:p>
        </p:txBody>
      </p:sp>
      <p:sp>
        <p:nvSpPr>
          <p:cNvPr id="5" name="TextBox 4"/>
          <p:cNvSpPr txBox="1"/>
          <p:nvPr/>
        </p:nvSpPr>
        <p:spPr>
          <a:xfrm>
            <a:off x="10728655" y="6473952"/>
            <a:ext cx="914400" cy="228600"/>
          </a:xfrm>
          <a:prstGeom prst="rect">
            <a:avLst/>
          </a:prstGeom>
          <a:noFill/>
        </p:spPr>
        <p:txBody>
          <a:bodyPr wrap="square" lIns="0" rIns="0" tIns="0" bIns="0" anchor="t">
            <a:spAutoFit/>
          </a:bodyPr>
          <a:lstStyle/>
          <a:p>
            <a:pPr algn="r">
              <a:lnSpc>
                <a:spcPct val="100000"/>
              </a:lnSpc>
            </a:pPr>
            <a:r>
              <a:rPr sz="1100" b="0" i="0">
                <a:solidFill>
                  <a:srgbClr val="6A5E51"/>
                </a:solidFill>
                <a:latin typeface="Calibri"/>
              </a:rPr>
              <a:t>9</a:t>
            </a:r>
          </a:p>
        </p:txBody>
      </p:sp>
      <p:sp>
        <p:nvSpPr>
          <p:cNvPr id="6" name="Rounded Rectangle 5"/>
          <p:cNvSpPr/>
          <p:nvPr/>
        </p:nvSpPr>
        <p:spPr>
          <a:xfrm>
            <a:off x="548640" y="1508760"/>
            <a:ext cx="5074920" cy="987552"/>
          </a:xfrm>
          <a:prstGeom prst="roundRect">
            <a:avLst>
              <a:gd name="adj" fmla="val 5555"/>
            </a:avLst>
          </a:prstGeom>
          <a:solidFill>
            <a:srgbClr val="FBF8F1"/>
          </a:solidFill>
          <a:ln w="9525">
            <a:solidFill>
              <a:srgbClr val="E2D8C6"/>
            </a:solidFill>
          </a:ln>
          <a:effectLst/>
        </p:spPr>
        <p:txBody>
          <a:bodyPr rtlCol="0" anchor="ctr"/>
          <a:lstStyle/>
          <a:p>
            <a:pPr algn="ctr"/>
          </a:p>
        </p:txBody>
      </p:sp>
      <p:sp>
        <p:nvSpPr>
          <p:cNvPr id="7" name="Oval 6"/>
          <p:cNvSpPr/>
          <p:nvPr/>
        </p:nvSpPr>
        <p:spPr>
          <a:xfrm>
            <a:off x="685800" y="1783080"/>
            <a:ext cx="438912" cy="438912"/>
          </a:xfrm>
          <a:prstGeom prst="ellipse">
            <a:avLst/>
          </a:prstGeom>
          <a:solidFill>
            <a:srgbClr val="54733F"/>
          </a:solidFill>
          <a:ln>
            <a:noFill/>
          </a:ln>
          <a:effectLst/>
        </p:spPr>
        <p:txBody>
          <a:bodyPr rtlCol="0" anchor="ctr"/>
          <a:lstStyle/>
          <a:p>
            <a:pPr algn="ctr"/>
          </a:p>
        </p:txBody>
      </p:sp>
      <p:sp>
        <p:nvSpPr>
          <p:cNvPr id="8" name="TextBox 7"/>
          <p:cNvSpPr txBox="1"/>
          <p:nvPr/>
        </p:nvSpPr>
        <p:spPr>
          <a:xfrm>
            <a:off x="685800" y="1783080"/>
            <a:ext cx="438912" cy="438912"/>
          </a:xfrm>
          <a:prstGeom prst="rect">
            <a:avLst/>
          </a:prstGeom>
          <a:noFill/>
        </p:spPr>
        <p:txBody>
          <a:bodyPr wrap="square" lIns="0" rIns="0" tIns="0" bIns="0" anchor="ctr">
            <a:spAutoFit/>
          </a:bodyPr>
          <a:lstStyle/>
          <a:p>
            <a:pPr algn="ctr">
              <a:lnSpc>
                <a:spcPct val="100000"/>
              </a:lnSpc>
            </a:pPr>
            <a:r>
              <a:rPr sz="1600" b="1" i="0">
                <a:solidFill>
                  <a:srgbClr val="FBF8F1"/>
                </a:solidFill>
                <a:latin typeface="Cambria"/>
              </a:rPr>
              <a:t>1</a:t>
            </a:r>
          </a:p>
        </p:txBody>
      </p:sp>
      <p:sp>
        <p:nvSpPr>
          <p:cNvPr id="9" name="TextBox 8"/>
          <p:cNvSpPr txBox="1"/>
          <p:nvPr/>
        </p:nvSpPr>
        <p:spPr>
          <a:xfrm>
            <a:off x="1298448" y="1600200"/>
            <a:ext cx="4206240" cy="274320"/>
          </a:xfrm>
          <a:prstGeom prst="rect">
            <a:avLst/>
          </a:prstGeom>
          <a:noFill/>
        </p:spPr>
        <p:txBody>
          <a:bodyPr wrap="square" lIns="0" rIns="0" tIns="0" bIns="0" anchor="t">
            <a:spAutoFit/>
          </a:bodyPr>
          <a:lstStyle/>
          <a:p>
            <a:pPr algn="l">
              <a:lnSpc>
                <a:spcPct val="100000"/>
              </a:lnSpc>
            </a:pPr>
            <a:r>
              <a:rPr sz="1600" b="1" i="0">
                <a:solidFill>
                  <a:srgbClr val="3F5A2E"/>
                </a:solidFill>
                <a:latin typeface="Calibri"/>
              </a:rPr>
              <a:t>Scan and review</a:t>
            </a:r>
          </a:p>
        </p:txBody>
      </p:sp>
      <p:sp>
        <p:nvSpPr>
          <p:cNvPr id="10" name="TextBox 9"/>
          <p:cNvSpPr txBox="1"/>
          <p:nvPr/>
        </p:nvSpPr>
        <p:spPr>
          <a:xfrm>
            <a:off x="1298448" y="1892807"/>
            <a:ext cx="4206240" cy="585216"/>
          </a:xfrm>
          <a:prstGeom prst="rect">
            <a:avLst/>
          </a:prstGeom>
          <a:noFill/>
        </p:spPr>
        <p:txBody>
          <a:bodyPr wrap="square" lIns="0" rIns="0" tIns="0" bIns="0" anchor="t">
            <a:spAutoFit/>
          </a:bodyPr>
          <a:lstStyle/>
          <a:p>
            <a:pPr algn="l">
              <a:lnSpc>
                <a:spcPct val="100000"/>
              </a:lnSpc>
            </a:pPr>
            <a:r>
              <a:rPr sz="1350" b="0" i="0">
                <a:solidFill>
                  <a:srgbClr val="3A312A"/>
                </a:solidFill>
                <a:latin typeface="Calibri"/>
              </a:rPr>
              <a:t>5 sites read in about 150 ms. CityPages shows Diwali as Closed; the record says 10:00-2:00. You decide.</a:t>
            </a:r>
          </a:p>
        </p:txBody>
      </p:sp>
      <p:sp>
        <p:nvSpPr>
          <p:cNvPr id="11" name="Rounded Rectangle 10"/>
          <p:cNvSpPr/>
          <p:nvPr/>
        </p:nvSpPr>
        <p:spPr>
          <a:xfrm>
            <a:off x="548640" y="2587752"/>
            <a:ext cx="5074920" cy="987552"/>
          </a:xfrm>
          <a:prstGeom prst="roundRect">
            <a:avLst>
              <a:gd name="adj" fmla="val 5555"/>
            </a:avLst>
          </a:prstGeom>
          <a:solidFill>
            <a:srgbClr val="FBF8F1"/>
          </a:solidFill>
          <a:ln w="9525">
            <a:solidFill>
              <a:srgbClr val="E2D8C6"/>
            </a:solidFill>
          </a:ln>
          <a:effectLst/>
        </p:spPr>
        <p:txBody>
          <a:bodyPr rtlCol="0" anchor="ctr"/>
          <a:lstStyle/>
          <a:p>
            <a:pPr algn="ctr"/>
          </a:p>
        </p:txBody>
      </p:sp>
      <p:sp>
        <p:nvSpPr>
          <p:cNvPr id="12" name="Oval 11"/>
          <p:cNvSpPr/>
          <p:nvPr/>
        </p:nvSpPr>
        <p:spPr>
          <a:xfrm>
            <a:off x="685800" y="2862072"/>
            <a:ext cx="438912" cy="438912"/>
          </a:xfrm>
          <a:prstGeom prst="ellipse">
            <a:avLst/>
          </a:prstGeom>
          <a:solidFill>
            <a:srgbClr val="54733F"/>
          </a:solidFill>
          <a:ln>
            <a:noFill/>
          </a:ln>
          <a:effectLst/>
        </p:spPr>
        <p:txBody>
          <a:bodyPr rtlCol="0" anchor="ctr"/>
          <a:lstStyle/>
          <a:p>
            <a:pPr algn="ctr"/>
          </a:p>
        </p:txBody>
      </p:sp>
      <p:sp>
        <p:nvSpPr>
          <p:cNvPr id="13" name="TextBox 12"/>
          <p:cNvSpPr txBox="1"/>
          <p:nvPr/>
        </p:nvSpPr>
        <p:spPr>
          <a:xfrm>
            <a:off x="685800" y="2862072"/>
            <a:ext cx="438912" cy="438912"/>
          </a:xfrm>
          <a:prstGeom prst="rect">
            <a:avLst/>
          </a:prstGeom>
          <a:noFill/>
        </p:spPr>
        <p:txBody>
          <a:bodyPr wrap="square" lIns="0" rIns="0" tIns="0" bIns="0" anchor="ctr">
            <a:spAutoFit/>
          </a:bodyPr>
          <a:lstStyle/>
          <a:p>
            <a:pPr algn="ctr">
              <a:lnSpc>
                <a:spcPct val="100000"/>
              </a:lnSpc>
            </a:pPr>
            <a:r>
              <a:rPr sz="1600" b="1" i="0">
                <a:solidFill>
                  <a:srgbClr val="FBF8F1"/>
                </a:solidFill>
                <a:latin typeface="Cambria"/>
              </a:rPr>
              <a:t>2</a:t>
            </a:r>
          </a:p>
        </p:txBody>
      </p:sp>
      <p:sp>
        <p:nvSpPr>
          <p:cNvPr id="14" name="TextBox 13"/>
          <p:cNvSpPr txBox="1"/>
          <p:nvPr/>
        </p:nvSpPr>
        <p:spPr>
          <a:xfrm>
            <a:off x="1298448" y="2679192"/>
            <a:ext cx="4206240" cy="274320"/>
          </a:xfrm>
          <a:prstGeom prst="rect">
            <a:avLst/>
          </a:prstGeom>
          <a:noFill/>
        </p:spPr>
        <p:txBody>
          <a:bodyPr wrap="square" lIns="0" rIns="0" tIns="0" bIns="0" anchor="t">
            <a:spAutoFit/>
          </a:bodyPr>
          <a:lstStyle/>
          <a:p>
            <a:pPr algn="l">
              <a:lnSpc>
                <a:spcPct val="100000"/>
              </a:lnSpc>
            </a:pPr>
            <a:r>
              <a:rPr sz="1600" b="1" i="0">
                <a:solidFill>
                  <a:srgbClr val="3F5A2E"/>
                </a:solidFill>
                <a:latin typeface="Calibri"/>
              </a:rPr>
              <a:t>Safety</a:t>
            </a:r>
          </a:p>
        </p:txBody>
      </p:sp>
      <p:sp>
        <p:nvSpPr>
          <p:cNvPr id="15" name="TextBox 14"/>
          <p:cNvSpPr txBox="1"/>
          <p:nvPr/>
        </p:nvSpPr>
        <p:spPr>
          <a:xfrm>
            <a:off x="1298448" y="2971800"/>
            <a:ext cx="4206240" cy="585216"/>
          </a:xfrm>
          <a:prstGeom prst="rect">
            <a:avLst/>
          </a:prstGeom>
          <a:noFill/>
        </p:spPr>
        <p:txBody>
          <a:bodyPr wrap="square" lIns="0" rIns="0" tIns="0" bIns="0" anchor="t">
            <a:spAutoFit/>
          </a:bodyPr>
          <a:lstStyle/>
          <a:p>
            <a:pPr algn="l">
              <a:lnSpc>
                <a:spcPct val="100000"/>
              </a:lnSpc>
            </a:pPr>
            <a:r>
              <a:rPr sz="1350" b="0" i="0">
                <a:solidFill>
                  <a:srgbClr val="3A312A"/>
                </a:solidFill>
                <a:latin typeface="Calibri"/>
              </a:rPr>
              <a:t>NearbyNow belongs to another account: zero edits, and a claim request is drafted.</a:t>
            </a:r>
          </a:p>
        </p:txBody>
      </p:sp>
      <p:sp>
        <p:nvSpPr>
          <p:cNvPr id="16" name="Rounded Rectangle 15"/>
          <p:cNvSpPr/>
          <p:nvPr/>
        </p:nvSpPr>
        <p:spPr>
          <a:xfrm>
            <a:off x="548640" y="3666744"/>
            <a:ext cx="5074920" cy="987552"/>
          </a:xfrm>
          <a:prstGeom prst="roundRect">
            <a:avLst>
              <a:gd name="adj" fmla="val 5555"/>
            </a:avLst>
          </a:prstGeom>
          <a:solidFill>
            <a:srgbClr val="FBF8F1"/>
          </a:solidFill>
          <a:ln w="9525">
            <a:solidFill>
              <a:srgbClr val="E2D8C6"/>
            </a:solidFill>
          </a:ln>
          <a:effectLst/>
        </p:spPr>
        <p:txBody>
          <a:bodyPr rtlCol="0" anchor="ctr"/>
          <a:lstStyle/>
          <a:p>
            <a:pPr algn="ctr"/>
          </a:p>
        </p:txBody>
      </p:sp>
      <p:sp>
        <p:nvSpPr>
          <p:cNvPr id="17" name="Oval 16"/>
          <p:cNvSpPr/>
          <p:nvPr/>
        </p:nvSpPr>
        <p:spPr>
          <a:xfrm>
            <a:off x="685800" y="3941063"/>
            <a:ext cx="438912" cy="438912"/>
          </a:xfrm>
          <a:prstGeom prst="ellipse">
            <a:avLst/>
          </a:prstGeom>
          <a:solidFill>
            <a:srgbClr val="54733F"/>
          </a:solidFill>
          <a:ln>
            <a:noFill/>
          </a:ln>
          <a:effectLst/>
        </p:spPr>
        <p:txBody>
          <a:bodyPr rtlCol="0" anchor="ctr"/>
          <a:lstStyle/>
          <a:p>
            <a:pPr algn="ctr"/>
          </a:p>
        </p:txBody>
      </p:sp>
      <p:sp>
        <p:nvSpPr>
          <p:cNvPr id="18" name="TextBox 17"/>
          <p:cNvSpPr txBox="1"/>
          <p:nvPr/>
        </p:nvSpPr>
        <p:spPr>
          <a:xfrm>
            <a:off x="685800" y="3941063"/>
            <a:ext cx="438912" cy="438912"/>
          </a:xfrm>
          <a:prstGeom prst="rect">
            <a:avLst/>
          </a:prstGeom>
          <a:noFill/>
        </p:spPr>
        <p:txBody>
          <a:bodyPr wrap="square" lIns="0" rIns="0" tIns="0" bIns="0" anchor="ctr">
            <a:spAutoFit/>
          </a:bodyPr>
          <a:lstStyle/>
          <a:p>
            <a:pPr algn="ctr">
              <a:lnSpc>
                <a:spcPct val="100000"/>
              </a:lnSpc>
            </a:pPr>
            <a:r>
              <a:rPr sz="1600" b="1" i="0">
                <a:solidFill>
                  <a:srgbClr val="FBF8F1"/>
                </a:solidFill>
                <a:latin typeface="Cambria"/>
              </a:rPr>
              <a:t>3</a:t>
            </a:r>
          </a:p>
        </p:txBody>
      </p:sp>
      <p:sp>
        <p:nvSpPr>
          <p:cNvPr id="19" name="TextBox 18"/>
          <p:cNvSpPr txBox="1"/>
          <p:nvPr/>
        </p:nvSpPr>
        <p:spPr>
          <a:xfrm>
            <a:off x="1298448" y="3758183"/>
            <a:ext cx="4206240" cy="274320"/>
          </a:xfrm>
          <a:prstGeom prst="rect">
            <a:avLst/>
          </a:prstGeom>
          <a:noFill/>
        </p:spPr>
        <p:txBody>
          <a:bodyPr wrap="square" lIns="0" rIns="0" tIns="0" bIns="0" anchor="t">
            <a:spAutoFit/>
          </a:bodyPr>
          <a:lstStyle/>
          <a:p>
            <a:pPr algn="l">
              <a:lnSpc>
                <a:spcPct val="100000"/>
              </a:lnSpc>
            </a:pPr>
            <a:r>
              <a:rPr sz="1600" b="1" i="0">
                <a:solidFill>
                  <a:srgbClr val="3F5A2E"/>
                </a:solidFill>
                <a:latin typeface="Calibri"/>
              </a:rPr>
              <a:t>Apply and verify</a:t>
            </a:r>
          </a:p>
        </p:txBody>
      </p:sp>
      <p:sp>
        <p:nvSpPr>
          <p:cNvPr id="20" name="TextBox 19"/>
          <p:cNvSpPr txBox="1"/>
          <p:nvPr/>
        </p:nvSpPr>
        <p:spPr>
          <a:xfrm>
            <a:off x="1298448" y="4050791"/>
            <a:ext cx="4206240" cy="585216"/>
          </a:xfrm>
          <a:prstGeom prst="rect">
            <a:avLst/>
          </a:prstGeom>
          <a:noFill/>
        </p:spPr>
        <p:txBody>
          <a:bodyPr wrap="square" lIns="0" rIns="0" tIns="0" bIns="0" anchor="t">
            <a:spAutoFit/>
          </a:bodyPr>
          <a:lstStyle/>
          <a:p>
            <a:pPr algn="l">
              <a:lnSpc>
                <a:spcPct val="100000"/>
              </a:lnSpc>
            </a:pPr>
            <a:r>
              <a:rPr sz="1350" b="0" i="0">
                <a:solidFill>
                  <a:srgbClr val="3A312A"/>
                </a:solidFill>
                <a:latin typeface="Calibri"/>
              </a:rPr>
              <a:t>Only approved changes go out; pages are reloaded. ShopFront waits for its moderator, then a re-check verifies.</a:t>
            </a:r>
          </a:p>
        </p:txBody>
      </p:sp>
      <p:sp>
        <p:nvSpPr>
          <p:cNvPr id="21" name="Rounded Rectangle 20"/>
          <p:cNvSpPr/>
          <p:nvPr/>
        </p:nvSpPr>
        <p:spPr>
          <a:xfrm>
            <a:off x="548640" y="4745736"/>
            <a:ext cx="5074920" cy="987552"/>
          </a:xfrm>
          <a:prstGeom prst="roundRect">
            <a:avLst>
              <a:gd name="adj" fmla="val 5555"/>
            </a:avLst>
          </a:prstGeom>
          <a:solidFill>
            <a:srgbClr val="FBF8F1"/>
          </a:solidFill>
          <a:ln w="9525">
            <a:solidFill>
              <a:srgbClr val="E2D8C6"/>
            </a:solidFill>
          </a:ln>
          <a:effectLst/>
        </p:spPr>
        <p:txBody>
          <a:bodyPr rtlCol="0" anchor="ctr"/>
          <a:lstStyle/>
          <a:p>
            <a:pPr algn="ctr"/>
          </a:p>
        </p:txBody>
      </p:sp>
      <p:sp>
        <p:nvSpPr>
          <p:cNvPr id="22" name="Oval 21"/>
          <p:cNvSpPr/>
          <p:nvPr/>
        </p:nvSpPr>
        <p:spPr>
          <a:xfrm>
            <a:off x="685800" y="5020055"/>
            <a:ext cx="438912" cy="438912"/>
          </a:xfrm>
          <a:prstGeom prst="ellipse">
            <a:avLst/>
          </a:prstGeom>
          <a:solidFill>
            <a:srgbClr val="54733F"/>
          </a:solidFill>
          <a:ln>
            <a:noFill/>
          </a:ln>
          <a:effectLst/>
        </p:spPr>
        <p:txBody>
          <a:bodyPr rtlCol="0" anchor="ctr"/>
          <a:lstStyle/>
          <a:p>
            <a:pPr algn="ctr"/>
          </a:p>
        </p:txBody>
      </p:sp>
      <p:sp>
        <p:nvSpPr>
          <p:cNvPr id="23" name="TextBox 22"/>
          <p:cNvSpPr txBox="1"/>
          <p:nvPr/>
        </p:nvSpPr>
        <p:spPr>
          <a:xfrm>
            <a:off x="685800" y="5020055"/>
            <a:ext cx="438912" cy="438912"/>
          </a:xfrm>
          <a:prstGeom prst="rect">
            <a:avLst/>
          </a:prstGeom>
          <a:noFill/>
        </p:spPr>
        <p:txBody>
          <a:bodyPr wrap="square" lIns="0" rIns="0" tIns="0" bIns="0" anchor="ctr">
            <a:spAutoFit/>
          </a:bodyPr>
          <a:lstStyle/>
          <a:p>
            <a:pPr algn="ctr">
              <a:lnSpc>
                <a:spcPct val="100000"/>
              </a:lnSpc>
            </a:pPr>
            <a:r>
              <a:rPr sz="1600" b="1" i="0">
                <a:solidFill>
                  <a:srgbClr val="FBF8F1"/>
                </a:solidFill>
                <a:latin typeface="Cambria"/>
              </a:rPr>
              <a:t>4</a:t>
            </a:r>
          </a:p>
        </p:txBody>
      </p:sp>
      <p:sp>
        <p:nvSpPr>
          <p:cNvPr id="24" name="TextBox 23"/>
          <p:cNvSpPr txBox="1"/>
          <p:nvPr/>
        </p:nvSpPr>
        <p:spPr>
          <a:xfrm>
            <a:off x="1298448" y="4837175"/>
            <a:ext cx="4206240" cy="274320"/>
          </a:xfrm>
          <a:prstGeom prst="rect">
            <a:avLst/>
          </a:prstGeom>
          <a:noFill/>
        </p:spPr>
        <p:txBody>
          <a:bodyPr wrap="square" lIns="0" rIns="0" tIns="0" bIns="0" anchor="t">
            <a:spAutoFit/>
          </a:bodyPr>
          <a:lstStyle/>
          <a:p>
            <a:pPr algn="l">
              <a:lnSpc>
                <a:spcPct val="100000"/>
              </a:lnSpc>
            </a:pPr>
            <a:r>
              <a:rPr sz="1600" b="1" i="0">
                <a:solidFill>
                  <a:srgbClr val="3F5A2E"/>
                </a:solidFill>
                <a:latin typeface="Calibri"/>
              </a:rPr>
              <a:t>Report</a:t>
            </a:r>
          </a:p>
        </p:txBody>
      </p:sp>
      <p:sp>
        <p:nvSpPr>
          <p:cNvPr id="25" name="TextBox 24"/>
          <p:cNvSpPr txBox="1"/>
          <p:nvPr/>
        </p:nvSpPr>
        <p:spPr>
          <a:xfrm>
            <a:off x="1298448" y="5129783"/>
            <a:ext cx="4206240" cy="585216"/>
          </a:xfrm>
          <a:prstGeom prst="rect">
            <a:avLst/>
          </a:prstGeom>
          <a:noFill/>
        </p:spPr>
        <p:txBody>
          <a:bodyPr wrap="square" lIns="0" rIns="0" tIns="0" bIns="0" anchor="t">
            <a:spAutoFit/>
          </a:bodyPr>
          <a:lstStyle/>
          <a:p>
            <a:pPr algn="l">
              <a:lnSpc>
                <a:spcPct val="100000"/>
              </a:lnSpc>
            </a:pPr>
            <a:r>
              <a:rPr sz="1350" b="0" i="0">
                <a:solidFill>
                  <a:srgbClr val="3A312A"/>
                </a:solidFill>
                <a:latin typeface="Calibri"/>
              </a:rPr>
              <a:t>2 fixed and verified, 1 needs you, 2 ignored. Exported as CSV.</a:t>
            </a:r>
          </a:p>
        </p:txBody>
      </p:sp>
      <p:pic>
        <p:nvPicPr>
          <p:cNvPr id="26" name="Picture 25" descr="Approval card for the CityPages Diwali hours with Approve and Reject buttons"/>
          <p:cNvPicPr>
            <a:picLocks noChangeAspect="1"/>
          </p:cNvPicPr>
          <p:nvPr/>
        </p:nvPicPr>
        <p:blipFill>
          <a:blip r:embed="rId2"/>
          <a:stretch>
            <a:fillRect/>
          </a:stretch>
        </p:blipFill>
        <p:spPr>
          <a:xfrm>
            <a:off x="5852160" y="1508760"/>
            <a:ext cx="5788152" cy="1627492"/>
          </a:xfrm>
          <a:prstGeom prst="rect">
            <a:avLst/>
          </a:prstGeom>
          <a:ln w="9525">
            <a:solidFill>
              <a:srgbClr val="E2D8C6"/>
            </a:solidFill>
          </a:ln>
        </p:spPr>
      </p:pic>
      <p:sp>
        <p:nvSpPr>
          <p:cNvPr id="27" name="TextBox 26"/>
          <p:cNvSpPr txBox="1"/>
          <p:nvPr/>
        </p:nvSpPr>
        <p:spPr>
          <a:xfrm>
            <a:off x="5852160" y="3181972"/>
            <a:ext cx="5788152" cy="256032"/>
          </a:xfrm>
          <a:prstGeom prst="rect">
            <a:avLst/>
          </a:prstGeom>
          <a:noFill/>
        </p:spPr>
        <p:txBody>
          <a:bodyPr wrap="square" lIns="0" rIns="0" tIns="0" bIns="0" anchor="t">
            <a:spAutoFit/>
          </a:bodyPr>
          <a:lstStyle/>
          <a:p>
            <a:pPr algn="l">
              <a:lnSpc>
                <a:spcPct val="100000"/>
              </a:lnSpc>
            </a:pPr>
            <a:r>
              <a:rPr sz="1200" b="0" i="0">
                <a:solidFill>
                  <a:srgbClr val="6A5E51"/>
                </a:solidFill>
                <a:latin typeface="Calibri"/>
              </a:rPr>
              <a:t>Review: the card shows both values and the reason.</a:t>
            </a:r>
          </a:p>
        </p:txBody>
      </p:sp>
      <p:pic>
        <p:nvPicPr>
          <p:cNvPr id="28" name="Picture 27" descr="Flagged card for NearbyNow: listing claimed by another account, no edit attempted"/>
          <p:cNvPicPr>
            <a:picLocks noChangeAspect="1"/>
          </p:cNvPicPr>
          <p:nvPr/>
        </p:nvPicPr>
        <p:blipFill>
          <a:blip r:embed="rId3"/>
          <a:stretch>
            <a:fillRect/>
          </a:stretch>
        </p:blipFill>
        <p:spPr>
          <a:xfrm>
            <a:off x="5852160" y="3547732"/>
            <a:ext cx="5788152" cy="1569610"/>
          </a:xfrm>
          <a:prstGeom prst="rect">
            <a:avLst/>
          </a:prstGeom>
          <a:ln w="9525">
            <a:solidFill>
              <a:srgbClr val="E2D8C6"/>
            </a:solidFill>
          </a:ln>
        </p:spPr>
      </p:pic>
      <p:sp>
        <p:nvSpPr>
          <p:cNvPr id="29" name="TextBox 28"/>
          <p:cNvSpPr txBox="1"/>
          <p:nvPr/>
        </p:nvSpPr>
        <p:spPr>
          <a:xfrm>
            <a:off x="5852160" y="5163062"/>
            <a:ext cx="5788152" cy="256032"/>
          </a:xfrm>
          <a:prstGeom prst="rect">
            <a:avLst/>
          </a:prstGeom>
          <a:noFill/>
        </p:spPr>
        <p:txBody>
          <a:bodyPr wrap="square" lIns="0" rIns="0" tIns="0" bIns="0" anchor="t">
            <a:spAutoFit/>
          </a:bodyPr>
          <a:lstStyle/>
          <a:p>
            <a:pPr algn="l">
              <a:lnSpc>
                <a:spcPct val="100000"/>
              </a:lnSpc>
            </a:pPr>
            <a:r>
              <a:rPr sz="1200" b="0" i="0">
                <a:solidFill>
                  <a:srgbClr val="6A5E51"/>
                </a:solidFill>
                <a:latin typeface="Calibri"/>
              </a:rPr>
              <a:t>Safety: not our listing, so nothing is edited.</a:t>
            </a:r>
          </a:p>
        </p:txBody>
      </p:sp>
      <p:sp>
        <p:nvSpPr>
          <p:cNvPr id="30" name="Rounded Rectangle 29"/>
          <p:cNvSpPr/>
          <p:nvPr/>
        </p:nvSpPr>
        <p:spPr>
          <a:xfrm>
            <a:off x="548640" y="5852160"/>
            <a:ext cx="11094415" cy="475488"/>
          </a:xfrm>
          <a:prstGeom prst="roundRect">
            <a:avLst>
              <a:gd name="adj" fmla="val 15384"/>
            </a:avLst>
          </a:prstGeom>
          <a:solidFill>
            <a:srgbClr val="2F2721"/>
          </a:solidFill>
          <a:ln>
            <a:noFill/>
          </a:ln>
          <a:effectLst/>
        </p:spPr>
        <p:txBody>
          <a:bodyPr rtlCol="0" anchor="ctr"/>
          <a:lstStyle/>
          <a:p>
            <a:pPr algn="ctr"/>
          </a:p>
        </p:txBody>
      </p:sp>
      <p:sp>
        <p:nvSpPr>
          <p:cNvPr id="31" name="TextBox 30"/>
          <p:cNvSpPr txBox="1"/>
          <p:nvPr/>
        </p:nvSpPr>
        <p:spPr>
          <a:xfrm>
            <a:off x="777240" y="5852160"/>
            <a:ext cx="10637215" cy="475488"/>
          </a:xfrm>
          <a:prstGeom prst="rect">
            <a:avLst/>
          </a:prstGeom>
          <a:noFill/>
        </p:spPr>
        <p:txBody>
          <a:bodyPr wrap="square" lIns="0" rIns="0" tIns="0" bIns="0" anchor="ctr">
            <a:spAutoFit/>
          </a:bodyPr>
          <a:lstStyle/>
          <a:p>
            <a:pPr algn="l">
              <a:lnSpc>
                <a:spcPct val="100000"/>
              </a:lnSpc>
            </a:pPr>
            <a:r>
              <a:rPr sz="1400" b="1" i="0">
                <a:solidFill>
                  <a:srgbClr val="FBF8F1"/>
                </a:solidFill>
                <a:latin typeface="Calibri"/>
              </a:rPr>
              <a:t>TC1 to TC8 pass from a fresh reset (8 / 8)</a:t>
            </a:r>
            <a:r>
              <a:rPr sz="1400" b="0" i="0">
                <a:solidFill>
                  <a:srgbClr val="FBF8F1"/>
                </a:solidFill>
                <a:latin typeface="Calibri"/>
              </a:rPr>
              <a:t>   ·   295 automated tests   ·   2-minute video: docs/demo/demo.mp4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EEE3"/>
        </a:solidFill>
        <a:effectLst/>
      </p:bgPr>
    </p:bg>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pPr>
            <a:r>
              <a:rPr sz="1300" b="1" i="0" spc="140">
                <a:solidFill>
                  <a:srgbClr val="B8561F"/>
                </a:solidFill>
                <a:latin typeface="Calibri"/>
              </a:rPr>
              <a:t>7  ·  THE IMPACT</a:t>
            </a:r>
          </a:p>
        </p:txBody>
      </p:sp>
      <p:sp>
        <p:nvSpPr>
          <p:cNvPr id="3" name="TextBox 2"/>
          <p:cNvSpPr txBox="1"/>
          <p:nvPr/>
        </p:nvSpPr>
        <p:spPr>
          <a:xfrm>
            <a:off x="548640" y="621792"/>
            <a:ext cx="11094415" cy="640080"/>
          </a:xfrm>
          <a:prstGeom prst="rect">
            <a:avLst/>
          </a:prstGeom>
          <a:noFill/>
        </p:spPr>
        <p:txBody>
          <a:bodyPr wrap="square" lIns="0" rIns="0" tIns="0" bIns="0" anchor="t">
            <a:spAutoFit/>
          </a:bodyPr>
          <a:lstStyle/>
          <a:p>
            <a:pPr algn="l">
              <a:lnSpc>
                <a:spcPct val="100000"/>
              </a:lnSpc>
            </a:pPr>
            <a:r>
              <a:rPr sz="3000" b="1" i="0">
                <a:solidFill>
                  <a:srgbClr val="3A312A"/>
                </a:solidFill>
                <a:latin typeface="Cambria"/>
              </a:rPr>
              <a:t>Value we can measure, and where it goes next</a:t>
            </a:r>
          </a:p>
        </p:txBody>
      </p:sp>
      <p:sp>
        <p:nvSpPr>
          <p:cNvPr id="4" name="TextBox 3"/>
          <p:cNvSpPr txBox="1"/>
          <p:nvPr/>
        </p:nvSpPr>
        <p:spPr>
          <a:xfrm>
            <a:off x="548640" y="6473952"/>
            <a:ext cx="7315200" cy="228600"/>
          </a:xfrm>
          <a:prstGeom prst="rect">
            <a:avLst/>
          </a:prstGeom>
          <a:noFill/>
        </p:spPr>
        <p:txBody>
          <a:bodyPr wrap="square" lIns="0" rIns="0" tIns="0" bIns="0" anchor="t">
            <a:spAutoFit/>
          </a:bodyPr>
          <a:lstStyle/>
          <a:p>
            <a:pPr algn="l">
              <a:lnSpc>
                <a:spcPct val="100000"/>
              </a:lnSpc>
            </a:pPr>
            <a:r>
              <a:rPr sz="1100" b="0" i="0">
                <a:solidFill>
                  <a:srgbClr val="6A5E51"/>
                </a:solidFill>
                <a:latin typeface="Calibri"/>
              </a:rPr>
              <a:t>Business Listing Consistency Agent  ·  Agentic AI Hackathon 2026</a:t>
            </a:r>
          </a:p>
        </p:txBody>
      </p:sp>
      <p:sp>
        <p:nvSpPr>
          <p:cNvPr id="5" name="TextBox 4"/>
          <p:cNvSpPr txBox="1"/>
          <p:nvPr/>
        </p:nvSpPr>
        <p:spPr>
          <a:xfrm>
            <a:off x="10728655" y="6473952"/>
            <a:ext cx="914400" cy="228600"/>
          </a:xfrm>
          <a:prstGeom prst="rect">
            <a:avLst/>
          </a:prstGeom>
          <a:noFill/>
        </p:spPr>
        <p:txBody>
          <a:bodyPr wrap="square" lIns="0" rIns="0" tIns="0" bIns="0" anchor="t">
            <a:spAutoFit/>
          </a:bodyPr>
          <a:lstStyle/>
          <a:p>
            <a:pPr algn="r">
              <a:lnSpc>
                <a:spcPct val="100000"/>
              </a:lnSpc>
            </a:pPr>
            <a:r>
              <a:rPr sz="1100" b="0" i="0">
                <a:solidFill>
                  <a:srgbClr val="6A5E51"/>
                </a:solidFill>
                <a:latin typeface="Calibri"/>
              </a:rPr>
              <a:t>10</a:t>
            </a:r>
          </a:p>
        </p:txBody>
      </p:sp>
      <p:sp>
        <p:nvSpPr>
          <p:cNvPr id="6" name="Rounded Rectangle 5"/>
          <p:cNvSpPr/>
          <p:nvPr/>
        </p:nvSpPr>
        <p:spPr>
          <a:xfrm>
            <a:off x="548640" y="1481328"/>
            <a:ext cx="2651760" cy="1417320"/>
          </a:xfrm>
          <a:prstGeom prst="roundRect">
            <a:avLst>
              <a:gd name="adj" fmla="val 3870"/>
            </a:avLst>
          </a:prstGeom>
          <a:solidFill>
            <a:srgbClr val="FBF8F1"/>
          </a:solidFill>
          <a:ln w="9525">
            <a:solidFill>
              <a:srgbClr val="E2D8C6"/>
            </a:solidFill>
          </a:ln>
          <a:effectLst/>
        </p:spPr>
        <p:txBody>
          <a:bodyPr rtlCol="0" anchor="ctr"/>
          <a:lstStyle/>
          <a:p>
            <a:pPr algn="ctr"/>
          </a:p>
        </p:txBody>
      </p:sp>
      <p:sp>
        <p:nvSpPr>
          <p:cNvPr id="7" name="TextBox 6"/>
          <p:cNvSpPr txBox="1"/>
          <p:nvPr/>
        </p:nvSpPr>
        <p:spPr>
          <a:xfrm>
            <a:off x="731520" y="1554480"/>
            <a:ext cx="2331720" cy="685800"/>
          </a:xfrm>
          <a:prstGeom prst="rect">
            <a:avLst/>
          </a:prstGeom>
          <a:noFill/>
        </p:spPr>
        <p:txBody>
          <a:bodyPr wrap="square" lIns="0" rIns="0" tIns="0" bIns="0" anchor="t">
            <a:spAutoFit/>
          </a:bodyPr>
          <a:lstStyle/>
          <a:p>
            <a:pPr algn="l">
              <a:lnSpc>
                <a:spcPct val="100000"/>
              </a:lnSpc>
            </a:pPr>
            <a:r>
              <a:rPr sz="3400" b="1" i="0">
                <a:solidFill>
                  <a:srgbClr val="3F5A2E"/>
                </a:solidFill>
                <a:latin typeface="Cambria"/>
              </a:rPr>
              <a:t>~150 ms</a:t>
            </a:r>
          </a:p>
        </p:txBody>
      </p:sp>
      <p:sp>
        <p:nvSpPr>
          <p:cNvPr id="8" name="TextBox 7"/>
          <p:cNvSpPr txBox="1"/>
          <p:nvPr/>
        </p:nvSpPr>
        <p:spPr>
          <a:xfrm>
            <a:off x="731520" y="2286000"/>
            <a:ext cx="2331720" cy="548640"/>
          </a:xfrm>
          <a:prstGeom prst="rect">
            <a:avLst/>
          </a:prstGeom>
          <a:noFill/>
        </p:spPr>
        <p:txBody>
          <a:bodyPr wrap="square" lIns="0" rIns="0" tIns="0" bIns="0" anchor="t">
            <a:spAutoFit/>
          </a:bodyPr>
          <a:lstStyle/>
          <a:p>
            <a:pPr algn="l">
              <a:lnSpc>
                <a:spcPct val="100000"/>
              </a:lnSpc>
            </a:pPr>
            <a:r>
              <a:rPr sz="1400" b="0" i="0">
                <a:solidFill>
                  <a:srgbClr val="6A5E51"/>
                </a:solidFill>
                <a:latin typeface="Calibri"/>
              </a:rPr>
              <a:t>full scan: 5 sites, 25 field checks</a:t>
            </a:r>
          </a:p>
        </p:txBody>
      </p:sp>
      <p:sp>
        <p:nvSpPr>
          <p:cNvPr id="9" name="Rounded Rectangle 8"/>
          <p:cNvSpPr/>
          <p:nvPr/>
        </p:nvSpPr>
        <p:spPr>
          <a:xfrm>
            <a:off x="3362248" y="1481328"/>
            <a:ext cx="2651760" cy="1417320"/>
          </a:xfrm>
          <a:prstGeom prst="roundRect">
            <a:avLst>
              <a:gd name="adj" fmla="val 3870"/>
            </a:avLst>
          </a:prstGeom>
          <a:solidFill>
            <a:srgbClr val="FBF8F1"/>
          </a:solidFill>
          <a:ln w="9525">
            <a:solidFill>
              <a:srgbClr val="E2D8C6"/>
            </a:solidFill>
          </a:ln>
          <a:effectLst/>
        </p:spPr>
        <p:txBody>
          <a:bodyPr rtlCol="0" anchor="ctr"/>
          <a:lstStyle/>
          <a:p>
            <a:pPr algn="ctr"/>
          </a:p>
        </p:txBody>
      </p:sp>
      <p:sp>
        <p:nvSpPr>
          <p:cNvPr id="10" name="TextBox 9"/>
          <p:cNvSpPr txBox="1"/>
          <p:nvPr/>
        </p:nvSpPr>
        <p:spPr>
          <a:xfrm>
            <a:off x="3545128" y="1554480"/>
            <a:ext cx="2331720" cy="685800"/>
          </a:xfrm>
          <a:prstGeom prst="rect">
            <a:avLst/>
          </a:prstGeom>
          <a:noFill/>
        </p:spPr>
        <p:txBody>
          <a:bodyPr wrap="square" lIns="0" rIns="0" tIns="0" bIns="0" anchor="t">
            <a:spAutoFit/>
          </a:bodyPr>
          <a:lstStyle/>
          <a:p>
            <a:pPr algn="l">
              <a:lnSpc>
                <a:spcPct val="100000"/>
              </a:lnSpc>
            </a:pPr>
            <a:r>
              <a:rPr sz="3400" b="1" i="0">
                <a:solidFill>
                  <a:srgbClr val="3F5A2E"/>
                </a:solidFill>
                <a:latin typeface="Cambria"/>
              </a:rPr>
              <a:t>3 clicks</a:t>
            </a:r>
          </a:p>
        </p:txBody>
      </p:sp>
      <p:sp>
        <p:nvSpPr>
          <p:cNvPr id="11" name="TextBox 10"/>
          <p:cNvSpPr txBox="1"/>
          <p:nvPr/>
        </p:nvSpPr>
        <p:spPr>
          <a:xfrm>
            <a:off x="3545128" y="2286000"/>
            <a:ext cx="2331720" cy="548640"/>
          </a:xfrm>
          <a:prstGeom prst="rect">
            <a:avLst/>
          </a:prstGeom>
          <a:noFill/>
        </p:spPr>
        <p:txBody>
          <a:bodyPr wrap="square" lIns="0" rIns="0" tIns="0" bIns="0" anchor="t">
            <a:spAutoFit/>
          </a:bodyPr>
          <a:lstStyle/>
          <a:p>
            <a:pPr algn="l">
              <a:lnSpc>
                <a:spcPct val="100000"/>
              </a:lnSpc>
            </a:pPr>
            <a:r>
              <a:rPr sz="1400" b="0" i="0">
                <a:solidFill>
                  <a:srgbClr val="6A5E51"/>
                </a:solidFill>
                <a:latin typeface="Calibri"/>
              </a:rPr>
              <a:t>owner effort in the demo</a:t>
            </a:r>
          </a:p>
        </p:txBody>
      </p:sp>
      <p:sp>
        <p:nvSpPr>
          <p:cNvPr id="12" name="Rounded Rectangle 11"/>
          <p:cNvSpPr/>
          <p:nvPr/>
        </p:nvSpPr>
        <p:spPr>
          <a:xfrm>
            <a:off x="6175857" y="1481328"/>
            <a:ext cx="2651760" cy="1417320"/>
          </a:xfrm>
          <a:prstGeom prst="roundRect">
            <a:avLst>
              <a:gd name="adj" fmla="val 3870"/>
            </a:avLst>
          </a:prstGeom>
          <a:solidFill>
            <a:srgbClr val="FBF8F1"/>
          </a:solidFill>
          <a:ln w="9525">
            <a:solidFill>
              <a:srgbClr val="E2D8C6"/>
            </a:solidFill>
          </a:ln>
          <a:effectLst/>
        </p:spPr>
        <p:txBody>
          <a:bodyPr rtlCol="0" anchor="ctr"/>
          <a:lstStyle/>
          <a:p>
            <a:pPr algn="ctr"/>
          </a:p>
        </p:txBody>
      </p:sp>
      <p:sp>
        <p:nvSpPr>
          <p:cNvPr id="13" name="TextBox 12"/>
          <p:cNvSpPr txBox="1"/>
          <p:nvPr/>
        </p:nvSpPr>
        <p:spPr>
          <a:xfrm>
            <a:off x="6358737" y="1554480"/>
            <a:ext cx="2331720" cy="685800"/>
          </a:xfrm>
          <a:prstGeom prst="rect">
            <a:avLst/>
          </a:prstGeom>
          <a:noFill/>
        </p:spPr>
        <p:txBody>
          <a:bodyPr wrap="square" lIns="0" rIns="0" tIns="0" bIns="0" anchor="t">
            <a:spAutoFit/>
          </a:bodyPr>
          <a:lstStyle/>
          <a:p>
            <a:pPr algn="l">
              <a:lnSpc>
                <a:spcPct val="100000"/>
              </a:lnSpc>
            </a:pPr>
            <a:r>
              <a:rPr sz="3400" b="1" i="0">
                <a:solidFill>
                  <a:srgbClr val="3F5A2E"/>
                </a:solidFill>
                <a:latin typeface="Cambria"/>
              </a:rPr>
              <a:t>8 / 8</a:t>
            </a:r>
          </a:p>
        </p:txBody>
      </p:sp>
      <p:sp>
        <p:nvSpPr>
          <p:cNvPr id="14" name="TextBox 13"/>
          <p:cNvSpPr txBox="1"/>
          <p:nvPr/>
        </p:nvSpPr>
        <p:spPr>
          <a:xfrm>
            <a:off x="6358737" y="2286000"/>
            <a:ext cx="2331720" cy="548640"/>
          </a:xfrm>
          <a:prstGeom prst="rect">
            <a:avLst/>
          </a:prstGeom>
          <a:noFill/>
        </p:spPr>
        <p:txBody>
          <a:bodyPr wrap="square" lIns="0" rIns="0" tIns="0" bIns="0" anchor="t">
            <a:spAutoFit/>
          </a:bodyPr>
          <a:lstStyle/>
          <a:p>
            <a:pPr algn="l">
              <a:lnSpc>
                <a:spcPct val="100000"/>
              </a:lnSpc>
            </a:pPr>
            <a:r>
              <a:rPr sz="1400" b="0" i="0">
                <a:solidFill>
                  <a:srgbClr val="6A5E51"/>
                </a:solidFill>
                <a:latin typeface="Calibri"/>
              </a:rPr>
              <a:t>test cases pass, plus 295 tests</a:t>
            </a:r>
          </a:p>
        </p:txBody>
      </p:sp>
      <p:sp>
        <p:nvSpPr>
          <p:cNvPr id="15" name="Rounded Rectangle 14"/>
          <p:cNvSpPr/>
          <p:nvPr/>
        </p:nvSpPr>
        <p:spPr>
          <a:xfrm>
            <a:off x="8989466" y="1481328"/>
            <a:ext cx="2651760" cy="1417320"/>
          </a:xfrm>
          <a:prstGeom prst="roundRect">
            <a:avLst>
              <a:gd name="adj" fmla="val 3870"/>
            </a:avLst>
          </a:prstGeom>
          <a:solidFill>
            <a:srgbClr val="FBF8F1"/>
          </a:solidFill>
          <a:ln w="9525">
            <a:solidFill>
              <a:srgbClr val="E2D8C6"/>
            </a:solidFill>
          </a:ln>
          <a:effectLst/>
        </p:spPr>
        <p:txBody>
          <a:bodyPr rtlCol="0" anchor="ctr"/>
          <a:lstStyle/>
          <a:p>
            <a:pPr algn="ctr"/>
          </a:p>
        </p:txBody>
      </p:sp>
      <p:sp>
        <p:nvSpPr>
          <p:cNvPr id="16" name="TextBox 15"/>
          <p:cNvSpPr txBox="1"/>
          <p:nvPr/>
        </p:nvSpPr>
        <p:spPr>
          <a:xfrm>
            <a:off x="9172346" y="1554480"/>
            <a:ext cx="2331720" cy="685800"/>
          </a:xfrm>
          <a:prstGeom prst="rect">
            <a:avLst/>
          </a:prstGeom>
          <a:noFill/>
        </p:spPr>
        <p:txBody>
          <a:bodyPr wrap="square" lIns="0" rIns="0" tIns="0" bIns="0" anchor="t">
            <a:spAutoFit/>
          </a:bodyPr>
          <a:lstStyle/>
          <a:p>
            <a:pPr algn="l">
              <a:lnSpc>
                <a:spcPct val="100000"/>
              </a:lnSpc>
            </a:pPr>
            <a:r>
              <a:rPr sz="3400" b="1" i="0">
                <a:solidFill>
                  <a:srgbClr val="3F5A2E"/>
                </a:solidFill>
                <a:latin typeface="Cambria"/>
              </a:rPr>
              <a:t>0</a:t>
            </a:r>
          </a:p>
        </p:txBody>
      </p:sp>
      <p:sp>
        <p:nvSpPr>
          <p:cNvPr id="17" name="TextBox 16"/>
          <p:cNvSpPr txBox="1"/>
          <p:nvPr/>
        </p:nvSpPr>
        <p:spPr>
          <a:xfrm>
            <a:off x="9172346" y="2286000"/>
            <a:ext cx="2331720" cy="548640"/>
          </a:xfrm>
          <a:prstGeom prst="rect">
            <a:avLst/>
          </a:prstGeom>
          <a:noFill/>
        </p:spPr>
        <p:txBody>
          <a:bodyPr wrap="square" lIns="0" rIns="0" tIns="0" bIns="0" anchor="t">
            <a:spAutoFit/>
          </a:bodyPr>
          <a:lstStyle/>
          <a:p>
            <a:pPr algn="l">
              <a:lnSpc>
                <a:spcPct val="100000"/>
              </a:lnSpc>
            </a:pPr>
            <a:r>
              <a:rPr sz="1400" b="0" i="0">
                <a:solidFill>
                  <a:srgbClr val="6A5E51"/>
                </a:solidFill>
                <a:latin typeface="Calibri"/>
              </a:rPr>
              <a:t>unapproved writes in any test</a:t>
            </a:r>
          </a:p>
        </p:txBody>
      </p:sp>
      <p:sp>
        <p:nvSpPr>
          <p:cNvPr id="18" name="Rounded Rectangle 17"/>
          <p:cNvSpPr/>
          <p:nvPr/>
        </p:nvSpPr>
        <p:spPr>
          <a:xfrm>
            <a:off x="548640" y="3108960"/>
            <a:ext cx="3593592" cy="1874519"/>
          </a:xfrm>
          <a:prstGeom prst="roundRect">
            <a:avLst>
              <a:gd name="adj" fmla="val 3902"/>
            </a:avLst>
          </a:prstGeom>
          <a:solidFill>
            <a:srgbClr val="EBE2CF"/>
          </a:solidFill>
          <a:ln>
            <a:noFill/>
          </a:ln>
          <a:effectLst/>
        </p:spPr>
        <p:txBody>
          <a:bodyPr rtlCol="0" anchor="ctr"/>
          <a:lstStyle/>
          <a:p>
            <a:pPr algn="ctr"/>
          </a:p>
        </p:txBody>
      </p:sp>
      <p:sp>
        <p:nvSpPr>
          <p:cNvPr id="19" name="TextBox 18"/>
          <p:cNvSpPr txBox="1"/>
          <p:nvPr/>
        </p:nvSpPr>
        <p:spPr>
          <a:xfrm>
            <a:off x="749808" y="3218688"/>
            <a:ext cx="3200400" cy="310896"/>
          </a:xfrm>
          <a:prstGeom prst="rect">
            <a:avLst/>
          </a:prstGeom>
          <a:noFill/>
        </p:spPr>
        <p:txBody>
          <a:bodyPr wrap="square" lIns="0" rIns="0" tIns="0" bIns="0" anchor="t">
            <a:spAutoFit/>
          </a:bodyPr>
          <a:lstStyle/>
          <a:p>
            <a:pPr algn="l">
              <a:lnSpc>
                <a:spcPct val="100000"/>
              </a:lnSpc>
            </a:pPr>
            <a:r>
              <a:rPr sz="1800" b="1" i="0">
                <a:solidFill>
                  <a:srgbClr val="3F5A2E"/>
                </a:solidFill>
                <a:latin typeface="Calibri"/>
              </a:rPr>
              <a:t>Practical value</a:t>
            </a:r>
          </a:p>
        </p:txBody>
      </p:sp>
      <p:sp>
        <p:nvSpPr>
          <p:cNvPr id="20" name="TextBox 19"/>
          <p:cNvSpPr txBox="1"/>
          <p:nvPr/>
        </p:nvSpPr>
        <p:spPr>
          <a:xfrm>
            <a:off x="749808" y="3657600"/>
            <a:ext cx="3200400" cy="1280160"/>
          </a:xfrm>
          <a:prstGeom prst="rect">
            <a:avLst/>
          </a:prstGeom>
          <a:noFill/>
        </p:spPr>
        <p:txBody>
          <a:bodyPr wrap="square" lIns="0" rIns="0" tIns="0" bIns="0" anchor="t">
            <a:spAutoFit/>
          </a:bodyPr>
          <a:lstStyle/>
          <a:p>
            <a:pPr algn="l" marL="155448" indent="-155448">
              <a:lnSpc>
                <a:spcPct val="100000"/>
              </a:lnSpc>
              <a:spcAft>
                <a:spcPts val="800"/>
              </a:spcAft>
              <a:buChar char="•"/>
            </a:pPr>
            <a:r>
              <a:rPr sz="1600" b="0" i="0">
                <a:solidFill>
                  <a:srgbClr val="3A312A"/>
                </a:solidFill>
                <a:latin typeface="Calibri"/>
              </a:rPr>
              <a:t>No wrong-hours surprises on holidays</a:t>
            </a:r>
          </a:p>
          <a:p>
            <a:pPr algn="l" marL="155448" indent="-155448">
              <a:lnSpc>
                <a:spcPct val="100000"/>
              </a:lnSpc>
              <a:buChar char="•"/>
            </a:pPr>
            <a:r>
              <a:rPr sz="1600" b="0" i="0">
                <a:solidFill>
                  <a:srgbClr val="3A312A"/>
                </a:solidFill>
                <a:latin typeface="Calibri"/>
              </a:rPr>
              <a:t>Proof for the owner: VERIFIED, trace, CSV</a:t>
            </a:r>
          </a:p>
        </p:txBody>
      </p:sp>
      <p:sp>
        <p:nvSpPr>
          <p:cNvPr id="21" name="Rounded Rectangle 20"/>
          <p:cNvSpPr/>
          <p:nvPr/>
        </p:nvSpPr>
        <p:spPr>
          <a:xfrm>
            <a:off x="4297679" y="3108960"/>
            <a:ext cx="3593592" cy="1874519"/>
          </a:xfrm>
          <a:prstGeom prst="roundRect">
            <a:avLst>
              <a:gd name="adj" fmla="val 3902"/>
            </a:avLst>
          </a:prstGeom>
          <a:solidFill>
            <a:srgbClr val="EBE2CF"/>
          </a:solidFill>
          <a:ln>
            <a:noFill/>
          </a:ln>
          <a:effectLst/>
        </p:spPr>
        <p:txBody>
          <a:bodyPr rtlCol="0" anchor="ctr"/>
          <a:lstStyle/>
          <a:p>
            <a:pPr algn="ctr"/>
          </a:p>
        </p:txBody>
      </p:sp>
      <p:sp>
        <p:nvSpPr>
          <p:cNvPr id="22" name="TextBox 21"/>
          <p:cNvSpPr txBox="1"/>
          <p:nvPr/>
        </p:nvSpPr>
        <p:spPr>
          <a:xfrm>
            <a:off x="4498847" y="3218688"/>
            <a:ext cx="3200400" cy="310896"/>
          </a:xfrm>
          <a:prstGeom prst="rect">
            <a:avLst/>
          </a:prstGeom>
          <a:noFill/>
        </p:spPr>
        <p:txBody>
          <a:bodyPr wrap="square" lIns="0" rIns="0" tIns="0" bIns="0" anchor="t">
            <a:spAutoFit/>
          </a:bodyPr>
          <a:lstStyle/>
          <a:p>
            <a:pPr algn="l">
              <a:lnSpc>
                <a:spcPct val="100000"/>
              </a:lnSpc>
            </a:pPr>
            <a:r>
              <a:rPr sz="1800" b="1" i="0">
                <a:solidFill>
                  <a:srgbClr val="3F5A2E"/>
                </a:solidFill>
                <a:latin typeface="Calibri"/>
              </a:rPr>
              <a:t>Scalability</a:t>
            </a:r>
          </a:p>
        </p:txBody>
      </p:sp>
      <p:sp>
        <p:nvSpPr>
          <p:cNvPr id="23" name="TextBox 22"/>
          <p:cNvSpPr txBox="1"/>
          <p:nvPr/>
        </p:nvSpPr>
        <p:spPr>
          <a:xfrm>
            <a:off x="4498847" y="3657600"/>
            <a:ext cx="3200400" cy="1280160"/>
          </a:xfrm>
          <a:prstGeom prst="rect">
            <a:avLst/>
          </a:prstGeom>
          <a:noFill/>
        </p:spPr>
        <p:txBody>
          <a:bodyPr wrap="square" lIns="0" rIns="0" tIns="0" bIns="0" anchor="t">
            <a:spAutoFit/>
          </a:bodyPr>
          <a:lstStyle/>
          <a:p>
            <a:pPr algn="l" marL="155448" indent="-155448">
              <a:lnSpc>
                <a:spcPct val="100000"/>
              </a:lnSpc>
              <a:spcAft>
                <a:spcPts val="800"/>
              </a:spcAft>
              <a:buChar char="•"/>
            </a:pPr>
            <a:r>
              <a:rPr sz="1600" b="0" i="0">
                <a:solidFill>
                  <a:srgbClr val="3A312A"/>
                </a:solidFill>
                <a:latin typeface="Calibri"/>
              </a:rPr>
              <a:t>Each platform is one more reader</a:t>
            </a:r>
          </a:p>
          <a:p>
            <a:pPr algn="l" marL="155448" indent="-155448">
              <a:lnSpc>
                <a:spcPct val="100000"/>
              </a:lnSpc>
              <a:buChar char="•"/>
            </a:pPr>
            <a:r>
              <a:rPr sz="1600" b="0" i="0">
                <a:solidFill>
                  <a:srgbClr val="3A312A"/>
                </a:solidFill>
                <a:latin typeface="Calibri"/>
              </a:rPr>
              <a:t>Every business is isolated by its own ID</a:t>
            </a:r>
          </a:p>
        </p:txBody>
      </p:sp>
      <p:sp>
        <p:nvSpPr>
          <p:cNvPr id="24" name="Rounded Rectangle 23"/>
          <p:cNvSpPr/>
          <p:nvPr/>
        </p:nvSpPr>
        <p:spPr>
          <a:xfrm>
            <a:off x="8046719" y="3108960"/>
            <a:ext cx="3593592" cy="1874519"/>
          </a:xfrm>
          <a:prstGeom prst="roundRect">
            <a:avLst>
              <a:gd name="adj" fmla="val 3902"/>
            </a:avLst>
          </a:prstGeom>
          <a:solidFill>
            <a:srgbClr val="EBE2CF"/>
          </a:solidFill>
          <a:ln>
            <a:noFill/>
          </a:ln>
          <a:effectLst/>
        </p:spPr>
        <p:txBody>
          <a:bodyPr rtlCol="0" anchor="ctr"/>
          <a:lstStyle/>
          <a:p>
            <a:pPr algn="ctr"/>
          </a:p>
        </p:txBody>
      </p:sp>
      <p:sp>
        <p:nvSpPr>
          <p:cNvPr id="25" name="TextBox 24"/>
          <p:cNvSpPr txBox="1"/>
          <p:nvPr/>
        </p:nvSpPr>
        <p:spPr>
          <a:xfrm>
            <a:off x="8247888" y="3218688"/>
            <a:ext cx="3200400" cy="310896"/>
          </a:xfrm>
          <a:prstGeom prst="rect">
            <a:avLst/>
          </a:prstGeom>
          <a:noFill/>
        </p:spPr>
        <p:txBody>
          <a:bodyPr wrap="square" lIns="0" rIns="0" tIns="0" bIns="0" anchor="t">
            <a:spAutoFit/>
          </a:bodyPr>
          <a:lstStyle/>
          <a:p>
            <a:pPr algn="l">
              <a:lnSpc>
                <a:spcPct val="100000"/>
              </a:lnSpc>
            </a:pPr>
            <a:r>
              <a:rPr sz="1800" b="1" i="0">
                <a:solidFill>
                  <a:srgbClr val="3F5A2E"/>
                </a:solidFill>
                <a:latin typeface="Calibri"/>
              </a:rPr>
              <a:t>Next</a:t>
            </a:r>
          </a:p>
        </p:txBody>
      </p:sp>
      <p:sp>
        <p:nvSpPr>
          <p:cNvPr id="26" name="TextBox 25"/>
          <p:cNvSpPr txBox="1"/>
          <p:nvPr/>
        </p:nvSpPr>
        <p:spPr>
          <a:xfrm>
            <a:off x="8247888" y="3657600"/>
            <a:ext cx="3200400" cy="1280160"/>
          </a:xfrm>
          <a:prstGeom prst="rect">
            <a:avLst/>
          </a:prstGeom>
          <a:noFill/>
        </p:spPr>
        <p:txBody>
          <a:bodyPr wrap="square" lIns="0" rIns="0" tIns="0" bIns="0" anchor="t">
            <a:spAutoFit/>
          </a:bodyPr>
          <a:lstStyle/>
          <a:p>
            <a:pPr algn="l" marL="155448" indent="-155448">
              <a:lnSpc>
                <a:spcPct val="100000"/>
              </a:lnSpc>
              <a:spcAft>
                <a:spcPts val="800"/>
              </a:spcAft>
              <a:buChar char="•"/>
            </a:pPr>
            <a:r>
              <a:rPr sz="1600" b="0" i="0">
                <a:solidFill>
                  <a:srgbClr val="3A312A"/>
                </a:solidFill>
                <a:latin typeface="Calibri"/>
              </a:rPr>
              <a:t>Real platform APIs and consent flows</a:t>
            </a:r>
          </a:p>
          <a:p>
            <a:pPr algn="l" marL="155448" indent="-155448">
              <a:lnSpc>
                <a:spcPct val="100000"/>
              </a:lnSpc>
              <a:buChar char="•"/>
            </a:pPr>
            <a:r>
              <a:rPr sz="1600" b="0" i="0">
                <a:solidFill>
                  <a:srgbClr val="3A312A"/>
                </a:solidFill>
                <a:latin typeface="Calibri"/>
              </a:rPr>
              <a:t>Scheduled scans, PIN recovery, more fields</a:t>
            </a:r>
          </a:p>
        </p:txBody>
      </p:sp>
      <p:sp>
        <p:nvSpPr>
          <p:cNvPr id="27" name="Rounded Rectangle 26"/>
          <p:cNvSpPr/>
          <p:nvPr/>
        </p:nvSpPr>
        <p:spPr>
          <a:xfrm>
            <a:off x="548640" y="5212080"/>
            <a:ext cx="11094415" cy="1097280"/>
          </a:xfrm>
          <a:prstGeom prst="roundRect">
            <a:avLst>
              <a:gd name="adj" fmla="val 8333"/>
            </a:avLst>
          </a:prstGeom>
          <a:solidFill>
            <a:srgbClr val="2F2721"/>
          </a:solidFill>
          <a:ln>
            <a:noFill/>
          </a:ln>
          <a:effectLst/>
        </p:spPr>
        <p:txBody>
          <a:bodyPr rtlCol="0" anchor="ctr"/>
          <a:lstStyle/>
          <a:p>
            <a:pPr algn="ctr"/>
          </a:p>
        </p:txBody>
      </p:sp>
      <p:sp>
        <p:nvSpPr>
          <p:cNvPr id="28" name="TextBox 27"/>
          <p:cNvSpPr txBox="1"/>
          <p:nvPr/>
        </p:nvSpPr>
        <p:spPr>
          <a:xfrm>
            <a:off x="822959" y="5303520"/>
            <a:ext cx="10545775" cy="457200"/>
          </a:xfrm>
          <a:prstGeom prst="rect">
            <a:avLst/>
          </a:prstGeom>
          <a:noFill/>
        </p:spPr>
        <p:txBody>
          <a:bodyPr wrap="square" lIns="0" rIns="0" tIns="0" bIns="0" anchor="ctr">
            <a:spAutoFit/>
          </a:bodyPr>
          <a:lstStyle/>
          <a:p>
            <a:pPr algn="l">
              <a:lnSpc>
                <a:spcPct val="100000"/>
              </a:lnSpc>
            </a:pPr>
            <a:r>
              <a:rPr sz="1500" b="1" i="0">
                <a:solidFill>
                  <a:srgbClr val="E0B98F"/>
                </a:solidFill>
                <a:latin typeface="Calibri"/>
              </a:rPr>
              <a:t>Honest limits  </a:t>
            </a:r>
            <a:r>
              <a:rPr sz="1500" b="0" i="0">
                <a:solidFill>
                  <a:srgbClr val="FBF8F1"/>
                </a:solidFill>
                <a:latin typeface="Calibri"/>
              </a:rPr>
              <a:t>mock platforms  ·  OTP stays a human step  ·  Gemini optional, not live-tested</a:t>
            </a:r>
          </a:p>
        </p:txBody>
      </p:sp>
      <p:sp>
        <p:nvSpPr>
          <p:cNvPr id="29" name="TextBox 28"/>
          <p:cNvSpPr txBox="1"/>
          <p:nvPr/>
        </p:nvSpPr>
        <p:spPr>
          <a:xfrm>
            <a:off x="822959" y="5779008"/>
            <a:ext cx="10545775" cy="457200"/>
          </a:xfrm>
          <a:prstGeom prst="rect">
            <a:avLst/>
          </a:prstGeom>
          <a:noFill/>
        </p:spPr>
        <p:txBody>
          <a:bodyPr wrap="square" lIns="0" rIns="0" tIns="0" bIns="0" anchor="ctr">
            <a:spAutoFit/>
          </a:bodyPr>
          <a:lstStyle/>
          <a:p>
            <a:pPr algn="l">
              <a:lnSpc>
                <a:spcPct val="100000"/>
              </a:lnSpc>
            </a:pPr>
            <a:r>
              <a:rPr sz="1500" b="1" i="0">
                <a:solidFill>
                  <a:srgbClr val="E0B98F"/>
                </a:solidFill>
                <a:latin typeface="Calibri"/>
              </a:rPr>
              <a:t>Try it  </a:t>
            </a:r>
            <a:r>
              <a:rPr sz="1500" b="0" i="0">
                <a:solidFill>
                  <a:srgbClr val="FBF8F1"/>
                </a:solidFill>
                <a:latin typeface="Calibri"/>
              </a:rPr>
              <a:t>zirohacksub.onrender.com   ·   demo PIN 7KQ4X-M9PHT   ·   github.com/yourgrok/zirohacksub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